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工时占比（%）</c:v>
                </c:pt>
              </c:strCache>
            </c:strRef>
          </c:tx>
          <c:dPt>
            <c:idx val="0"/>
            <c:spPr>
              <a:solidFill>
                <a:srgbClr val="168C87"/>
              </a:solidFill>
              <a:ln>
                <a:solidFill>
                  <a:srgbClr val="168C87"/>
                </a:solidFill>
              </a:ln>
            </c:spPr>
          </c:dPt>
          <c:dPt>
            <c:idx val="1"/>
            <c:spPr>
              <a:solidFill>
                <a:srgbClr val="E8AC4B"/>
              </a:solidFill>
              <a:ln>
                <a:solidFill>
                  <a:srgbClr val="E8AC4B"/>
                </a:solidFill>
              </a:ln>
            </c:spPr>
          </c:dPt>
          <c:dPt>
            <c:idx val="2"/>
            <c:spPr>
              <a:solidFill>
                <a:srgbClr val="17324D"/>
              </a:solidFill>
              <a:ln>
                <a:solidFill>
                  <a:srgbClr val="17324D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智能体</c:v>
                </c:pt>
                <c:pt idx="1">
                  <c:v>机器人</c:v>
                </c:pt>
                <c:pt idx="2">
                  <c:v>当前不可自动化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</c:v>
                </c:pt>
                <c:pt idx="1">
                  <c:v>18</c:v>
                </c:pt>
                <c:pt idx="2">
                  <c:v>43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 b="0" i="0">
          <a:solidFill>
            <a:srgbClr val="17324D"/>
          </a:solidFill>
          <a:latin typeface="Hiragino Sans GB"/>
          <a:ea typeface="Hiragino Sans GB"/>
          <a:cs typeface="Hiragino Sans GB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采用工时占比（%）</c:v>
                </c:pt>
              </c:strCache>
            </c:strRef>
          </c:tx>
          <c:spPr>
            <a:solidFill>
              <a:srgbClr val="168C87"/>
            </a:solidFill>
            <a:ln>
              <a:solidFill>
                <a:srgbClr val="168C87"/>
              </a:solidFill>
            </a:ln>
          </c:spPr>
          <c:cat>
            <c:strRef>
              <c:f>Sheet1!$A$2:$A$4</c:f>
              <c:strCache>
                <c:ptCount val="3"/>
                <c:pt idx="0">
                  <c:v>拉美</c:v>
                </c:pt>
                <c:pt idx="1">
                  <c:v>欧洲</c:v>
                </c:pt>
                <c:pt idx="2">
                  <c:v>美国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</c:v>
                </c:pt>
                <c:pt idx="1">
                  <c:v>25</c:v>
                </c:pt>
                <c:pt idx="2">
                  <c:v>27</c:v>
                </c:pt>
              </c:numCache>
            </c:numRef>
          </c:val>
        </c:ser>
        <c:dLbls>
          <c:txPr>
            <a:bodyPr/>
            <a:lstStyle/>
            <a:p>
              <a:pPr>
                <a:defRPr sz="1800" b="0" i="0">
                  <a:solidFill>
                    <a:srgbClr val="17324D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 b="0" i="0">
          <a:solidFill>
            <a:srgbClr val="17324D"/>
          </a:solidFill>
          <a:latin typeface="Hiragino Sans GB"/>
          <a:ea typeface="Hiragino Sans GB"/>
          <a:cs typeface="Hiragino Sans GB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年度价值（亿美元）</c:v>
                </c:pt>
              </c:strCache>
            </c:strRef>
          </c:tx>
          <c:spPr>
            <a:solidFill>
              <a:srgbClr val="168C87"/>
            </a:solidFill>
            <a:ln>
              <a:solidFill>
                <a:srgbClr val="168C87"/>
              </a:solidFill>
            </a:ln>
          </c:spPr>
          <c:cat>
            <c:strRef>
              <c:f>Sheet1!$A$2:$A$3</c:f>
              <c:strCache>
                <c:ptCount val="2"/>
                <c:pt idx="0">
                  <c:v>中位情景</c:v>
                </c:pt>
                <c:pt idx="1">
                  <c:v>较慢情景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4500</c:v>
                </c:pt>
                <c:pt idx="1">
                  <c:v>2300</c:v>
                </c:pt>
              </c:numCache>
            </c:numRef>
          </c:val>
        </c:ser>
        <c:dLbls>
          <c:txPr>
            <a:bodyPr/>
            <a:lstStyle/>
            <a:p>
              <a:pPr>
                <a:defRPr sz="1800" b="0" i="0">
                  <a:solidFill>
                    <a:srgbClr val="17324D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 b="0" i="0">
          <a:solidFill>
            <a:srgbClr val="17324D"/>
          </a:solidFill>
          <a:latin typeface="Hiragino Sans GB"/>
          <a:ea typeface="Hiragino Sans GB"/>
          <a:cs typeface="Hiragino Sans GB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年度价值（亿美元）</c:v>
                </c:pt>
              </c:strCache>
            </c:strRef>
          </c:tx>
          <c:spPr>
            <a:solidFill>
              <a:srgbClr val="168C87"/>
            </a:solidFill>
            <a:ln>
              <a:solidFill>
                <a:srgbClr val="168C87"/>
              </a:solidFill>
            </a:ln>
          </c:spPr>
          <c:cat>
            <c:strRef>
              <c:f>Sheet1!$A$2:$A$7</c:f>
              <c:strCache>
                <c:ptCount val="6"/>
                <c:pt idx="0">
                  <c:v>其他10国</c:v>
                </c:pt>
                <c:pt idx="1">
                  <c:v>智利</c:v>
                </c:pt>
                <c:pt idx="2">
                  <c:v>阿根廷</c:v>
                </c:pt>
                <c:pt idx="3">
                  <c:v>哥伦比亚</c:v>
                </c:pt>
                <c:pt idx="4">
                  <c:v>巴西</c:v>
                </c:pt>
                <c:pt idx="5">
                  <c:v>墨西哥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560</c:v>
                </c:pt>
                <c:pt idx="1">
                  <c:v>140</c:v>
                </c:pt>
                <c:pt idx="2">
                  <c:v>170</c:v>
                </c:pt>
                <c:pt idx="3">
                  <c:v>270</c:v>
                </c:pt>
                <c:pt idx="4">
                  <c:v>1350</c:v>
                </c:pt>
                <c:pt idx="5">
                  <c:v>2040</c:v>
                </c:pt>
              </c:numCache>
            </c:numRef>
          </c:val>
        </c:ser>
        <c:dLbls>
          <c:txPr>
            <a:bodyPr/>
            <a:lstStyle/>
            <a:p>
              <a:pPr>
                <a:defRPr sz="1700" b="0" i="0">
                  <a:solidFill>
                    <a:srgbClr val="17324D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700" b="0" i="0">
          <a:solidFill>
            <a:srgbClr val="17324D"/>
          </a:solidFill>
          <a:latin typeface="Hiragino Sans GB"/>
          <a:ea typeface="Hiragino Sans GB"/>
          <a:cs typeface="Hiragino Sans GB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技能比例（%）</c:v>
                </c:pt>
              </c:strCache>
            </c:strRef>
          </c:tx>
          <c:dPt>
            <c:idx val="0"/>
            <c:spPr>
              <a:solidFill>
                <a:srgbClr val="17324D"/>
              </a:solidFill>
              <a:ln>
                <a:solidFill>
                  <a:srgbClr val="17324D"/>
                </a:solidFill>
              </a:ln>
            </c:spPr>
          </c:dPt>
          <c:dPt>
            <c:idx val="1"/>
            <c:spPr>
              <a:solidFill>
                <a:srgbClr val="168C87"/>
              </a:solidFill>
              <a:ln>
                <a:solidFill>
                  <a:srgbClr val="168C87"/>
                </a:solidFill>
              </a:ln>
            </c:spPr>
          </c:dPt>
          <c:dPt>
            <c:idx val="2"/>
            <c:spPr>
              <a:solidFill>
                <a:srgbClr val="E8AC4B"/>
              </a:solidFill>
              <a:ln>
                <a:solidFill>
                  <a:srgbClr val="E8AC4B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人机共享</c:v>
                </c:pt>
                <c:pt idx="1">
                  <c:v>主要可自动化</c:v>
                </c:pt>
                <c:pt idx="2">
                  <c:v>主要不可自动化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66</c:v>
                </c:pt>
                <c:pt idx="1">
                  <c:v>21</c:v>
                </c:pt>
                <c:pt idx="2">
                  <c:v>13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 b="0" i="0">
          <a:solidFill>
            <a:srgbClr val="17324D"/>
          </a:solidFill>
          <a:latin typeface="Hiragino Sans GB"/>
          <a:ea typeface="Hiragino Sans GB"/>
          <a:cs typeface="Hiragino Sans GB"/>
        </a:defRPr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2023年</c:v>
                </c:pt>
              </c:strCache>
            </c:strRef>
          </c:tx>
          <c:spPr>
            <a:solidFill>
              <a:srgbClr val="C6E1DC"/>
            </a:solidFill>
            <a:ln>
              <a:solidFill>
                <a:srgbClr val="C6E1DC"/>
              </a:solidFill>
            </a:ln>
          </c:spPr>
          <c:cat>
            <c:strRef>
              <c:f>Sheet1!$A$2:$A$4</c:f>
              <c:strCache>
                <c:ptCount val="3"/>
                <c:pt idx="0">
                  <c:v>AI应用素养</c:v>
                </c:pt>
                <c:pt idx="1">
                  <c:v>技术AI技能</c:v>
                </c:pt>
                <c:pt idx="2">
                  <c:v>任一AI相关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90</c:v>
                </c:pt>
                <c:pt idx="2">
                  <c:v>150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2025年</c:v>
                </c:pt>
              </c:strCache>
            </c:strRef>
          </c:tx>
          <c:spPr>
            <a:solidFill>
              <a:srgbClr val="168C87"/>
            </a:solidFill>
            <a:ln>
              <a:solidFill>
                <a:srgbClr val="168C87"/>
              </a:solidFill>
            </a:ln>
          </c:spPr>
          <c:cat>
            <c:strRef>
              <c:f>Sheet1!$A$2:$A$4</c:f>
              <c:strCache>
                <c:ptCount val="3"/>
                <c:pt idx="0">
                  <c:v>AI应用素养</c:v>
                </c:pt>
                <c:pt idx="1">
                  <c:v>技术AI技能</c:v>
                </c:pt>
                <c:pt idx="2">
                  <c:v>任一AI相关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850</c:v>
                </c:pt>
                <c:pt idx="1">
                  <c:v>280</c:v>
                </c:pt>
                <c:pt idx="2">
                  <c:v>990</c:v>
                </c:pt>
              </c:numCache>
            </c:numRef>
          </c:val>
        </c:ser>
        <c:dLbls>
          <c:txPr>
            <a:bodyPr/>
            <a:lstStyle/>
            <a:p>
              <a:pPr>
                <a:defRPr sz="1800" b="0" i="0">
                  <a:solidFill>
                    <a:srgbClr val="17324D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800" b="0" i="0">
              <a:solidFill>
                <a:srgbClr val="17324D"/>
              </a:solidFill>
              <a:latin typeface="Hiragino Sans GB"/>
              <a:ea typeface="Hiragino Sans GB"/>
              <a:cs typeface="Hiragino Sans GB"/>
            </a:defRPr>
          </a:pPr>
        </a:p>
      </c:txPr>
    </c:legend>
    <c:dispBlanksAs val="gap"/>
  </c:chart>
  <c:txPr>
    <a:bodyPr/>
    <a:lstStyle/>
    <a:p>
      <a:pPr>
        <a:defRPr sz="1800" b="0" i="0">
          <a:solidFill>
            <a:srgbClr val="17324D"/>
          </a:solidFill>
          <a:latin typeface="Hiragino Sans GB"/>
          <a:ea typeface="Hiragino Sans GB"/>
          <a:cs typeface="Hiragino Sans GB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就业占比（%）</c:v>
                </c:pt>
              </c:strCache>
            </c:strRef>
          </c:tx>
          <c:spPr>
            <a:solidFill>
              <a:srgbClr val="168C87"/>
            </a:solidFill>
            <a:ln>
              <a:solidFill>
                <a:srgbClr val="168C87"/>
              </a:solidFill>
            </a:ln>
          </c:spPr>
          <c:cat>
            <c:strRef>
              <c:f>Sheet1!$A$2:$A$6</c:f>
              <c:strCache>
                <c:ptCount val="5"/>
                <c:pt idx="0">
                  <c:v>哥伦比亚</c:v>
                </c:pt>
                <c:pt idx="1">
                  <c:v>墨西哥</c:v>
                </c:pt>
                <c:pt idx="2">
                  <c:v>巴西</c:v>
                </c:pt>
                <c:pt idx="3">
                  <c:v>智利</c:v>
                </c:pt>
                <c:pt idx="4">
                  <c:v>阿根廷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2.3</c:v>
                </c:pt>
                <c:pt idx="1">
                  <c:v>2.4</c:v>
                </c:pt>
                <c:pt idx="2">
                  <c:v>4.9</c:v>
                </c:pt>
                <c:pt idx="3">
                  <c:v>6.4</c:v>
                </c:pt>
                <c:pt idx="4">
                  <c:v>13</c:v>
                </c:pt>
              </c:numCache>
            </c:numRef>
          </c:val>
        </c:ser>
        <c:dLbls>
          <c:txPr>
            <a:bodyPr/>
            <a:lstStyle/>
            <a:p>
              <a:pPr>
                <a:defRPr sz="1700" b="0" i="0">
                  <a:solidFill>
                    <a:srgbClr val="17324D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700" b="0" i="0">
          <a:solidFill>
            <a:srgbClr val="17324D"/>
          </a:solidFill>
          <a:latin typeface="Hiragino Sans GB"/>
          <a:ea typeface="Hiragino Sans GB"/>
          <a:cs typeface="Hiragino Sans GB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本演示基于用户提供的67页麦肯锡全球研究院报告制作，为中文研究解读，非官方中文译本。三条主线为工作任务如何重组、经济价值如何兑现、技能如何变化。</a:t>
            </a:r>
          </a:p>
          <a:p/>
          <a:p>
            <a:r>
              <a:t>来源：McKinsey Global Institute, Agents, robots, and us: How AI reshapes work and skills in Latin America, July 2026；用户提供PDF第1、5、37页。</a:t>
            </a:r>
          </a:p>
          <a:p>
            <a:r>
              <a:t>制作说明：使用PPT Smith优化worktree的声明式场景与固定原生渲染器。文字、数据图表与表格可编辑。生图仅作为设计目标；最终图表数值以核对记录为准。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57%为2024年技术能力口径，不是岗位流失预测。约4500亿美元为2030年中位采用情景的年度潜在组织层面价值，未扣持续运营或资本成本，非GDP直接增量。66%为约7000项技能的分类占比。AI应用素养倍数在原报告图11为10.9倍。</a:t>
            </a:r>
          </a:p>
          <a:p/>
          <a:p>
            <a:r>
              <a:t>来源：McKinsey Global Institute, Agents, robots, and us: How AI reshapes work and skills in Latin America, July 2026；用户提供PDF第5、7、24、30页。</a:t>
            </a:r>
          </a:p>
          <a:p>
            <a:r>
              <a:t>制作说明：使用PPT Smith优化worktree的声明式场景与固定原生渲染器。文字、数据图表与表格可编辑。生图仅作为设计目标；最终图表数值以核对记录为准。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国为阿根廷、玻利维亚、巴西、智利、哥伦比亚、哥斯达黎加、多米尼加、厄瓜多尔、萨尔瓦多、危地马拉、洪都拉斯、墨西哥、巴拿马、秘鲁、乌拉圭。技能样本为阿根廷、巴西、智利、哥伦比亚、墨西哥，约占地区就业与经济产出的75%。本文沿用报告正文技能口径，国家页仅引用明确给出的指标。</a:t>
            </a:r>
          </a:p>
          <a:p/>
          <a:p>
            <a:r>
              <a:t>来源：McKinsey Global Institute, Agents, robots, and us: How AI reshapes work and skills in Latin America, July 2026；用户提供PDF第9、20、24、25、39页。</a:t>
            </a:r>
          </a:p>
          <a:p>
            <a:r>
              <a:t>制作说明：使用PPT Smith优化worktree的声明式场景与固定原生渲染器。文字、数据图表与表格可编辑。生图仅作为设计目标；最终图表数值以核对记录为准。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报告将智能体和机器人作为宽泛实用术语，分别代表数字世界与物理世界的自动化技术，不全部是现代大语言模型智能体。原图16%与27%为两类不可自动化活动，合计43%。保留43%的合并口径。</a:t>
            </a:r>
          </a:p>
          <a:p/>
          <a:p>
            <a:r>
              <a:t>来源：McKinsey Global Institute, Agents, robots, and us: How AI reshapes work and skills in Latin America, July 2026；用户提供PDF第7、9、10页。</a:t>
            </a:r>
          </a:p>
          <a:p>
            <a:r>
              <a:t>制作说明：使用PPT Smith优化worktree的声明式场景与固定原生渲染器。文字、数据图表与表格可编辑。生图仅作为设计目标；最终图表数值以核对记录为准。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采用工时比例为2030年中位情景，拉美14%、美国27%、欧洲25%。低工资、物理自动化成本和组织准备度是报告所述采用差异原因。不能把这一组数值与57%技术潜力看成同一年度同一口径。</a:t>
            </a:r>
          </a:p>
          <a:p/>
          <a:p>
            <a:r>
              <a:t>来源：McKinsey Global Institute, Agents, robots, and us: How AI reshapes work and skills in Latin America, July 2026；用户提供PDF第18、20、21页。</a:t>
            </a:r>
          </a:p>
          <a:p>
            <a:r>
              <a:t>制作说明：使用PPT Smith优化worktree的声明式场景与固定原生渲染器。文字、数据图表与表格可编辑。生图仅作为设计目标；最终图表数值以核对记录为准。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文使用约4500亿美元，图5合计4530亿美元，差异来自近似表达。本页沿用正文近似值。较慢情景为中位与晚采用之间的mid-late情景，约2300亿美元。假定2030年7%—14%当前工时自动化；估值为节省工时乘工资，未计资本与运营成本或二阶效应。</a:t>
            </a:r>
          </a:p>
          <a:p/>
          <a:p>
            <a:r>
              <a:t>来源：McKinsey Global Institute, Agents, robots, and us: How AI reshapes work and skills in Latin America, July 2026；用户提供PDF第18、19、20、21、22页。</a:t>
            </a:r>
          </a:p>
          <a:p>
            <a:r>
              <a:t>制作说明：使用PPT Smith优化worktree的声明式场景与固定原生渲染器。文字、数据图表与表格可编辑。生图仅作为设计目标；最终图表数值以核对记录为准。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原图单位十亿美元，本页转为亿美元。墨西哥204、巴西135、哥伦比亚27、阿根廷17、智利14；图5与图6合计453。其他10国以453减去上述5国397得56十亿美元，为差额汇总。墨西哥与巴西合计339/453约74.8%，报告约为75%。</a:t>
            </a:r>
          </a:p>
          <a:p/>
          <a:p>
            <a:r>
              <a:t>来源：McKinsey Global Institute, Agents, robots, and us: How AI reshapes work and skills in Latin America, July 2026；用户提供PDF第19、22、23页。</a:t>
            </a:r>
          </a:p>
          <a:p>
            <a:r>
              <a:t>制作说明：使用PPT Smith优化worktree的声明式场景与固定原生渲染器。文字、数据图表与表格可编辑。生图仅作为设计目标；最终图表数值以核对记录为准。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这是报告按工作结构描述的三组广义路径，不是国家采用速度排行榜。实施还取决于成本、基础设施与组织能力。</a:t>
            </a:r>
          </a:p>
          <a:p/>
          <a:p>
            <a:r>
              <a:t>来源：McKinsey Global Institute, Agents, robots, and us: How AI reshapes work and skills in Latin America, July 2026；用户提供PDF第11、17页。</a:t>
            </a:r>
          </a:p>
          <a:p>
            <a:r>
              <a:t>制作说明：使用PPT Smith优化worktree的声明式场景与固定原生渲染器。文字、数据图表与表格可编辑。生图仅作为设计目标；最终图表数值以核对记录为准。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按报告将约800类职业归为七种原型。正文给出人主导36%、混合28%、AI主导37%；各细分数为四舍五入值，不能精确求和检验。该分类描述技术潜在任务分工，不是宣称整类岗位消失。</a:t>
            </a:r>
          </a:p>
          <a:p/>
          <a:p>
            <a:r>
              <a:t>来源：McKinsey Global Institute, Agents, robots, and us: How AI reshapes work and skills in Latin America, July 2026；用户提供PDF第13、14、15、16、17页。</a:t>
            </a:r>
          </a:p>
          <a:p>
            <a:r>
              <a:t>制作说明：使用PPT Smith优化worktree的声明式场景与固定原生渲染器。文字、数据图表与表格可编辑。生图仅作为设计目标；最终图表数值以核对记录为准。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66%为技能类别在可自动化与不可自动化工作活动中的共同应用，不是66%员工已使用AI。报告约7000项技能样本来自5国招聘数据。技能持续存在不代表任务、使用方式或价值保持不变。</a:t>
            </a:r>
          </a:p>
          <a:p/>
          <a:p>
            <a:r>
              <a:t>来源：McKinsey Global Institute, Agents, robots, and us: How AI reshapes work and skills in Latin America, July 2026；用户提供PDF第24、25、26页。</a:t>
            </a:r>
          </a:p>
          <a:p>
            <a:r>
              <a:t>制作说明：使用PPT Smith优化worktree的声明式场景与固定原生渲染器。文字、数据图表与表格可编辑。生图仅作为设计目标；最终图表数值以核对记录为准。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图11单位百万人，本页转万人：AIfluency0.8/8.5、technical0.9/2.8、any1.5/9.9。报告倍数10.9、3.0、6.8来自未四舍五入数据，因此不能用本页近似人数反算。衡量的是招聘出现技能需求的职业所覆盖就业人数，不是持有技能人数或新增职位数。</a:t>
            </a:r>
          </a:p>
          <a:p/>
          <a:p>
            <a:r>
              <a:t>来源：McKinsey Global Institute, Agents, robots, and us: How AI reshapes work and skills in Latin America, July 2026；用户提供PDF第30、31页。</a:t>
            </a:r>
          </a:p>
          <a:p>
            <a:r>
              <a:t>制作说明：使用PPT Smith优化worktree的声明式场景与固定原生渲染器。文字、数据图表与表格可编辑。生图仅作为设计目标；最终图表数值以核对记录为准。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就业占比采用正文图9数值。原报告阿根廷国家页的文字约14%，正文为13.0%；本演示统一采用正文表述，不混算。职业招聘中至少5%提及相关技能才认定需求；并不代表该职业每位劳动者都在使用AI。</a:t>
            </a:r>
          </a:p>
          <a:p/>
          <a:p>
            <a:r>
              <a:t>来源：McKinsey Global Institute, Agents, robots, and us: How AI reshapes work and skills in Latin America, July 2026；用户提供PDF第27、28、29页。</a:t>
            </a:r>
          </a:p>
          <a:p>
            <a:r>
              <a:t>制作说明：使用PPT Smith优化worktree的声明式场景与固定原生渲染器。文字、数据图表与表格可编辑。生图仅作为设计目标；最终图表数值以核对记录为准。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SCI基于2030年中位自动化采用情景、工作活动与技能映射并按就业加权。图12四分位数为13%、20%、26%。前100项最常见技能均出现某种暴露。只使用报告明确列示的低/高暴露例子，不为具体技能编造精确分值。</a:t>
            </a:r>
          </a:p>
          <a:p/>
          <a:p>
            <a:r>
              <a:t>来源：McKinsey Global Institute, Agents, robots, and us: How AI reshapes work and skills in Latin America, July 2026；用户提供PDF第31、32、33页。</a:t>
            </a:r>
          </a:p>
          <a:p>
            <a:r>
              <a:t>制作说明：使用PPT Smith优化worktree的声明式场景与固定原生渲染器。文字、数据图表与表格可编辑。生图仅作为设计目标；最终图表数值以核对记录为准。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自动化潜力、采用率、价值分别来自五国仪表盘首两页；AI应用素养倍数来自首页面板。倍数衡量相关职业中的人数，不是全体劳动力技能掌握比例。所有国家年度价值均为2030年中位采用情景。</a:t>
            </a:r>
          </a:p>
          <a:p/>
          <a:p>
            <a:r>
              <a:t>来源：McKinsey Global Institute, Agents, robots, and us: How AI reshapes work and skills in Latin America, July 2026；用户提供PDF第41、42、46、47、51、52、56、57、61、62页。</a:t>
            </a:r>
          </a:p>
          <a:p>
            <a:r>
              <a:t>制作说明：使用PPT Smith优化worktree的声明式场景与固定原生渲染器。文字、数据图表与表格可编辑。生图仅作为设计目标；最终图表数值以核对记录为准。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匿名区域商业银行案例。报告原文分析师环节原耗4—5天，总流程超过40天。新系统不是取消人工审批，而是把人力转到审核系统输出、挑战结论和最终决策。55%为总信贷决策时间下降，不能标成全部成本下降。</a:t>
            </a:r>
          </a:p>
          <a:p/>
          <a:p>
            <a:r>
              <a:t>来源：McKinsey Global Institute, Agents, robots, and us: How AI reshapes work and skills in Latin America, July 2026；用户提供PDF第34、35页。</a:t>
            </a:r>
          </a:p>
          <a:p>
            <a:r>
              <a:t>制作说明：使用PPT Smith优化worktree的声明式场景与固定原生渲染器。文字、数据图表与表格可编辑。生图仅作为设计目标；最终图表数值以核对记录为准。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货运案例为直接运费下降10%—20%，非总供应链成本。管道索赔处理周期从约六个月变约两周，处理成本下降58%；报告另述和解时间预计减半，不把预计值表述成已实测值。</a:t>
            </a:r>
          </a:p>
          <a:p/>
          <a:p>
            <a:r>
              <a:t>来源：McKinsey Global Institute, Agents, robots, and us: How AI reshapes work and skills in Latin America, July 2026；用户提供PDF第35页。</a:t>
            </a:r>
          </a:p>
          <a:p>
            <a:r>
              <a:t>制作说明：使用PPT Smith优化worktree的声明式场景与固定原生渲染器。文字、数据图表与表格可编辑。生图仅作为设计目标；最终图表数值以核对记录为准。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三个制造指标对应不同流程，不能混淆：60%为供应链问题解决时间，95%为车间平均解决问题时间，42%为单位小时产出。航空为运营中断响应，非飞行安全判断全自动化；人员继续验证并协调响应。</a:t>
            </a:r>
          </a:p>
          <a:p/>
          <a:p>
            <a:r>
              <a:t>来源：McKinsey Global Institute, Agents, robots, and us: How AI reshapes work and skills in Latin America, July 2026；用户提供PDF第36页。</a:t>
            </a:r>
          </a:p>
          <a:p>
            <a:r>
              <a:t>制作说明：使用PPT Smith优化worktree的声明式场景与固定原生渲染器。文字、数据图表与表格可编辑。生图仅作为设计目标；最终图表数值以核对记录为准。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报告匿名电信运营商案例：60万月度呼入、100%实时分析、1000多客服；转化率约5.6%，约为一般外呼活动三倍，系统成本低于每通一美分。不能推算未披露的收入或把转化率视为所有企业可复制目标。</a:t>
            </a:r>
          </a:p>
          <a:p/>
          <a:p>
            <a:r>
              <a:t>来源：McKinsey Global Institute, Agents, robots, and us: How AI reshapes work and skills in Latin America, July 2026；用户提供PDF第36、37页。</a:t>
            </a:r>
          </a:p>
          <a:p>
            <a:r>
              <a:t>制作说明：使用PPT Smith优化worktree的声明式场景与固定原生渲染器。文字、数据图表与表格可编辑。生图仅作为设计目标；最终图表数值以核对记录为准。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本页为基于报告结论的中文归纳，不是新增实证结果或报告原文的正式行动路线图。报告强调企业流程重构、培训投入、AI应用素养，以及教育和政策对劳动者适应的支持。</a:t>
            </a:r>
          </a:p>
          <a:p/>
          <a:p>
            <a:r>
              <a:t>来源：McKinsey Global Institute, Agents, robots, and us: How AI reshapes work and skills in Latin America, July 2026；用户提供PDF第31、34、37页。</a:t>
            </a:r>
          </a:p>
          <a:p>
            <a:r>
              <a:t>制作说明：使用PPT Smith优化worktree的声明式场景与固定原生渲染器。文字、数据图表与表格可编辑。生图仅作为设计目标；最终图表数值以核对记录为准。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源PDF共67页。正文方法框使用至少21条招聘、55%时间门槛；国家仪表盘脚注写至少30条招聘及80%门槛，正文阿根廷就业覆盖13.0%、国家页文字约14%。这些不一致未擅自改写；正文趋势优先采用正文数值，国家比较只引用明确指标。图5部分行业物理自动化占比与正文“至少三分之二”概括并不完全一致，因此不复述该绝对化概括。演示未独立验证底层微观数据。</a:t>
            </a:r>
          </a:p>
          <a:p/>
          <a:p>
            <a:r>
              <a:t>来源：McKinsey Global Institute, Agents, robots, and us: How AI reshapes work and skills in Latin America, July 2026；用户提供PDF第20、25、38、39、45、50、55、60、65页。</a:t>
            </a:r>
          </a:p>
          <a:p>
            <a:r>
              <a:t>制作说明：使用PPT Smith优化worktree的声明式场景与固定原生渲染器。文字、数据图表与表格可编辑。生图仅作为设计目标；最终图表数值以核对记录为准。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2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01_accent"/>
          <p:cNvSpPr/>
          <p:nvPr/>
        </p:nvSpPr>
        <p:spPr>
          <a:xfrm>
            <a:off x="533400" y="533400"/>
            <a:ext cx="558800" cy="50800"/>
          </a:xfrm>
          <a:prstGeom prst="rect">
            <a:avLst/>
          </a:prstGeom>
          <a:solidFill>
            <a:srgbClr val="16A39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01_gold"/>
          <p:cNvSpPr/>
          <p:nvPr/>
        </p:nvSpPr>
        <p:spPr>
          <a:xfrm>
            <a:off x="546100" y="5041900"/>
            <a:ext cx="546100" cy="38100"/>
          </a:xfrm>
          <a:prstGeom prst="rect">
            <a:avLst/>
          </a:prstGeom>
          <a:solidFill>
            <a:srgbClr val="E8AC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01_collaboration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5800" y="495300"/>
            <a:ext cx="5027900" cy="4660900"/>
          </a:xfrm>
          <a:prstGeom prst="rect">
            <a:avLst/>
          </a:prstGeom>
        </p:spPr>
      </p:pic>
      <p:sp>
        <p:nvSpPr>
          <p:cNvPr id="5" name="p01_kicker_node"/>
          <p:cNvSpPr txBox="1"/>
          <p:nvPr/>
        </p:nvSpPr>
        <p:spPr>
          <a:xfrm>
            <a:off x="533400" y="723900"/>
            <a:ext cx="6223000" cy="4445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00" b="1" i="0" spc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拉美工作与技能研究</a:t>
            </a:r>
          </a:p>
        </p:txBody>
      </p:sp>
      <p:sp>
        <p:nvSpPr>
          <p:cNvPr id="6" name="p01_title_node"/>
          <p:cNvSpPr txBox="1"/>
          <p:nvPr/>
        </p:nvSpPr>
        <p:spPr>
          <a:xfrm>
            <a:off x="508000" y="1587500"/>
            <a:ext cx="6540500" cy="22479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61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6100" b="1" i="0" spc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智能体、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61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6100" b="1" i="0" spc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机器人与我们</a:t>
            </a:r>
          </a:p>
        </p:txBody>
      </p:sp>
      <p:sp>
        <p:nvSpPr>
          <p:cNvPr id="7" name="p01_subtitle_node"/>
          <p:cNvSpPr txBox="1"/>
          <p:nvPr/>
        </p:nvSpPr>
        <p:spPr>
          <a:xfrm>
            <a:off x="546100" y="4178300"/>
            <a:ext cx="6604000" cy="5461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70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0" i="0" spc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AI 如何重塑拉美的工作与技能</a:t>
            </a:r>
          </a:p>
        </p:txBody>
      </p:sp>
      <p:sp>
        <p:nvSpPr>
          <p:cNvPr id="8" name="p01_edition_node"/>
          <p:cNvSpPr txBox="1"/>
          <p:nvPr/>
        </p:nvSpPr>
        <p:spPr>
          <a:xfrm>
            <a:off x="546100" y="5257800"/>
            <a:ext cx="6286500" cy="4445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00" b="0" i="0" spc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中文研究解读 · 2026年7月</a:t>
            </a:r>
          </a:p>
        </p:txBody>
      </p:sp>
      <p:sp>
        <p:nvSpPr>
          <p:cNvPr id="9" name="p01_collab_node"/>
          <p:cNvSpPr txBox="1"/>
          <p:nvPr/>
        </p:nvSpPr>
        <p:spPr>
          <a:xfrm>
            <a:off x="7556500" y="5232400"/>
            <a:ext cx="40386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35C2B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00" b="1" i="0" spc="0">
                <a:solidFill>
                  <a:srgbClr val="35C2B1"/>
                </a:solidFill>
                <a:latin typeface="Hiragino Sans GB"/>
                <a:ea typeface="Hiragino Sans GB"/>
                <a:cs typeface="Hiragino Sans GB"/>
              </a:rPr>
              <a:t>人 × 智能体 × 机器人</a:t>
            </a:r>
          </a:p>
        </p:txBody>
      </p:sp>
      <p:sp>
        <p:nvSpPr>
          <p:cNvPr id="10" name="p01_footer_node"/>
          <p:cNvSpPr txBox="1"/>
          <p:nvPr/>
        </p:nvSpPr>
        <p:spPr>
          <a:xfrm>
            <a:off x="431800" y="6565900"/>
            <a:ext cx="10566400" cy="203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DDEFE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 i="0" spc="0">
                <a:solidFill>
                  <a:srgbClr val="DDEFEA"/>
                </a:solidFill>
                <a:latin typeface="Hiragino Sans GB"/>
                <a:ea typeface="Hiragino Sans GB"/>
                <a:cs typeface="Hiragino Sans GB"/>
              </a:rPr>
              <a:t>来源：麦肯锡全球研究院，2026.07 · PDF第1、5、37页</a:t>
            </a:r>
          </a:p>
        </p:txBody>
      </p:sp>
      <p:sp>
        <p:nvSpPr>
          <p:cNvPr id="11" name="p01_page_node"/>
          <p:cNvSpPr txBox="1"/>
          <p:nvPr/>
        </p:nvSpPr>
        <p:spPr>
          <a:xfrm>
            <a:off x="11201400" y="6565900"/>
            <a:ext cx="558800" cy="203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DDEFEA"/>
                </a:solidFill>
                <a:latin typeface="Arial"/>
                <a:ea typeface="Arial"/>
                <a:cs typeface="Arial"/>
              </a:defRPr>
            </a:pPr>
            <a:r>
              <a:rPr sz="900" b="0" i="0" spc="0">
                <a:solidFill>
                  <a:srgbClr val="DDEFEA"/>
                </a:solidFill>
                <a:latin typeface="Arial"/>
                <a:ea typeface="Arial"/>
                <a:cs typeface="Arial"/>
              </a:rPr>
              <a:t>01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02_header_rule"/>
          <p:cNvSpPr/>
          <p:nvPr/>
        </p:nvSpPr>
        <p:spPr>
          <a:xfrm>
            <a:off x="444500" y="622300"/>
            <a:ext cx="673100" cy="25400"/>
          </a:xfrm>
          <a:prstGeom prst="rect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02_qline-v"/>
          <p:cNvSpPr/>
          <p:nvPr/>
        </p:nvSpPr>
        <p:spPr>
          <a:xfrm>
            <a:off x="6083300" y="1790700"/>
            <a:ext cx="12700" cy="3683000"/>
          </a:xfrm>
          <a:prstGeom prst="rect">
            <a:avLst/>
          </a:prstGeom>
          <a:solidFill>
            <a:srgbClr val="C2DC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p02_qline-h"/>
          <p:cNvSpPr/>
          <p:nvPr/>
        </p:nvSpPr>
        <p:spPr>
          <a:xfrm>
            <a:off x="482600" y="3581400"/>
            <a:ext cx="11226800" cy="12700"/>
          </a:xfrm>
          <a:prstGeom prst="rect">
            <a:avLst/>
          </a:prstGeom>
          <a:solidFill>
            <a:srgbClr val="C2DC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p02_band"/>
          <p:cNvSpPr/>
          <p:nvPr/>
        </p:nvSpPr>
        <p:spPr>
          <a:xfrm>
            <a:off x="0" y="5562600"/>
            <a:ext cx="12192000" cy="1295400"/>
          </a:xfrm>
          <a:prstGeom prst="rect">
            <a:avLst/>
          </a:prstGeom>
          <a:solidFill>
            <a:srgbClr val="0D32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02_i1"/>
          <p:cNvSpPr/>
          <p:nvPr/>
        </p:nvSpPr>
        <p:spPr>
          <a:xfrm>
            <a:off x="571500" y="2197100"/>
            <a:ext cx="990600" cy="990600"/>
          </a:xfrm>
          <a:prstGeom prst="ellipse">
            <a:avLst/>
          </a:prstGeom>
          <a:solidFill>
            <a:srgbClr val="DDEF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02_i2"/>
          <p:cNvSpPr/>
          <p:nvPr/>
        </p:nvSpPr>
        <p:spPr>
          <a:xfrm>
            <a:off x="6362700" y="2197100"/>
            <a:ext cx="990600" cy="990600"/>
          </a:xfrm>
          <a:prstGeom prst="ellipse">
            <a:avLst/>
          </a:prstGeom>
          <a:solidFill>
            <a:srgbClr val="DDEF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02_i3"/>
          <p:cNvSpPr/>
          <p:nvPr/>
        </p:nvSpPr>
        <p:spPr>
          <a:xfrm>
            <a:off x="571500" y="4254500"/>
            <a:ext cx="990600" cy="990600"/>
          </a:xfrm>
          <a:prstGeom prst="ellipse">
            <a:avLst/>
          </a:prstGeom>
          <a:solidFill>
            <a:srgbClr val="DDEF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02_i4"/>
          <p:cNvSpPr/>
          <p:nvPr/>
        </p:nvSpPr>
        <p:spPr>
          <a:xfrm>
            <a:off x="6362700" y="4254500"/>
            <a:ext cx="990600" cy="990600"/>
          </a:xfrm>
          <a:prstGeom prst="ellipse">
            <a:avLst/>
          </a:prstGeom>
          <a:solidFill>
            <a:srgbClr val="DDEF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02_r1"/>
          <p:cNvSpPr/>
          <p:nvPr/>
        </p:nvSpPr>
        <p:spPr>
          <a:xfrm>
            <a:off x="812800" y="2552700"/>
            <a:ext cx="165100" cy="279400"/>
          </a:xfrm>
          <a:prstGeom prst="rect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02_r2"/>
          <p:cNvSpPr/>
          <p:nvPr/>
        </p:nvSpPr>
        <p:spPr>
          <a:xfrm>
            <a:off x="1054100" y="2387600"/>
            <a:ext cx="165100" cy="444500"/>
          </a:xfrm>
          <a:prstGeom prst="rect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02_r3"/>
          <p:cNvSpPr/>
          <p:nvPr/>
        </p:nvSpPr>
        <p:spPr>
          <a:xfrm>
            <a:off x="6604000" y="2616200"/>
            <a:ext cx="127000" cy="228600"/>
          </a:xfrm>
          <a:prstGeom prst="rect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02_r4"/>
          <p:cNvSpPr/>
          <p:nvPr/>
        </p:nvSpPr>
        <p:spPr>
          <a:xfrm>
            <a:off x="6794500" y="2476500"/>
            <a:ext cx="127000" cy="368300"/>
          </a:xfrm>
          <a:prstGeom prst="rect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02_r5"/>
          <p:cNvSpPr/>
          <p:nvPr/>
        </p:nvSpPr>
        <p:spPr>
          <a:xfrm>
            <a:off x="6985000" y="2336800"/>
            <a:ext cx="127000" cy="508000"/>
          </a:xfrm>
          <a:prstGeom prst="rect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02_p1"/>
          <p:cNvSpPr/>
          <p:nvPr/>
        </p:nvSpPr>
        <p:spPr>
          <a:xfrm>
            <a:off x="927100" y="4483100"/>
            <a:ext cx="254000" cy="254000"/>
          </a:xfrm>
          <a:prstGeom prst="ellipse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02_p2"/>
          <p:cNvSpPr/>
          <p:nvPr/>
        </p:nvSpPr>
        <p:spPr>
          <a:xfrm>
            <a:off x="800100" y="4762500"/>
            <a:ext cx="533400" cy="254000"/>
          </a:xfrm>
          <a:prstGeom prst="roundRect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02_b1"/>
          <p:cNvSpPr/>
          <p:nvPr/>
        </p:nvSpPr>
        <p:spPr>
          <a:xfrm>
            <a:off x="6553200" y="4775200"/>
            <a:ext cx="127000" cy="266700"/>
          </a:xfrm>
          <a:prstGeom prst="rect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02_b2"/>
          <p:cNvSpPr/>
          <p:nvPr/>
        </p:nvSpPr>
        <p:spPr>
          <a:xfrm>
            <a:off x="6756400" y="4635500"/>
            <a:ext cx="127000" cy="406400"/>
          </a:xfrm>
          <a:prstGeom prst="rect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02_b3"/>
          <p:cNvSpPr/>
          <p:nvPr/>
        </p:nvSpPr>
        <p:spPr>
          <a:xfrm>
            <a:off x="6959600" y="4470400"/>
            <a:ext cx="127000" cy="571500"/>
          </a:xfrm>
          <a:prstGeom prst="rect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02_approx_node"/>
          <p:cNvSpPr txBox="1"/>
          <p:nvPr/>
        </p:nvSpPr>
        <p:spPr>
          <a:xfrm>
            <a:off x="7315200" y="2209800"/>
            <a:ext cx="508000" cy="5969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DCA2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 i="0" spc="0">
                <a:solidFill>
                  <a:srgbClr val="DCA22E"/>
                </a:solidFill>
                <a:latin typeface="Hiragino Sans GB"/>
                <a:ea typeface="Hiragino Sans GB"/>
                <a:cs typeface="Hiragino Sans GB"/>
              </a:rPr>
              <a:t>约</a:t>
            </a:r>
          </a:p>
        </p:txBody>
      </p:sp>
      <p:sp>
        <p:nvSpPr>
          <p:cNvPr id="21" name="p02_kicker_node"/>
          <p:cNvSpPr txBox="1"/>
          <p:nvPr/>
        </p:nvSpPr>
        <p:spPr>
          <a:xfrm>
            <a:off x="444500" y="241300"/>
            <a:ext cx="11214100" cy="3683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 i="0" spc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rPr>
              <a:t>核心结论</a:t>
            </a:r>
          </a:p>
        </p:txBody>
      </p:sp>
      <p:sp>
        <p:nvSpPr>
          <p:cNvPr id="22" name="p02_title_node"/>
          <p:cNvSpPr txBox="1"/>
          <p:nvPr/>
        </p:nvSpPr>
        <p:spPr>
          <a:xfrm>
            <a:off x="431800" y="787400"/>
            <a:ext cx="11341100" cy="939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5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5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四个数字，勾勒工作重塑的方向</a:t>
            </a:r>
          </a:p>
        </p:txBody>
      </p:sp>
      <p:sp>
        <p:nvSpPr>
          <p:cNvPr id="23" name="p02_n1_node"/>
          <p:cNvSpPr txBox="1"/>
          <p:nvPr/>
        </p:nvSpPr>
        <p:spPr>
          <a:xfrm>
            <a:off x="1778000" y="1790700"/>
            <a:ext cx="3873500" cy="1295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300" b="1" i="0">
                <a:solidFill>
                  <a:srgbClr val="168C87"/>
                </a:solidFill>
                <a:latin typeface="Arial"/>
                <a:ea typeface="Arial"/>
                <a:cs typeface="Arial"/>
              </a:defRPr>
            </a:pPr>
            <a:r>
              <a:rPr sz="8300" b="1" i="0" spc="0">
                <a:solidFill>
                  <a:srgbClr val="168C87"/>
                </a:solidFill>
                <a:latin typeface="Arial"/>
                <a:ea typeface="Arial"/>
                <a:cs typeface="Arial"/>
              </a:rPr>
              <a:t>57%</a:t>
            </a:r>
          </a:p>
        </p:txBody>
      </p:sp>
      <p:sp>
        <p:nvSpPr>
          <p:cNvPr id="24" name="p02_v1_node"/>
          <p:cNvSpPr txBox="1"/>
          <p:nvPr/>
        </p:nvSpPr>
        <p:spPr>
          <a:xfrm>
            <a:off x="1816100" y="3035300"/>
            <a:ext cx="4076700" cy="5715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当前工时具备技术自动化潜力</a:t>
            </a:r>
          </a:p>
        </p:txBody>
      </p:sp>
      <p:sp>
        <p:nvSpPr>
          <p:cNvPr id="25" name="p02_n2_node"/>
          <p:cNvSpPr txBox="1"/>
          <p:nvPr/>
        </p:nvSpPr>
        <p:spPr>
          <a:xfrm>
            <a:off x="7810500" y="1917700"/>
            <a:ext cx="2921000" cy="1168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600" b="1" i="0">
                <a:solidFill>
                  <a:srgbClr val="DCA22E"/>
                </a:solidFill>
                <a:latin typeface="Arial"/>
                <a:ea typeface="Arial"/>
                <a:cs typeface="Arial"/>
              </a:defRPr>
            </a:pPr>
            <a:r>
              <a:rPr sz="7600" b="1" i="0" spc="0">
                <a:solidFill>
                  <a:srgbClr val="DCA22E"/>
                </a:solidFill>
                <a:latin typeface="Arial"/>
                <a:ea typeface="Arial"/>
                <a:cs typeface="Arial"/>
              </a:rPr>
              <a:t>4500</a:t>
            </a:r>
          </a:p>
        </p:txBody>
      </p:sp>
      <p:sp>
        <p:nvSpPr>
          <p:cNvPr id="26" name="p02_u2_node"/>
          <p:cNvSpPr txBox="1"/>
          <p:nvPr/>
        </p:nvSpPr>
        <p:spPr>
          <a:xfrm>
            <a:off x="10756900" y="2628900"/>
            <a:ext cx="952500" cy="4191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DCA2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 i="0" spc="0">
                <a:solidFill>
                  <a:srgbClr val="DCA22E"/>
                </a:solidFill>
                <a:latin typeface="Hiragino Sans GB"/>
                <a:ea typeface="Hiragino Sans GB"/>
                <a:cs typeface="Hiragino Sans GB"/>
              </a:rPr>
              <a:t>亿美元</a:t>
            </a:r>
          </a:p>
        </p:txBody>
      </p:sp>
      <p:sp>
        <p:nvSpPr>
          <p:cNvPr id="27" name="p02_v2_node"/>
          <p:cNvSpPr txBox="1"/>
          <p:nvPr/>
        </p:nvSpPr>
        <p:spPr>
          <a:xfrm>
            <a:off x="7315200" y="3048000"/>
            <a:ext cx="42672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2030年年度潜在经济价值</a:t>
            </a:r>
          </a:p>
        </p:txBody>
      </p:sp>
      <p:sp>
        <p:nvSpPr>
          <p:cNvPr id="28" name="p02_n3_node"/>
          <p:cNvSpPr txBox="1"/>
          <p:nvPr/>
        </p:nvSpPr>
        <p:spPr>
          <a:xfrm>
            <a:off x="1816100" y="3835400"/>
            <a:ext cx="3771900" cy="1244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0" b="1" i="0">
                <a:solidFill>
                  <a:srgbClr val="168C87"/>
                </a:solidFill>
                <a:latin typeface="Arial"/>
                <a:ea typeface="Arial"/>
                <a:cs typeface="Arial"/>
              </a:defRPr>
            </a:pPr>
            <a:r>
              <a:rPr sz="8000" b="1" i="0" spc="0">
                <a:solidFill>
                  <a:srgbClr val="168C87"/>
                </a:solidFill>
                <a:latin typeface="Arial"/>
                <a:ea typeface="Arial"/>
                <a:cs typeface="Arial"/>
              </a:rPr>
              <a:t>66%</a:t>
            </a:r>
          </a:p>
        </p:txBody>
      </p:sp>
      <p:sp>
        <p:nvSpPr>
          <p:cNvPr id="29" name="p02_v3_node"/>
          <p:cNvSpPr txBox="1"/>
          <p:nvPr/>
        </p:nvSpPr>
        <p:spPr>
          <a:xfrm>
            <a:off x="1816100" y="4991100"/>
            <a:ext cx="4140200" cy="508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技能同时用于可与不可自动化活动</a:t>
            </a:r>
          </a:p>
        </p:txBody>
      </p:sp>
      <p:sp>
        <p:nvSpPr>
          <p:cNvPr id="30" name="p02_n4_node"/>
          <p:cNvSpPr txBox="1"/>
          <p:nvPr/>
        </p:nvSpPr>
        <p:spPr>
          <a:xfrm>
            <a:off x="7327900" y="3873500"/>
            <a:ext cx="4254500" cy="1219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200" b="1" i="0">
                <a:solidFill>
                  <a:srgbClr val="DCA2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200" b="1" i="0" spc="0">
                <a:solidFill>
                  <a:srgbClr val="DCA22E"/>
                </a:solidFill>
                <a:latin typeface="Hiragino Sans GB"/>
                <a:ea typeface="Hiragino Sans GB"/>
                <a:cs typeface="Hiragino Sans GB"/>
              </a:rPr>
              <a:t>近11倍</a:t>
            </a:r>
          </a:p>
        </p:txBody>
      </p:sp>
      <p:sp>
        <p:nvSpPr>
          <p:cNvPr id="31" name="p02_v4_node"/>
          <p:cNvSpPr txBox="1"/>
          <p:nvPr/>
        </p:nvSpPr>
        <p:spPr>
          <a:xfrm>
            <a:off x="7353300" y="4991100"/>
            <a:ext cx="4292600" cy="508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AI应用素养相关需求两年扩张</a:t>
            </a:r>
          </a:p>
        </p:txBody>
      </p:sp>
      <p:sp>
        <p:nvSpPr>
          <p:cNvPr id="32" name="p02_takeaway_node"/>
          <p:cNvSpPr txBox="1"/>
          <p:nvPr/>
        </p:nvSpPr>
        <p:spPr>
          <a:xfrm>
            <a:off x="1752600" y="5727700"/>
            <a:ext cx="9956800" cy="5969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00" b="1" i="0" spc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价值来自重新设计人机协作的工作流程</a:t>
            </a:r>
          </a:p>
        </p:txBody>
      </p:sp>
      <p:sp>
        <p:nvSpPr>
          <p:cNvPr id="33" name="p02_footer_node"/>
          <p:cNvSpPr txBox="1"/>
          <p:nvPr/>
        </p:nvSpPr>
        <p:spPr>
          <a:xfrm>
            <a:off x="431800" y="6565900"/>
            <a:ext cx="10566400" cy="203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 i="0" spc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来源：麦肯锡全球研究院，2026.07 · PDF第5、7、24、30页</a:t>
            </a:r>
          </a:p>
        </p:txBody>
      </p:sp>
      <p:sp>
        <p:nvSpPr>
          <p:cNvPr id="34" name="p02_page_node"/>
          <p:cNvSpPr txBox="1"/>
          <p:nvPr/>
        </p:nvSpPr>
        <p:spPr>
          <a:xfrm>
            <a:off x="11201400" y="6565900"/>
            <a:ext cx="558800" cy="203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 i="0" spc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03_header_rule"/>
          <p:cNvSpPr/>
          <p:nvPr/>
        </p:nvSpPr>
        <p:spPr>
          <a:xfrm>
            <a:off x="444500" y="622300"/>
            <a:ext cx="673100" cy="25400"/>
          </a:xfrm>
          <a:prstGeom prst="rect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03_a1"/>
          <p:cNvSpPr/>
          <p:nvPr/>
        </p:nvSpPr>
        <p:spPr>
          <a:xfrm>
            <a:off x="254000" y="1625600"/>
            <a:ext cx="5740400" cy="1968500"/>
          </a:xfrm>
          <a:prstGeom prst="roundRect">
            <a:avLst/>
          </a:prstGeom>
          <a:solidFill>
            <a:srgbClr val="E6F1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p03_a2"/>
          <p:cNvSpPr/>
          <p:nvPr/>
        </p:nvSpPr>
        <p:spPr>
          <a:xfrm>
            <a:off x="6159500" y="1625600"/>
            <a:ext cx="5765800" cy="1968500"/>
          </a:xfrm>
          <a:prstGeom prst="roundRect">
            <a:avLst/>
          </a:prstGeom>
          <a:solidFill>
            <a:srgbClr val="E6F1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p03_a3"/>
          <p:cNvSpPr/>
          <p:nvPr/>
        </p:nvSpPr>
        <p:spPr>
          <a:xfrm>
            <a:off x="254000" y="3695700"/>
            <a:ext cx="5740400" cy="1587500"/>
          </a:xfrm>
          <a:prstGeom prst="roundRect">
            <a:avLst/>
          </a:prstGeom>
          <a:solidFill>
            <a:srgbClr val="E6F1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03_a4"/>
          <p:cNvSpPr/>
          <p:nvPr/>
        </p:nvSpPr>
        <p:spPr>
          <a:xfrm>
            <a:off x="6159500" y="3695700"/>
            <a:ext cx="5765800" cy="1587500"/>
          </a:xfrm>
          <a:prstGeom prst="roundRect">
            <a:avLst/>
          </a:prstGeom>
          <a:solidFill>
            <a:srgbClr val="E6F1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03_warning"/>
          <p:cNvSpPr/>
          <p:nvPr/>
        </p:nvSpPr>
        <p:spPr>
          <a:xfrm>
            <a:off x="317500" y="5943600"/>
            <a:ext cx="11557000" cy="571500"/>
          </a:xfrm>
          <a:prstGeom prst="roundRect">
            <a:avLst/>
          </a:prstGeom>
          <a:solidFill>
            <a:srgbClr val="F3C8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03_kicker_node"/>
          <p:cNvSpPr txBox="1"/>
          <p:nvPr/>
        </p:nvSpPr>
        <p:spPr>
          <a:xfrm>
            <a:off x="444500" y="241300"/>
            <a:ext cx="11214100" cy="3683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 i="0" spc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rPr>
              <a:t>研究范围与口径</a:t>
            </a:r>
          </a:p>
        </p:txBody>
      </p:sp>
      <p:sp>
        <p:nvSpPr>
          <p:cNvPr id="9" name="p03_title_node"/>
          <p:cNvSpPr txBox="1"/>
          <p:nvPr/>
        </p:nvSpPr>
        <p:spPr>
          <a:xfrm>
            <a:off x="431800" y="787400"/>
            <a:ext cx="11341100" cy="939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5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5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研究覆盖广，但三类数字不能混用</a:t>
            </a:r>
          </a:p>
        </p:txBody>
      </p:sp>
      <p:sp>
        <p:nvSpPr>
          <p:cNvPr id="10" name="p03_n1_node"/>
          <p:cNvSpPr txBox="1"/>
          <p:nvPr/>
        </p:nvSpPr>
        <p:spPr>
          <a:xfrm>
            <a:off x="444500" y="1587500"/>
            <a:ext cx="1054100" cy="990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6800" b="1" i="0">
                <a:solidFill>
                  <a:srgbClr val="168C87"/>
                </a:solidFill>
                <a:latin typeface="Arial"/>
                <a:ea typeface="Arial"/>
                <a:cs typeface="Arial"/>
              </a:defRPr>
            </a:pPr>
            <a:r>
              <a:rPr sz="6800" b="1" i="0" spc="0">
                <a:solidFill>
                  <a:srgbClr val="168C8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1" name="p03_v1_node"/>
          <p:cNvSpPr txBox="1"/>
          <p:nvPr/>
        </p:nvSpPr>
        <p:spPr>
          <a:xfrm>
            <a:off x="1562100" y="1930400"/>
            <a:ext cx="3022600" cy="5461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个经济体</a:t>
            </a:r>
          </a:p>
        </p:txBody>
      </p:sp>
      <p:sp>
        <p:nvSpPr>
          <p:cNvPr id="12" name="p03_d1_node"/>
          <p:cNvSpPr txBox="1"/>
          <p:nvPr/>
        </p:nvSpPr>
        <p:spPr>
          <a:xfrm>
            <a:off x="469900" y="2616200"/>
            <a:ext cx="5270500" cy="508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自动化潜力与经济价值</a:t>
            </a:r>
          </a:p>
        </p:txBody>
      </p:sp>
      <p:sp>
        <p:nvSpPr>
          <p:cNvPr id="13" name="p03_n2_node"/>
          <p:cNvSpPr txBox="1"/>
          <p:nvPr/>
        </p:nvSpPr>
        <p:spPr>
          <a:xfrm>
            <a:off x="6324600" y="1600200"/>
            <a:ext cx="889000" cy="990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6800" b="1" i="0">
                <a:solidFill>
                  <a:srgbClr val="168C87"/>
                </a:solidFill>
                <a:latin typeface="Arial"/>
                <a:ea typeface="Arial"/>
                <a:cs typeface="Arial"/>
              </a:defRPr>
            </a:pPr>
            <a:r>
              <a:rPr sz="6800" b="1" i="0" spc="0">
                <a:solidFill>
                  <a:srgbClr val="168C8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" name="p03_v2_node"/>
          <p:cNvSpPr txBox="1"/>
          <p:nvPr/>
        </p:nvSpPr>
        <p:spPr>
          <a:xfrm>
            <a:off x="7112000" y="1917700"/>
            <a:ext cx="4419600" cy="5969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个劳动力市场</a:t>
            </a:r>
          </a:p>
        </p:txBody>
      </p:sp>
      <p:sp>
        <p:nvSpPr>
          <p:cNvPr id="15" name="p03_d2_node"/>
          <p:cNvSpPr txBox="1"/>
          <p:nvPr/>
        </p:nvSpPr>
        <p:spPr>
          <a:xfrm>
            <a:off x="6350000" y="2590800"/>
            <a:ext cx="5181600" cy="4445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招聘信息与技能变化</a:t>
            </a:r>
          </a:p>
        </p:txBody>
      </p:sp>
      <p:sp>
        <p:nvSpPr>
          <p:cNvPr id="16" name="p03_countries_node"/>
          <p:cNvSpPr txBox="1"/>
          <p:nvPr/>
        </p:nvSpPr>
        <p:spPr>
          <a:xfrm>
            <a:off x="6350000" y="3060700"/>
            <a:ext cx="5168900" cy="4445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 i="0" spc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rPr>
              <a:t>阿根廷 · 巴西 · 智利 · 哥伦比亚 · 墨西哥</a:t>
            </a:r>
          </a:p>
        </p:txBody>
      </p:sp>
      <p:sp>
        <p:nvSpPr>
          <p:cNvPr id="17" name="p03_n3_node"/>
          <p:cNvSpPr txBox="1"/>
          <p:nvPr/>
        </p:nvSpPr>
        <p:spPr>
          <a:xfrm>
            <a:off x="495300" y="3746500"/>
            <a:ext cx="2730500" cy="9525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6000" b="1" i="0">
                <a:solidFill>
                  <a:srgbClr val="DCA2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6000" b="1" i="0" spc="0">
                <a:solidFill>
                  <a:srgbClr val="DCA22E"/>
                </a:solidFill>
                <a:latin typeface="Hiragino Sans GB"/>
                <a:ea typeface="Hiragino Sans GB"/>
                <a:cs typeface="Hiragino Sans GB"/>
              </a:rPr>
              <a:t>约800</a:t>
            </a:r>
          </a:p>
        </p:txBody>
      </p:sp>
      <p:sp>
        <p:nvSpPr>
          <p:cNvPr id="18" name="p03_v3_node"/>
          <p:cNvSpPr txBox="1"/>
          <p:nvPr/>
        </p:nvSpPr>
        <p:spPr>
          <a:xfrm>
            <a:off x="3238500" y="4013200"/>
            <a:ext cx="2286000" cy="508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类职业</a:t>
            </a:r>
          </a:p>
        </p:txBody>
      </p:sp>
      <p:sp>
        <p:nvSpPr>
          <p:cNvPr id="19" name="p03_d3_node"/>
          <p:cNvSpPr txBox="1"/>
          <p:nvPr/>
        </p:nvSpPr>
        <p:spPr>
          <a:xfrm>
            <a:off x="495300" y="4711700"/>
            <a:ext cx="51689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拆解工作活动与技术能力</a:t>
            </a:r>
          </a:p>
        </p:txBody>
      </p:sp>
      <p:sp>
        <p:nvSpPr>
          <p:cNvPr id="20" name="p03_n4_node"/>
          <p:cNvSpPr txBox="1"/>
          <p:nvPr/>
        </p:nvSpPr>
        <p:spPr>
          <a:xfrm>
            <a:off x="6324600" y="3771900"/>
            <a:ext cx="3238500" cy="9271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6000" b="1" i="0">
                <a:solidFill>
                  <a:srgbClr val="DCA2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6000" b="1" i="0" spc="0">
                <a:solidFill>
                  <a:srgbClr val="DCA22E"/>
                </a:solidFill>
                <a:latin typeface="Hiragino Sans GB"/>
                <a:ea typeface="Hiragino Sans GB"/>
                <a:cs typeface="Hiragino Sans GB"/>
              </a:rPr>
              <a:t>约7000</a:t>
            </a:r>
          </a:p>
        </p:txBody>
      </p:sp>
      <p:sp>
        <p:nvSpPr>
          <p:cNvPr id="21" name="p03_v4_node"/>
          <p:cNvSpPr txBox="1"/>
          <p:nvPr/>
        </p:nvSpPr>
        <p:spPr>
          <a:xfrm>
            <a:off x="9575800" y="4025900"/>
            <a:ext cx="1930400" cy="4953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项技能</a:t>
            </a:r>
          </a:p>
        </p:txBody>
      </p:sp>
      <p:sp>
        <p:nvSpPr>
          <p:cNvPr id="22" name="p03_d4_node"/>
          <p:cNvSpPr txBox="1"/>
          <p:nvPr/>
        </p:nvSpPr>
        <p:spPr>
          <a:xfrm>
            <a:off x="6324600" y="4724400"/>
            <a:ext cx="5130800" cy="4445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分析技能与工作活动的关联</a:t>
            </a:r>
          </a:p>
        </p:txBody>
      </p:sp>
      <p:sp>
        <p:nvSpPr>
          <p:cNvPr id="23" name="p03_time_node"/>
          <p:cNvSpPr txBox="1"/>
          <p:nvPr/>
        </p:nvSpPr>
        <p:spPr>
          <a:xfrm>
            <a:off x="571500" y="5473700"/>
            <a:ext cx="11023600" cy="393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2024 技术能力  →  2023—2025 招聘变化  →  2030 采用情景</a:t>
            </a:r>
          </a:p>
        </p:txBody>
      </p:sp>
      <p:sp>
        <p:nvSpPr>
          <p:cNvPr id="24" name="p03_boundary_node"/>
          <p:cNvSpPr txBox="1"/>
          <p:nvPr/>
        </p:nvSpPr>
        <p:spPr>
          <a:xfrm>
            <a:off x="698500" y="6045200"/>
            <a:ext cx="108077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技术潜力 ≠ 实际采用 ≠ 岗位减少</a:t>
            </a:r>
          </a:p>
        </p:txBody>
      </p:sp>
      <p:sp>
        <p:nvSpPr>
          <p:cNvPr id="25" name="p03_footer_node"/>
          <p:cNvSpPr txBox="1"/>
          <p:nvPr/>
        </p:nvSpPr>
        <p:spPr>
          <a:xfrm>
            <a:off x="431800" y="6565900"/>
            <a:ext cx="10566400" cy="203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 i="0" spc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rPr>
              <a:t>来源：麦肯锡全球研究院，2026.07 · PDF第9、20、24、25、39页</a:t>
            </a:r>
          </a:p>
        </p:txBody>
      </p:sp>
      <p:sp>
        <p:nvSpPr>
          <p:cNvPr id="26" name="p03_page_node"/>
          <p:cNvSpPr txBox="1"/>
          <p:nvPr/>
        </p:nvSpPr>
        <p:spPr>
          <a:xfrm>
            <a:off x="11201400" y="6565900"/>
            <a:ext cx="558800" cy="203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D6B78"/>
                </a:solidFill>
                <a:latin typeface="Arial"/>
                <a:ea typeface="Arial"/>
                <a:cs typeface="Arial"/>
              </a:defRPr>
            </a:pPr>
            <a:r>
              <a:rPr sz="900" b="0" i="0" spc="0">
                <a:solidFill>
                  <a:srgbClr val="5D6B78"/>
                </a:solidFill>
                <a:latin typeface="Arial"/>
                <a:ea typeface="Arial"/>
                <a:cs typeface="Arial"/>
              </a:rPr>
              <a:t>03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04_header_rule"/>
          <p:cNvSpPr/>
          <p:nvPr/>
        </p:nvSpPr>
        <p:spPr>
          <a:xfrm>
            <a:off x="444500" y="622300"/>
            <a:ext cx="673100" cy="25400"/>
          </a:xfrm>
          <a:prstGeom prst="rect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04_dot1"/>
          <p:cNvSpPr/>
          <p:nvPr/>
        </p:nvSpPr>
        <p:spPr>
          <a:xfrm>
            <a:off x="6197600" y="2108200"/>
            <a:ext cx="508000" cy="508000"/>
          </a:xfrm>
          <a:prstGeom prst="ellipse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p04_dot2"/>
          <p:cNvSpPr/>
          <p:nvPr/>
        </p:nvSpPr>
        <p:spPr>
          <a:xfrm>
            <a:off x="6197600" y="3378200"/>
            <a:ext cx="508000" cy="508000"/>
          </a:xfrm>
          <a:prstGeom prst="ellipse">
            <a:avLst/>
          </a:prstGeom>
          <a:solidFill>
            <a:srgbClr val="E8AC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p04_dot3"/>
          <p:cNvSpPr/>
          <p:nvPr/>
        </p:nvSpPr>
        <p:spPr>
          <a:xfrm>
            <a:off x="6197600" y="4648200"/>
            <a:ext cx="508000" cy="508000"/>
          </a:xfrm>
          <a:prstGeom prst="ellipse">
            <a:avLst/>
          </a:prstGeom>
          <a:solidFill>
            <a:srgbClr val="1732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04_band"/>
          <p:cNvSpPr/>
          <p:nvPr/>
        </p:nvSpPr>
        <p:spPr>
          <a:xfrm>
            <a:off x="431800" y="5702300"/>
            <a:ext cx="11341100" cy="736600"/>
          </a:xfrm>
          <a:prstGeom prst="roundRect">
            <a:avLst/>
          </a:prstGeom>
          <a:solidFill>
            <a:srgbClr val="DDEF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p04_mix"/>
          <p:cNvGraphicFramePr>
            <a:graphicFrameLocks noGrp="1"/>
          </p:cNvGraphicFramePr>
          <p:nvPr/>
        </p:nvGraphicFramePr>
        <p:xfrm>
          <a:off x="571500" y="1524000"/>
          <a:ext cx="5143500" cy="4089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p04_kicker_node"/>
          <p:cNvSpPr txBox="1"/>
          <p:nvPr/>
        </p:nvSpPr>
        <p:spPr>
          <a:xfrm>
            <a:off x="444500" y="241300"/>
            <a:ext cx="11214100" cy="3683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 i="0" spc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rPr>
              <a:t>工作如何变化</a:t>
            </a:r>
          </a:p>
        </p:txBody>
      </p:sp>
      <p:sp>
        <p:nvSpPr>
          <p:cNvPr id="9" name="p04_title_node"/>
          <p:cNvSpPr txBox="1"/>
          <p:nvPr/>
        </p:nvSpPr>
        <p:spPr>
          <a:xfrm>
            <a:off x="431800" y="787400"/>
            <a:ext cx="11341100" cy="939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57%的工时可自动化，人仍承担关键判断</a:t>
            </a:r>
          </a:p>
        </p:txBody>
      </p:sp>
      <p:sp>
        <p:nvSpPr>
          <p:cNvPr id="10" name="p04_center_node"/>
          <p:cNvSpPr txBox="1"/>
          <p:nvPr/>
        </p:nvSpPr>
        <p:spPr>
          <a:xfrm>
            <a:off x="1803400" y="3073400"/>
            <a:ext cx="2489200" cy="990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580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5800" b="1" i="0" spc="0">
                <a:solidFill>
                  <a:srgbClr val="17324D"/>
                </a:solidFill>
                <a:latin typeface="Arial"/>
                <a:ea typeface="Arial"/>
                <a:cs typeface="Arial"/>
              </a:rPr>
              <a:t>57%</a:t>
            </a:r>
          </a:p>
        </p:txBody>
      </p:sp>
      <p:sp>
        <p:nvSpPr>
          <p:cNvPr id="11" name="p04_k1_node"/>
          <p:cNvSpPr txBox="1"/>
          <p:nvPr/>
        </p:nvSpPr>
        <p:spPr>
          <a:xfrm>
            <a:off x="6934200" y="1981200"/>
            <a:ext cx="1473200" cy="762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900" b="1" i="0">
                <a:solidFill>
                  <a:srgbClr val="168C87"/>
                </a:solidFill>
                <a:latin typeface="Arial"/>
                <a:ea typeface="Arial"/>
                <a:cs typeface="Arial"/>
              </a:defRPr>
            </a:pPr>
            <a:r>
              <a:rPr sz="4900" b="1" i="0" spc="0">
                <a:solidFill>
                  <a:srgbClr val="168C87"/>
                </a:solidFill>
                <a:latin typeface="Arial"/>
                <a:ea typeface="Arial"/>
                <a:cs typeface="Arial"/>
              </a:rPr>
              <a:t>39%</a:t>
            </a:r>
          </a:p>
        </p:txBody>
      </p:sp>
      <p:sp>
        <p:nvSpPr>
          <p:cNvPr id="12" name="p04_v1_node"/>
          <p:cNvSpPr txBox="1"/>
          <p:nvPr/>
        </p:nvSpPr>
        <p:spPr>
          <a:xfrm>
            <a:off x="8737600" y="2171700"/>
            <a:ext cx="3035300" cy="7239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智能体：非物理工作</a:t>
            </a:r>
          </a:p>
        </p:txBody>
      </p:sp>
      <p:sp>
        <p:nvSpPr>
          <p:cNvPr id="13" name="p04_k2_node"/>
          <p:cNvSpPr txBox="1"/>
          <p:nvPr/>
        </p:nvSpPr>
        <p:spPr>
          <a:xfrm>
            <a:off x="6934200" y="3251200"/>
            <a:ext cx="1485900" cy="762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900" b="1" i="0">
                <a:solidFill>
                  <a:srgbClr val="DCA22E"/>
                </a:solidFill>
                <a:latin typeface="Arial"/>
                <a:ea typeface="Arial"/>
                <a:cs typeface="Arial"/>
              </a:defRPr>
            </a:pPr>
            <a:r>
              <a:rPr sz="4900" b="1" i="0" spc="0">
                <a:solidFill>
                  <a:srgbClr val="DCA22E"/>
                </a:solidFill>
                <a:latin typeface="Arial"/>
                <a:ea typeface="Arial"/>
                <a:cs typeface="Arial"/>
              </a:rPr>
              <a:t>18%</a:t>
            </a:r>
          </a:p>
        </p:txBody>
      </p:sp>
      <p:sp>
        <p:nvSpPr>
          <p:cNvPr id="14" name="p04_v2_node"/>
          <p:cNvSpPr txBox="1"/>
          <p:nvPr/>
        </p:nvSpPr>
        <p:spPr>
          <a:xfrm>
            <a:off x="8737600" y="3441700"/>
            <a:ext cx="3035300" cy="7239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机器人：物理工作</a:t>
            </a:r>
          </a:p>
        </p:txBody>
      </p:sp>
      <p:sp>
        <p:nvSpPr>
          <p:cNvPr id="15" name="p04_k3_node"/>
          <p:cNvSpPr txBox="1"/>
          <p:nvPr/>
        </p:nvSpPr>
        <p:spPr>
          <a:xfrm>
            <a:off x="6934200" y="4521200"/>
            <a:ext cx="1485900" cy="787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90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4900" b="1" i="0" spc="0">
                <a:solidFill>
                  <a:srgbClr val="17324D"/>
                </a:solidFill>
                <a:latin typeface="Arial"/>
                <a:ea typeface="Arial"/>
                <a:cs typeface="Arial"/>
              </a:rPr>
              <a:t>43%</a:t>
            </a:r>
          </a:p>
        </p:txBody>
      </p:sp>
      <p:sp>
        <p:nvSpPr>
          <p:cNvPr id="16" name="p04_v3_node"/>
          <p:cNvSpPr txBox="1"/>
          <p:nvPr/>
        </p:nvSpPr>
        <p:spPr>
          <a:xfrm>
            <a:off x="8737600" y="4699000"/>
            <a:ext cx="3035300" cy="787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当前不可自动化工作</a:t>
            </a:r>
          </a:p>
        </p:txBody>
      </p:sp>
      <p:sp>
        <p:nvSpPr>
          <p:cNvPr id="17" name="p04_takeaway_node"/>
          <p:cNvSpPr txBox="1"/>
          <p:nvPr/>
        </p:nvSpPr>
        <p:spPr>
          <a:xfrm>
            <a:off x="660400" y="5892800"/>
            <a:ext cx="7391400" cy="482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 i="0" spc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rPr>
              <a:t>人保留情境判断、关系管理与结果责任</a:t>
            </a:r>
          </a:p>
        </p:txBody>
      </p:sp>
      <p:sp>
        <p:nvSpPr>
          <p:cNvPr id="18" name="p04_limit_node"/>
          <p:cNvSpPr txBox="1"/>
          <p:nvPr/>
        </p:nvSpPr>
        <p:spPr>
          <a:xfrm>
            <a:off x="8597900" y="5791200"/>
            <a:ext cx="3009900" cy="5969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现有技术可行性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非就业损失预测</a:t>
            </a:r>
          </a:p>
        </p:txBody>
      </p:sp>
      <p:sp>
        <p:nvSpPr>
          <p:cNvPr id="19" name="p04_footer_node"/>
          <p:cNvSpPr txBox="1"/>
          <p:nvPr/>
        </p:nvSpPr>
        <p:spPr>
          <a:xfrm>
            <a:off x="431800" y="6565900"/>
            <a:ext cx="10566400" cy="203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 i="0" spc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rPr>
              <a:t>来源：麦肯锡全球研究院，2026.07 · PDF第7、9、10页</a:t>
            </a:r>
          </a:p>
        </p:txBody>
      </p:sp>
      <p:sp>
        <p:nvSpPr>
          <p:cNvPr id="20" name="p04_page_node"/>
          <p:cNvSpPr txBox="1"/>
          <p:nvPr/>
        </p:nvSpPr>
        <p:spPr>
          <a:xfrm>
            <a:off x="11201400" y="6565900"/>
            <a:ext cx="558800" cy="203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D6B78"/>
                </a:solidFill>
                <a:latin typeface="Arial"/>
                <a:ea typeface="Arial"/>
                <a:cs typeface="Arial"/>
              </a:defRPr>
            </a:pPr>
            <a:r>
              <a:rPr sz="900" b="0" i="0" spc="0">
                <a:solidFill>
                  <a:srgbClr val="5D6B78"/>
                </a:solidFill>
                <a:latin typeface="Arial"/>
                <a:ea typeface="Arial"/>
                <a:cs typeface="Arial"/>
              </a:rPr>
              <a:t>04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05_header_rule"/>
          <p:cNvSpPr/>
          <p:nvPr/>
        </p:nvSpPr>
        <p:spPr>
          <a:xfrm>
            <a:off x="444500" y="622300"/>
            <a:ext cx="673100" cy="25400"/>
          </a:xfrm>
          <a:prstGeom prst="rect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05_divider"/>
          <p:cNvSpPr/>
          <p:nvPr/>
        </p:nvSpPr>
        <p:spPr>
          <a:xfrm>
            <a:off x="6680200" y="1866900"/>
            <a:ext cx="12700" cy="4254500"/>
          </a:xfrm>
          <a:prstGeom prst="rect">
            <a:avLst/>
          </a:prstGeom>
          <a:solidFill>
            <a:srgbClr val="C2DC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p05_n1bg"/>
          <p:cNvSpPr/>
          <p:nvPr/>
        </p:nvSpPr>
        <p:spPr>
          <a:xfrm>
            <a:off x="7188200" y="2006600"/>
            <a:ext cx="520700" cy="520700"/>
          </a:xfrm>
          <a:prstGeom prst="rect">
            <a:avLst/>
          </a:prstGeom>
          <a:solidFill>
            <a:srgbClr val="E8AC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p05_n2bg"/>
          <p:cNvSpPr/>
          <p:nvPr/>
        </p:nvSpPr>
        <p:spPr>
          <a:xfrm>
            <a:off x="7188200" y="3568700"/>
            <a:ext cx="520700" cy="520700"/>
          </a:xfrm>
          <a:prstGeom prst="rect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05_n3bg"/>
          <p:cNvSpPr/>
          <p:nvPr/>
        </p:nvSpPr>
        <p:spPr>
          <a:xfrm>
            <a:off x="7188200" y="5105400"/>
            <a:ext cx="520700" cy="520700"/>
          </a:xfrm>
          <a:prstGeom prst="rect">
            <a:avLst/>
          </a:prstGeom>
          <a:solidFill>
            <a:srgbClr val="DDEF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05_line1"/>
          <p:cNvSpPr/>
          <p:nvPr/>
        </p:nvSpPr>
        <p:spPr>
          <a:xfrm>
            <a:off x="7175500" y="3225800"/>
            <a:ext cx="4546600" cy="12700"/>
          </a:xfrm>
          <a:prstGeom prst="rect">
            <a:avLst/>
          </a:prstGeom>
          <a:solidFill>
            <a:srgbClr val="C2DC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05_line2"/>
          <p:cNvSpPr/>
          <p:nvPr/>
        </p:nvSpPr>
        <p:spPr>
          <a:xfrm>
            <a:off x="7175500" y="4800600"/>
            <a:ext cx="4546600" cy="12700"/>
          </a:xfrm>
          <a:prstGeom prst="rect">
            <a:avLst/>
          </a:prstGeom>
          <a:solidFill>
            <a:srgbClr val="C2DC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9" name="p05_adoption"/>
          <p:cNvGraphicFramePr>
            <a:graphicFrameLocks noGrp="1"/>
          </p:cNvGraphicFramePr>
          <p:nvPr/>
        </p:nvGraphicFramePr>
        <p:xfrm>
          <a:off x="419100" y="2552700"/>
          <a:ext cx="5956300" cy="34163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p05_kicker_node"/>
          <p:cNvSpPr txBox="1"/>
          <p:nvPr/>
        </p:nvSpPr>
        <p:spPr>
          <a:xfrm>
            <a:off x="444500" y="241300"/>
            <a:ext cx="11214100" cy="3683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 i="0" spc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rPr>
              <a:t>从潜力到采用</a:t>
            </a:r>
          </a:p>
        </p:txBody>
      </p:sp>
      <p:sp>
        <p:nvSpPr>
          <p:cNvPr id="11" name="p05_title_node"/>
          <p:cNvSpPr txBox="1"/>
          <p:nvPr/>
        </p:nvSpPr>
        <p:spPr>
          <a:xfrm>
            <a:off x="431800" y="787400"/>
            <a:ext cx="11341100" cy="939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技术潜力接近，实际采用速度仍有差距</a:t>
            </a:r>
          </a:p>
        </p:txBody>
      </p:sp>
      <p:sp>
        <p:nvSpPr>
          <p:cNvPr id="12" name="p05_units_node"/>
          <p:cNvSpPr txBox="1"/>
          <p:nvPr/>
        </p:nvSpPr>
        <p:spPr>
          <a:xfrm>
            <a:off x="457200" y="1854200"/>
            <a:ext cx="5867400" cy="558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2030年自动化采用工时占比（%）</a:t>
            </a:r>
          </a:p>
        </p:txBody>
      </p:sp>
      <p:sp>
        <p:nvSpPr>
          <p:cNvPr id="13" name="p05_no1_node"/>
          <p:cNvSpPr txBox="1"/>
          <p:nvPr/>
        </p:nvSpPr>
        <p:spPr>
          <a:xfrm>
            <a:off x="7188200" y="2006600"/>
            <a:ext cx="520700" cy="508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 spc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" name="p05_h1_node"/>
          <p:cNvSpPr txBox="1"/>
          <p:nvPr/>
        </p:nvSpPr>
        <p:spPr>
          <a:xfrm>
            <a:off x="7975600" y="1943100"/>
            <a:ext cx="3683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较低工资</a:t>
            </a:r>
          </a:p>
        </p:txBody>
      </p:sp>
      <p:sp>
        <p:nvSpPr>
          <p:cNvPr id="15" name="p05_d1_node"/>
          <p:cNvSpPr txBox="1"/>
          <p:nvPr/>
        </p:nvSpPr>
        <p:spPr>
          <a:xfrm>
            <a:off x="7975600" y="2514600"/>
            <a:ext cx="3683000" cy="7239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削弱劳动替代的经济激励</a:t>
            </a:r>
          </a:p>
        </p:txBody>
      </p:sp>
      <p:sp>
        <p:nvSpPr>
          <p:cNvPr id="16" name="p05_no2_node"/>
          <p:cNvSpPr txBox="1"/>
          <p:nvPr/>
        </p:nvSpPr>
        <p:spPr>
          <a:xfrm>
            <a:off x="7188200" y="3568700"/>
            <a:ext cx="520700" cy="508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 spc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p05_h2_node"/>
          <p:cNvSpPr txBox="1"/>
          <p:nvPr/>
        </p:nvSpPr>
        <p:spPr>
          <a:xfrm>
            <a:off x="7975600" y="3517900"/>
            <a:ext cx="3683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机器人部署成本</a:t>
            </a:r>
          </a:p>
        </p:txBody>
      </p:sp>
      <p:sp>
        <p:nvSpPr>
          <p:cNvPr id="18" name="p05_d2_node"/>
          <p:cNvSpPr txBox="1"/>
          <p:nvPr/>
        </p:nvSpPr>
        <p:spPr>
          <a:xfrm>
            <a:off x="7975600" y="4089400"/>
            <a:ext cx="3695700" cy="7239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物理自动化需要更多投入</a:t>
            </a:r>
          </a:p>
        </p:txBody>
      </p:sp>
      <p:sp>
        <p:nvSpPr>
          <p:cNvPr id="19" name="p05_no3_node"/>
          <p:cNvSpPr txBox="1"/>
          <p:nvPr/>
        </p:nvSpPr>
        <p:spPr>
          <a:xfrm>
            <a:off x="7188200" y="5105400"/>
            <a:ext cx="520700" cy="508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400" b="1" i="0" spc="0">
                <a:solidFill>
                  <a:srgbClr val="17324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p05_h3_node"/>
          <p:cNvSpPr txBox="1"/>
          <p:nvPr/>
        </p:nvSpPr>
        <p:spPr>
          <a:xfrm>
            <a:off x="7975600" y="5041900"/>
            <a:ext cx="3683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组织准备度</a:t>
            </a:r>
          </a:p>
        </p:txBody>
      </p:sp>
      <p:sp>
        <p:nvSpPr>
          <p:cNvPr id="21" name="p05_d3_node"/>
          <p:cNvSpPr txBox="1"/>
          <p:nvPr/>
        </p:nvSpPr>
        <p:spPr>
          <a:xfrm>
            <a:off x="7975600" y="5600700"/>
            <a:ext cx="3695700" cy="7239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集成、技能与接受程度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影响落地</a:t>
            </a:r>
          </a:p>
        </p:txBody>
      </p:sp>
      <p:sp>
        <p:nvSpPr>
          <p:cNvPr id="22" name="p05_footer_node"/>
          <p:cNvSpPr txBox="1"/>
          <p:nvPr/>
        </p:nvSpPr>
        <p:spPr>
          <a:xfrm>
            <a:off x="431800" y="6565900"/>
            <a:ext cx="10566400" cy="203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 i="0" spc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rPr>
              <a:t>来源：麦肯锡全球研究院，2026.07 · PDF第18、20、21页</a:t>
            </a:r>
          </a:p>
        </p:txBody>
      </p:sp>
      <p:sp>
        <p:nvSpPr>
          <p:cNvPr id="23" name="p05_page_node"/>
          <p:cNvSpPr txBox="1"/>
          <p:nvPr/>
        </p:nvSpPr>
        <p:spPr>
          <a:xfrm>
            <a:off x="11201400" y="6565900"/>
            <a:ext cx="558800" cy="203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D6B78"/>
                </a:solidFill>
                <a:latin typeface="Arial"/>
                <a:ea typeface="Arial"/>
                <a:cs typeface="Arial"/>
              </a:defRPr>
            </a:pPr>
            <a:r>
              <a:rPr sz="900" b="0" i="0" spc="0">
                <a:solidFill>
                  <a:srgbClr val="5D6B78"/>
                </a:solidFill>
                <a:latin typeface="Arial"/>
                <a:ea typeface="Arial"/>
                <a:cs typeface="Arial"/>
              </a:rPr>
              <a:t>05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06_header_rule"/>
          <p:cNvSpPr/>
          <p:nvPr/>
        </p:nvSpPr>
        <p:spPr>
          <a:xfrm>
            <a:off x="444500" y="622300"/>
            <a:ext cx="673100" cy="25400"/>
          </a:xfrm>
          <a:prstGeom prst="rect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06_line"/>
          <p:cNvSpPr/>
          <p:nvPr/>
        </p:nvSpPr>
        <p:spPr>
          <a:xfrm>
            <a:off x="7645400" y="1790700"/>
            <a:ext cx="12700" cy="3848100"/>
          </a:xfrm>
          <a:prstGeom prst="rect">
            <a:avLst/>
          </a:prstGeom>
          <a:solidFill>
            <a:srgbClr val="C2DC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p06_note"/>
          <p:cNvSpPr/>
          <p:nvPr/>
        </p:nvSpPr>
        <p:spPr>
          <a:xfrm>
            <a:off x="431800" y="5943600"/>
            <a:ext cx="11341100" cy="495300"/>
          </a:xfrm>
          <a:prstGeom prst="roundRect">
            <a:avLst/>
          </a:prstGeom>
          <a:solidFill>
            <a:srgbClr val="DDEF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5" name="p06_scenarios"/>
          <p:cNvGraphicFramePr>
            <a:graphicFrameLocks noGrp="1"/>
          </p:cNvGraphicFramePr>
          <p:nvPr/>
        </p:nvGraphicFramePr>
        <p:xfrm>
          <a:off x="419100" y="2324100"/>
          <a:ext cx="6985000" cy="3492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p06_approx_node"/>
          <p:cNvSpPr txBox="1"/>
          <p:nvPr/>
        </p:nvSpPr>
        <p:spPr>
          <a:xfrm>
            <a:off x="7975600" y="2133600"/>
            <a:ext cx="889000" cy="4445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约</a:t>
            </a:r>
          </a:p>
        </p:txBody>
      </p:sp>
      <p:sp>
        <p:nvSpPr>
          <p:cNvPr id="7" name="p06_kicker_node"/>
          <p:cNvSpPr txBox="1"/>
          <p:nvPr/>
        </p:nvSpPr>
        <p:spPr>
          <a:xfrm>
            <a:off x="444500" y="241300"/>
            <a:ext cx="11214100" cy="3683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 i="0" spc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rPr>
              <a:t>2030年经济价值</a:t>
            </a:r>
          </a:p>
        </p:txBody>
      </p:sp>
      <p:sp>
        <p:nvSpPr>
          <p:cNvPr id="8" name="p06_title_node"/>
          <p:cNvSpPr txBox="1"/>
          <p:nvPr/>
        </p:nvSpPr>
        <p:spPr>
          <a:xfrm>
            <a:off x="431800" y="787400"/>
            <a:ext cx="11341100" cy="939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5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5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采用速度，决定价值兑现的规模</a:t>
            </a:r>
          </a:p>
        </p:txBody>
      </p:sp>
      <p:sp>
        <p:nvSpPr>
          <p:cNvPr id="9" name="p06_units_node"/>
          <p:cNvSpPr txBox="1"/>
          <p:nvPr/>
        </p:nvSpPr>
        <p:spPr>
          <a:xfrm>
            <a:off x="431800" y="1739900"/>
            <a:ext cx="6781800" cy="4445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年度潜在经济价值 · 亿美元</a:t>
            </a:r>
          </a:p>
        </p:txBody>
      </p:sp>
      <p:sp>
        <p:nvSpPr>
          <p:cNvPr id="10" name="p06_hero_node"/>
          <p:cNvSpPr txBox="1"/>
          <p:nvPr/>
        </p:nvSpPr>
        <p:spPr>
          <a:xfrm>
            <a:off x="7975600" y="2616200"/>
            <a:ext cx="3708400" cy="1422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800" b="1" i="0">
                <a:solidFill>
                  <a:srgbClr val="DCA22E"/>
                </a:solidFill>
                <a:latin typeface="Arial"/>
                <a:ea typeface="Arial"/>
                <a:cs typeface="Arial"/>
              </a:defRPr>
            </a:pPr>
            <a:r>
              <a:rPr sz="8800" b="1" i="0" spc="0">
                <a:solidFill>
                  <a:srgbClr val="DCA22E"/>
                </a:solidFill>
                <a:latin typeface="Arial"/>
                <a:ea typeface="Arial"/>
                <a:cs typeface="Arial"/>
              </a:rPr>
              <a:t>80%</a:t>
            </a:r>
          </a:p>
        </p:txBody>
      </p:sp>
      <p:sp>
        <p:nvSpPr>
          <p:cNvPr id="11" name="p06_label_node"/>
          <p:cNvSpPr txBox="1"/>
          <p:nvPr/>
        </p:nvSpPr>
        <p:spPr>
          <a:xfrm>
            <a:off x="7975600" y="4292600"/>
            <a:ext cx="37211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的价值来自智能体驱动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的非物理自动化</a:t>
            </a:r>
          </a:p>
        </p:txBody>
      </p:sp>
      <p:sp>
        <p:nvSpPr>
          <p:cNvPr id="12" name="p06_limit_node"/>
          <p:cNvSpPr txBox="1"/>
          <p:nvPr/>
        </p:nvSpPr>
        <p:spPr>
          <a:xfrm>
            <a:off x="685800" y="6045200"/>
            <a:ext cx="10820400" cy="355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组织层面时间价值；非GDP增量；未扣部署与运营成本</a:t>
            </a:r>
          </a:p>
        </p:txBody>
      </p:sp>
      <p:sp>
        <p:nvSpPr>
          <p:cNvPr id="13" name="p06_footer_node"/>
          <p:cNvSpPr txBox="1"/>
          <p:nvPr/>
        </p:nvSpPr>
        <p:spPr>
          <a:xfrm>
            <a:off x="431800" y="6565900"/>
            <a:ext cx="10566400" cy="203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 i="0" spc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rPr>
              <a:t>来源：麦肯锡全球研究院，2026.07 · PDF第18、19、20、21、22页</a:t>
            </a:r>
          </a:p>
        </p:txBody>
      </p:sp>
      <p:sp>
        <p:nvSpPr>
          <p:cNvPr id="14" name="p06_page_node"/>
          <p:cNvSpPr txBox="1"/>
          <p:nvPr/>
        </p:nvSpPr>
        <p:spPr>
          <a:xfrm>
            <a:off x="11201400" y="6565900"/>
            <a:ext cx="558800" cy="203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D6B78"/>
                </a:solidFill>
                <a:latin typeface="Arial"/>
                <a:ea typeface="Arial"/>
                <a:cs typeface="Arial"/>
              </a:defRPr>
            </a:pPr>
            <a:r>
              <a:rPr sz="900" b="0" i="0" spc="0">
                <a:solidFill>
                  <a:srgbClr val="5D6B78"/>
                </a:solidFill>
                <a:latin typeface="Arial"/>
                <a:ea typeface="Arial"/>
                <a:cs typeface="Arial"/>
              </a:rPr>
              <a:t>06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07_header_rule"/>
          <p:cNvSpPr/>
          <p:nvPr/>
        </p:nvSpPr>
        <p:spPr>
          <a:xfrm>
            <a:off x="444500" y="622300"/>
            <a:ext cx="673100" cy="25400"/>
          </a:xfrm>
          <a:prstGeom prst="rect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07_line"/>
          <p:cNvSpPr/>
          <p:nvPr/>
        </p:nvSpPr>
        <p:spPr>
          <a:xfrm>
            <a:off x="7073900" y="2349500"/>
            <a:ext cx="12700" cy="3657600"/>
          </a:xfrm>
          <a:prstGeom prst="rect">
            <a:avLst/>
          </a:prstGeom>
          <a:solidFill>
            <a:srgbClr val="C2DC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p07_rule"/>
          <p:cNvSpPr/>
          <p:nvPr/>
        </p:nvSpPr>
        <p:spPr>
          <a:xfrm>
            <a:off x="7569200" y="5143500"/>
            <a:ext cx="4102100" cy="25400"/>
          </a:xfrm>
          <a:prstGeom prst="rect">
            <a:avLst/>
          </a:prstGeom>
          <a:solidFill>
            <a:srgbClr val="E8AC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5" name="p07_countries"/>
          <p:cNvGraphicFramePr>
            <a:graphicFrameLocks noGrp="1"/>
          </p:cNvGraphicFramePr>
          <p:nvPr/>
        </p:nvGraphicFramePr>
        <p:xfrm>
          <a:off x="393700" y="2374900"/>
          <a:ext cx="6515100" cy="3530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p07_kicker_node"/>
          <p:cNvSpPr txBox="1"/>
          <p:nvPr/>
        </p:nvSpPr>
        <p:spPr>
          <a:xfrm>
            <a:off x="444500" y="241300"/>
            <a:ext cx="11214100" cy="3683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 i="0" spc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rPr>
              <a:t>价值的地理分布</a:t>
            </a:r>
          </a:p>
        </p:txBody>
      </p:sp>
      <p:sp>
        <p:nvSpPr>
          <p:cNvPr id="7" name="p07_title_node"/>
          <p:cNvSpPr txBox="1"/>
          <p:nvPr/>
        </p:nvSpPr>
        <p:spPr>
          <a:xfrm>
            <a:off x="431800" y="787400"/>
            <a:ext cx="11341100" cy="939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5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5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墨西哥与巴西贡献约四分之三的价值</a:t>
            </a:r>
          </a:p>
        </p:txBody>
      </p:sp>
      <p:sp>
        <p:nvSpPr>
          <p:cNvPr id="8" name="p07_units_node"/>
          <p:cNvSpPr txBox="1"/>
          <p:nvPr/>
        </p:nvSpPr>
        <p:spPr>
          <a:xfrm>
            <a:off x="444500" y="1803400"/>
            <a:ext cx="68707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2030年中位情景 · 亿美元</a:t>
            </a:r>
          </a:p>
        </p:txBody>
      </p:sp>
      <p:sp>
        <p:nvSpPr>
          <p:cNvPr id="9" name="p07_hero_node"/>
          <p:cNvSpPr txBox="1"/>
          <p:nvPr/>
        </p:nvSpPr>
        <p:spPr>
          <a:xfrm>
            <a:off x="7569200" y="2514600"/>
            <a:ext cx="4102100" cy="1574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300" b="1" i="0">
                <a:solidFill>
                  <a:srgbClr val="DCA2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300" b="1" i="0" spc="0">
                <a:solidFill>
                  <a:srgbClr val="DCA22E"/>
                </a:solidFill>
                <a:latin typeface="Hiragino Sans GB"/>
                <a:ea typeface="Hiragino Sans GB"/>
                <a:cs typeface="Hiragino Sans GB"/>
              </a:rPr>
              <a:t>约75%</a:t>
            </a:r>
          </a:p>
        </p:txBody>
      </p:sp>
      <p:sp>
        <p:nvSpPr>
          <p:cNvPr id="10" name="p07_meaning_node"/>
          <p:cNvSpPr txBox="1"/>
          <p:nvPr/>
        </p:nvSpPr>
        <p:spPr>
          <a:xfrm>
            <a:off x="7569200" y="4229100"/>
            <a:ext cx="4114800" cy="774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来自墨西哥与巴西</a:t>
            </a:r>
          </a:p>
        </p:txBody>
      </p:sp>
      <p:sp>
        <p:nvSpPr>
          <p:cNvPr id="11" name="p07_meaning2_node"/>
          <p:cNvSpPr txBox="1"/>
          <p:nvPr/>
        </p:nvSpPr>
        <p:spPr>
          <a:xfrm>
            <a:off x="7569200" y="5359400"/>
            <a:ext cx="4114800" cy="939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规模与工资结构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共同影响价值分布</a:t>
            </a:r>
          </a:p>
        </p:txBody>
      </p:sp>
      <p:sp>
        <p:nvSpPr>
          <p:cNvPr id="12" name="p07_derivation_node"/>
          <p:cNvSpPr txBox="1"/>
          <p:nvPr/>
        </p:nvSpPr>
        <p:spPr>
          <a:xfrm>
            <a:off x="444500" y="6096000"/>
            <a:ext cx="6489700" cy="330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 i="0" spc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rPr>
              <a:t>其他10国为地区总额减去所列五国的差额</a:t>
            </a:r>
          </a:p>
        </p:txBody>
      </p:sp>
      <p:sp>
        <p:nvSpPr>
          <p:cNvPr id="13" name="p07_footer_node"/>
          <p:cNvSpPr txBox="1"/>
          <p:nvPr/>
        </p:nvSpPr>
        <p:spPr>
          <a:xfrm>
            <a:off x="431800" y="6565900"/>
            <a:ext cx="10566400" cy="203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 i="0" spc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rPr>
              <a:t>来源：麦肯锡全球研究院，2026.07 · PDF第19、22、23页</a:t>
            </a:r>
          </a:p>
        </p:txBody>
      </p:sp>
      <p:sp>
        <p:nvSpPr>
          <p:cNvPr id="14" name="p07_page_node"/>
          <p:cNvSpPr txBox="1"/>
          <p:nvPr/>
        </p:nvSpPr>
        <p:spPr>
          <a:xfrm>
            <a:off x="11201400" y="6565900"/>
            <a:ext cx="558800" cy="203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D6B78"/>
                </a:solidFill>
                <a:latin typeface="Arial"/>
                <a:ea typeface="Arial"/>
                <a:cs typeface="Arial"/>
              </a:defRPr>
            </a:pPr>
            <a:r>
              <a:rPr sz="900" b="0" i="0" spc="0">
                <a:solidFill>
                  <a:srgbClr val="5D6B78"/>
                </a:solidFill>
                <a:latin typeface="Arial"/>
                <a:ea typeface="Arial"/>
                <a:cs typeface="Arial"/>
              </a:rPr>
              <a:t>07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08_header_rule"/>
          <p:cNvSpPr/>
          <p:nvPr/>
        </p:nvSpPr>
        <p:spPr>
          <a:xfrm>
            <a:off x="444500" y="622300"/>
            <a:ext cx="673100" cy="25400"/>
          </a:xfrm>
          <a:prstGeom prst="rect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08_lane1"/>
          <p:cNvSpPr/>
          <p:nvPr/>
        </p:nvSpPr>
        <p:spPr>
          <a:xfrm>
            <a:off x="381000" y="1993900"/>
            <a:ext cx="11430000" cy="1447800"/>
          </a:xfrm>
          <a:prstGeom prst="roundRect">
            <a:avLst/>
          </a:prstGeom>
          <a:solidFill>
            <a:srgbClr val="E0EF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p08_lane2"/>
          <p:cNvSpPr/>
          <p:nvPr/>
        </p:nvSpPr>
        <p:spPr>
          <a:xfrm>
            <a:off x="381000" y="3581400"/>
            <a:ext cx="11430000" cy="1358900"/>
          </a:xfrm>
          <a:prstGeom prst="roundRect">
            <a:avLst/>
          </a:prstGeom>
          <a:solidFill>
            <a:srgbClr val="E0E8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p08_lane3"/>
          <p:cNvSpPr/>
          <p:nvPr/>
        </p:nvSpPr>
        <p:spPr>
          <a:xfrm>
            <a:off x="381000" y="5067300"/>
            <a:ext cx="11430000" cy="1371600"/>
          </a:xfrm>
          <a:prstGeom prst="roundRect">
            <a:avLst/>
          </a:prstGeom>
          <a:solidFill>
            <a:srgbClr val="F4ED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08_left1"/>
          <p:cNvSpPr/>
          <p:nvPr/>
        </p:nvSpPr>
        <p:spPr>
          <a:xfrm>
            <a:off x="381000" y="1993900"/>
            <a:ext cx="4114800" cy="1447800"/>
          </a:xfrm>
          <a:prstGeom prst="rect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08_left2"/>
          <p:cNvSpPr/>
          <p:nvPr/>
        </p:nvSpPr>
        <p:spPr>
          <a:xfrm>
            <a:off x="381000" y="3581400"/>
            <a:ext cx="4114800" cy="135890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08_left3"/>
          <p:cNvSpPr/>
          <p:nvPr/>
        </p:nvSpPr>
        <p:spPr>
          <a:xfrm>
            <a:off x="381000" y="5067300"/>
            <a:ext cx="4114800" cy="1371600"/>
          </a:xfrm>
          <a:prstGeom prst="rect">
            <a:avLst/>
          </a:prstGeom>
          <a:solidFill>
            <a:srgbClr val="D9A4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08_icon1"/>
          <p:cNvSpPr/>
          <p:nvPr/>
        </p:nvSpPr>
        <p:spPr>
          <a:xfrm>
            <a:off x="558800" y="2273300"/>
            <a:ext cx="863600" cy="863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08_icon2"/>
          <p:cNvSpPr/>
          <p:nvPr/>
        </p:nvSpPr>
        <p:spPr>
          <a:xfrm>
            <a:off x="558800" y="3733800"/>
            <a:ext cx="863600" cy="863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08_icon3"/>
          <p:cNvSpPr/>
          <p:nvPr/>
        </p:nvSpPr>
        <p:spPr>
          <a:xfrm>
            <a:off x="558800" y="5219700"/>
            <a:ext cx="863600" cy="863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08_kicker_node"/>
          <p:cNvSpPr txBox="1"/>
          <p:nvPr/>
        </p:nvSpPr>
        <p:spPr>
          <a:xfrm>
            <a:off x="444500" y="241300"/>
            <a:ext cx="11214100" cy="3683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 i="0" spc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rPr>
              <a:t>国家路径</a:t>
            </a:r>
          </a:p>
        </p:txBody>
      </p:sp>
      <p:sp>
        <p:nvSpPr>
          <p:cNvPr id="13" name="p08_title_node"/>
          <p:cNvSpPr txBox="1"/>
          <p:nvPr/>
        </p:nvSpPr>
        <p:spPr>
          <a:xfrm>
            <a:off x="431800" y="787400"/>
            <a:ext cx="11341100" cy="939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5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5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拉美将沿三条不同路径推进自动化</a:t>
            </a:r>
          </a:p>
        </p:txBody>
      </p:sp>
      <p:sp>
        <p:nvSpPr>
          <p:cNvPr id="14" name="p08_h1_node"/>
          <p:cNvSpPr txBox="1"/>
          <p:nvPr/>
        </p:nvSpPr>
        <p:spPr>
          <a:xfrm>
            <a:off x="1549400" y="2413000"/>
            <a:ext cx="2692400" cy="6985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 i="0" spc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智能体优先</a:t>
            </a:r>
          </a:p>
        </p:txBody>
      </p:sp>
      <p:sp>
        <p:nvSpPr>
          <p:cNvPr id="15" name="p08_c1_node"/>
          <p:cNvSpPr txBox="1"/>
          <p:nvPr/>
        </p:nvSpPr>
        <p:spPr>
          <a:xfrm>
            <a:off x="4851400" y="2209800"/>
            <a:ext cx="6527800" cy="5461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阿根廷、智利、哥斯达黎加、乌拉圭</a:t>
            </a:r>
          </a:p>
        </p:txBody>
      </p:sp>
      <p:sp>
        <p:nvSpPr>
          <p:cNvPr id="16" name="p08_d1_node"/>
          <p:cNvSpPr txBox="1"/>
          <p:nvPr/>
        </p:nvSpPr>
        <p:spPr>
          <a:xfrm>
            <a:off x="4851400" y="2781300"/>
            <a:ext cx="6553200" cy="609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可自动化工时中，非物理工作超过70%</a:t>
            </a:r>
          </a:p>
        </p:txBody>
      </p:sp>
      <p:sp>
        <p:nvSpPr>
          <p:cNvPr id="17" name="p08_h2_node"/>
          <p:cNvSpPr txBox="1"/>
          <p:nvPr/>
        </p:nvSpPr>
        <p:spPr>
          <a:xfrm>
            <a:off x="1549400" y="3848100"/>
            <a:ext cx="2705100" cy="711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1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00" b="1" i="0" spc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双轨推进</a:t>
            </a:r>
          </a:p>
        </p:txBody>
      </p:sp>
      <p:sp>
        <p:nvSpPr>
          <p:cNvPr id="18" name="p08_c2_node"/>
          <p:cNvSpPr txBox="1"/>
          <p:nvPr/>
        </p:nvSpPr>
        <p:spPr>
          <a:xfrm>
            <a:off x="4851400" y="3619500"/>
            <a:ext cx="6578600" cy="7493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巴西、哥伦比亚、多米尼加、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墨西哥、巴拿马</a:t>
            </a:r>
          </a:p>
        </p:txBody>
      </p:sp>
      <p:sp>
        <p:nvSpPr>
          <p:cNvPr id="19" name="p08_d2_node"/>
          <p:cNvSpPr txBox="1"/>
          <p:nvPr/>
        </p:nvSpPr>
        <p:spPr>
          <a:xfrm>
            <a:off x="4851400" y="4368800"/>
            <a:ext cx="6553200" cy="431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物理与非物理工作的组合更均衡</a:t>
            </a:r>
          </a:p>
        </p:txBody>
      </p:sp>
      <p:sp>
        <p:nvSpPr>
          <p:cNvPr id="20" name="p08_h3_node"/>
          <p:cNvSpPr txBox="1"/>
          <p:nvPr/>
        </p:nvSpPr>
        <p:spPr>
          <a:xfrm>
            <a:off x="1549400" y="5219700"/>
            <a:ext cx="2705100" cy="8763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 spc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物理自动化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 spc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更关键</a:t>
            </a:r>
          </a:p>
        </p:txBody>
      </p:sp>
      <p:sp>
        <p:nvSpPr>
          <p:cNvPr id="21" name="p08_c3_node"/>
          <p:cNvSpPr txBox="1"/>
          <p:nvPr/>
        </p:nvSpPr>
        <p:spPr>
          <a:xfrm>
            <a:off x="4851400" y="5080000"/>
            <a:ext cx="6578600" cy="7493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玻利维亚、厄瓜多尔、萨尔瓦多、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危地马拉、洪都拉斯、秘鲁</a:t>
            </a:r>
          </a:p>
        </p:txBody>
      </p:sp>
      <p:sp>
        <p:nvSpPr>
          <p:cNvPr id="22" name="p08_d3_node"/>
          <p:cNvSpPr txBox="1"/>
          <p:nvPr/>
        </p:nvSpPr>
        <p:spPr>
          <a:xfrm>
            <a:off x="4851400" y="5867400"/>
            <a:ext cx="6553200" cy="4445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可自动化工时中，约40%为物理工作</a:t>
            </a:r>
          </a:p>
        </p:txBody>
      </p:sp>
      <p:sp>
        <p:nvSpPr>
          <p:cNvPr id="23" name="p08_i1_node"/>
          <p:cNvSpPr txBox="1"/>
          <p:nvPr/>
        </p:nvSpPr>
        <p:spPr>
          <a:xfrm>
            <a:off x="558800" y="2374900"/>
            <a:ext cx="863600" cy="609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68C87"/>
                </a:solidFill>
                <a:latin typeface="Arial"/>
                <a:ea typeface="Arial"/>
                <a:cs typeface="Arial"/>
              </a:defRPr>
            </a:pPr>
            <a:r>
              <a:rPr sz="2900" b="1" i="0" spc="0">
                <a:solidFill>
                  <a:srgbClr val="168C8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4" name="p08_i2_node"/>
          <p:cNvSpPr txBox="1"/>
          <p:nvPr/>
        </p:nvSpPr>
        <p:spPr>
          <a:xfrm>
            <a:off x="558800" y="3835400"/>
            <a:ext cx="863600" cy="609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900" b="1" i="0" spc="0">
                <a:solidFill>
                  <a:srgbClr val="17324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5" name="p08_i3_node"/>
          <p:cNvSpPr txBox="1"/>
          <p:nvPr/>
        </p:nvSpPr>
        <p:spPr>
          <a:xfrm>
            <a:off x="558800" y="5321300"/>
            <a:ext cx="863600" cy="609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C98F24"/>
                </a:solidFill>
                <a:latin typeface="Arial"/>
                <a:ea typeface="Arial"/>
                <a:cs typeface="Arial"/>
              </a:defRPr>
            </a:pPr>
            <a:r>
              <a:rPr sz="2900" b="1" i="0" spc="0">
                <a:solidFill>
                  <a:srgbClr val="C98F2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6" name="p08_footer_node"/>
          <p:cNvSpPr txBox="1"/>
          <p:nvPr/>
        </p:nvSpPr>
        <p:spPr>
          <a:xfrm>
            <a:off x="431800" y="6565900"/>
            <a:ext cx="10566400" cy="203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 i="0" spc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rPr>
              <a:t>来源：麦肯锡全球研究院，2026.07 · PDF第11、17页</a:t>
            </a:r>
          </a:p>
        </p:txBody>
      </p:sp>
      <p:sp>
        <p:nvSpPr>
          <p:cNvPr id="27" name="p08_page_node"/>
          <p:cNvSpPr txBox="1"/>
          <p:nvPr/>
        </p:nvSpPr>
        <p:spPr>
          <a:xfrm>
            <a:off x="11201400" y="6565900"/>
            <a:ext cx="558800" cy="203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D6B78"/>
                </a:solidFill>
                <a:latin typeface="Arial"/>
                <a:ea typeface="Arial"/>
                <a:cs typeface="Arial"/>
              </a:defRPr>
            </a:pPr>
            <a:r>
              <a:rPr sz="900" b="0" i="0" spc="0">
                <a:solidFill>
                  <a:srgbClr val="5D6B78"/>
                </a:solidFill>
                <a:latin typeface="Arial"/>
                <a:ea typeface="Arial"/>
                <a:cs typeface="Arial"/>
              </a:rPr>
              <a:t>08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09_header_rule"/>
          <p:cNvSpPr/>
          <p:nvPr/>
        </p:nvSpPr>
        <p:spPr>
          <a:xfrm>
            <a:off x="444500" y="622300"/>
            <a:ext cx="673100" cy="25400"/>
          </a:xfrm>
          <a:prstGeom prst="rect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09_divider"/>
          <p:cNvSpPr/>
          <p:nvPr/>
        </p:nvSpPr>
        <p:spPr>
          <a:xfrm>
            <a:off x="8305800" y="1701800"/>
            <a:ext cx="12700" cy="4368800"/>
          </a:xfrm>
          <a:prstGeom prst="rect">
            <a:avLst/>
          </a:prstGeom>
          <a:solidFill>
            <a:srgbClr val="C2DC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p09_disc1"/>
          <p:cNvSpPr/>
          <p:nvPr/>
        </p:nvSpPr>
        <p:spPr>
          <a:xfrm>
            <a:off x="8623300" y="1879600"/>
            <a:ext cx="1574800" cy="1574800"/>
          </a:xfrm>
          <a:prstGeom prst="ellipse">
            <a:avLst/>
          </a:prstGeom>
          <a:solidFill>
            <a:srgbClr val="1732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p09_disc2"/>
          <p:cNvSpPr/>
          <p:nvPr/>
        </p:nvSpPr>
        <p:spPr>
          <a:xfrm>
            <a:off x="8623300" y="3429000"/>
            <a:ext cx="1574800" cy="1574800"/>
          </a:xfrm>
          <a:prstGeom prst="ellipse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09_disc3"/>
          <p:cNvSpPr/>
          <p:nvPr/>
        </p:nvSpPr>
        <p:spPr>
          <a:xfrm>
            <a:off x="8623300" y="4991100"/>
            <a:ext cx="1574800" cy="1574800"/>
          </a:xfrm>
          <a:prstGeom prst="ellipse">
            <a:avLst/>
          </a:prstGeom>
          <a:solidFill>
            <a:srgbClr val="E8AC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p09_jobs"/>
          <p:cNvGraphicFramePr>
            <a:graphicFrameLocks noGrp="1"/>
          </p:cNvGraphicFramePr>
          <p:nvPr/>
        </p:nvGraphicFramePr>
        <p:xfrm>
          <a:off x="419100" y="1727200"/>
          <a:ext cx="7670800" cy="425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8000"/>
                <a:gridCol w="1409700"/>
                <a:gridCol w="3213100"/>
              </a:tblGrid>
              <a:tr h="531812"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 i="0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1700" b="1" i="0" spc="0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岗位类型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 i="0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1700" b="1" i="0" spc="0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就业占比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1" i="0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1700" b="1" i="0" spc="0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典型工作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</a:tr>
              <a:tr h="531812"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17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以人为主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17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36%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17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护理、一般管理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</a:tr>
              <a:tr h="531812"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17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人—智能体协作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17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19%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17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零售、教学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</a:tr>
              <a:tr h="531812"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17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人—机器人协作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17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&lt;1%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17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部分建筑安装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</a:tr>
              <a:tr h="531812"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17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人—智能体—机器人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17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9%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17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接待、医疗助理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</a:tr>
              <a:tr h="531812"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17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以智能体为主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17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19%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17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记账、行政支持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</a:tr>
              <a:tr h="531812"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17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以机器人为主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17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14%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17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烹饪、设备操作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</a:tr>
              <a:tr h="531816"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17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智能体—机器人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17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4%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7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17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烘焙、运输安检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</a:tr>
            </a:tbl>
          </a:graphicData>
        </a:graphic>
      </p:graphicFrame>
      <p:sp>
        <p:nvSpPr>
          <p:cNvPr id="8" name="p09_kicker_node"/>
          <p:cNvSpPr txBox="1"/>
          <p:nvPr/>
        </p:nvSpPr>
        <p:spPr>
          <a:xfrm>
            <a:off x="444500" y="241300"/>
            <a:ext cx="11214100" cy="3683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 i="0" spc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rPr>
              <a:t>七类人机协作岗位</a:t>
            </a:r>
          </a:p>
        </p:txBody>
      </p:sp>
      <p:sp>
        <p:nvSpPr>
          <p:cNvPr id="9" name="p09_title_node"/>
          <p:cNvSpPr txBox="1"/>
          <p:nvPr/>
        </p:nvSpPr>
        <p:spPr>
          <a:xfrm>
            <a:off x="431800" y="787400"/>
            <a:ext cx="11341100" cy="939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岗位重组的关键，是重新分配具体任务</a:t>
            </a:r>
          </a:p>
        </p:txBody>
      </p:sp>
      <p:sp>
        <p:nvSpPr>
          <p:cNvPr id="10" name="p09_k1_node"/>
          <p:cNvSpPr txBox="1"/>
          <p:nvPr/>
        </p:nvSpPr>
        <p:spPr>
          <a:xfrm>
            <a:off x="8699500" y="2057400"/>
            <a:ext cx="1422400" cy="8509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700" b="1" i="0" spc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36%</a:t>
            </a:r>
          </a:p>
        </p:txBody>
      </p:sp>
      <p:sp>
        <p:nvSpPr>
          <p:cNvPr id="11" name="p09_d1_node"/>
          <p:cNvSpPr txBox="1"/>
          <p:nvPr/>
        </p:nvSpPr>
        <p:spPr>
          <a:xfrm>
            <a:off x="10414000" y="2235200"/>
            <a:ext cx="1371600" cy="5715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人主导</a:t>
            </a:r>
          </a:p>
        </p:txBody>
      </p:sp>
      <p:sp>
        <p:nvSpPr>
          <p:cNvPr id="12" name="p09_k2_node"/>
          <p:cNvSpPr txBox="1"/>
          <p:nvPr/>
        </p:nvSpPr>
        <p:spPr>
          <a:xfrm>
            <a:off x="8699500" y="3606800"/>
            <a:ext cx="1422400" cy="8509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700" b="1" i="0" spc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28%</a:t>
            </a:r>
          </a:p>
        </p:txBody>
      </p:sp>
      <p:sp>
        <p:nvSpPr>
          <p:cNvPr id="13" name="p09_d2_node"/>
          <p:cNvSpPr txBox="1"/>
          <p:nvPr/>
        </p:nvSpPr>
        <p:spPr>
          <a:xfrm>
            <a:off x="10274300" y="3746500"/>
            <a:ext cx="1587500" cy="609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混合协作</a:t>
            </a:r>
          </a:p>
        </p:txBody>
      </p:sp>
      <p:sp>
        <p:nvSpPr>
          <p:cNvPr id="14" name="p09_k3_node"/>
          <p:cNvSpPr txBox="1"/>
          <p:nvPr/>
        </p:nvSpPr>
        <p:spPr>
          <a:xfrm>
            <a:off x="8699500" y="5156200"/>
            <a:ext cx="1422400" cy="8509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700" b="1" i="0" spc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37%</a:t>
            </a:r>
          </a:p>
        </p:txBody>
      </p:sp>
      <p:sp>
        <p:nvSpPr>
          <p:cNvPr id="15" name="p09_d3_node"/>
          <p:cNvSpPr txBox="1"/>
          <p:nvPr/>
        </p:nvSpPr>
        <p:spPr>
          <a:xfrm>
            <a:off x="10350500" y="5321300"/>
            <a:ext cx="1447800" cy="5969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AI主导</a:t>
            </a:r>
          </a:p>
        </p:txBody>
      </p:sp>
      <p:sp>
        <p:nvSpPr>
          <p:cNvPr id="16" name="p09_limit_node"/>
          <p:cNvSpPr txBox="1"/>
          <p:nvPr/>
        </p:nvSpPr>
        <p:spPr>
          <a:xfrm>
            <a:off x="444500" y="6210300"/>
            <a:ext cx="10566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0" i="0" spc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rPr>
              <a:t>占当前就业人数；四舍五入后合计可能不为100%</a:t>
            </a:r>
          </a:p>
        </p:txBody>
      </p:sp>
      <p:sp>
        <p:nvSpPr>
          <p:cNvPr id="17" name="p09_footer_node"/>
          <p:cNvSpPr txBox="1"/>
          <p:nvPr/>
        </p:nvSpPr>
        <p:spPr>
          <a:xfrm>
            <a:off x="431800" y="6565900"/>
            <a:ext cx="10566400" cy="203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 i="0" spc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rPr>
              <a:t>来源：麦肯锡全球研究院，2026.07 · PDF第13、14、15、16、17页</a:t>
            </a:r>
          </a:p>
        </p:txBody>
      </p:sp>
      <p:sp>
        <p:nvSpPr>
          <p:cNvPr id="18" name="p09_page_node"/>
          <p:cNvSpPr txBox="1"/>
          <p:nvPr/>
        </p:nvSpPr>
        <p:spPr>
          <a:xfrm>
            <a:off x="11201400" y="6565900"/>
            <a:ext cx="558800" cy="203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D6B78"/>
                </a:solidFill>
                <a:latin typeface="Arial"/>
                <a:ea typeface="Arial"/>
                <a:cs typeface="Arial"/>
              </a:defRPr>
            </a:pPr>
            <a:r>
              <a:rPr sz="900" b="0" i="0" spc="0">
                <a:solidFill>
                  <a:srgbClr val="5D6B78"/>
                </a:solidFill>
                <a:latin typeface="Arial"/>
                <a:ea typeface="Arial"/>
                <a:cs typeface="Arial"/>
              </a:rPr>
              <a:t>09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10_header_rule"/>
          <p:cNvSpPr/>
          <p:nvPr/>
        </p:nvSpPr>
        <p:spPr>
          <a:xfrm>
            <a:off x="444500" y="622300"/>
            <a:ext cx="673100" cy="25400"/>
          </a:xfrm>
          <a:prstGeom prst="rect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10_bar1"/>
          <p:cNvSpPr/>
          <p:nvPr/>
        </p:nvSpPr>
        <p:spPr>
          <a:xfrm>
            <a:off x="2324100" y="2590800"/>
            <a:ext cx="4660900" cy="127000"/>
          </a:xfrm>
          <a:prstGeom prst="roundRect">
            <a:avLst/>
          </a:prstGeom>
          <a:solidFill>
            <a:srgbClr val="DDEF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p10_bar1value"/>
          <p:cNvSpPr/>
          <p:nvPr/>
        </p:nvSpPr>
        <p:spPr>
          <a:xfrm>
            <a:off x="2324100" y="2590800"/>
            <a:ext cx="3073400" cy="127000"/>
          </a:xfrm>
          <a:prstGeom prst="roundRect">
            <a:avLst/>
          </a:prstGeom>
          <a:solidFill>
            <a:srgbClr val="1732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p10_bar2"/>
          <p:cNvSpPr/>
          <p:nvPr/>
        </p:nvSpPr>
        <p:spPr>
          <a:xfrm>
            <a:off x="2324100" y="4064000"/>
            <a:ext cx="4660900" cy="127000"/>
          </a:xfrm>
          <a:prstGeom prst="roundRect">
            <a:avLst/>
          </a:prstGeom>
          <a:solidFill>
            <a:srgbClr val="DDEF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10_bar2value"/>
          <p:cNvSpPr/>
          <p:nvPr/>
        </p:nvSpPr>
        <p:spPr>
          <a:xfrm>
            <a:off x="2324100" y="4064000"/>
            <a:ext cx="977900" cy="127000"/>
          </a:xfrm>
          <a:prstGeom prst="roundRect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10_bar3"/>
          <p:cNvSpPr/>
          <p:nvPr/>
        </p:nvSpPr>
        <p:spPr>
          <a:xfrm>
            <a:off x="2324100" y="5499100"/>
            <a:ext cx="4660900" cy="127000"/>
          </a:xfrm>
          <a:prstGeom prst="roundRect">
            <a:avLst/>
          </a:prstGeom>
          <a:solidFill>
            <a:srgbClr val="DDEF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10_bar3value"/>
          <p:cNvSpPr/>
          <p:nvPr/>
        </p:nvSpPr>
        <p:spPr>
          <a:xfrm>
            <a:off x="2324100" y="5499100"/>
            <a:ext cx="609600" cy="127000"/>
          </a:xfrm>
          <a:prstGeom prst="roundRect">
            <a:avLst/>
          </a:prstGeom>
          <a:solidFill>
            <a:srgbClr val="E8AC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10_band"/>
          <p:cNvSpPr/>
          <p:nvPr/>
        </p:nvSpPr>
        <p:spPr>
          <a:xfrm>
            <a:off x="431800" y="5778500"/>
            <a:ext cx="11341100" cy="825500"/>
          </a:xfrm>
          <a:prstGeom prst="roundRect">
            <a:avLst/>
          </a:prstGeom>
          <a:solidFill>
            <a:srgbClr val="DDEF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0" name="p10_skills"/>
          <p:cNvGraphicFramePr>
            <a:graphicFrameLocks noGrp="1"/>
          </p:cNvGraphicFramePr>
          <p:nvPr/>
        </p:nvGraphicFramePr>
        <p:xfrm>
          <a:off x="7391400" y="1498600"/>
          <a:ext cx="4394200" cy="39497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p10_kicker_node"/>
          <p:cNvSpPr txBox="1"/>
          <p:nvPr/>
        </p:nvSpPr>
        <p:spPr>
          <a:xfrm>
            <a:off x="444500" y="241300"/>
            <a:ext cx="11214100" cy="3683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 i="0" spc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rPr>
              <a:t>技能如何变化</a:t>
            </a:r>
          </a:p>
        </p:txBody>
      </p:sp>
      <p:sp>
        <p:nvSpPr>
          <p:cNvPr id="12" name="p10_title_node"/>
          <p:cNvSpPr txBox="1"/>
          <p:nvPr/>
        </p:nvSpPr>
        <p:spPr>
          <a:xfrm>
            <a:off x="431800" y="787400"/>
            <a:ext cx="11341100" cy="939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66%的技能，将在人与AI之间共享应用</a:t>
            </a:r>
          </a:p>
        </p:txBody>
      </p:sp>
      <p:sp>
        <p:nvSpPr>
          <p:cNvPr id="13" name="p10_v1_node"/>
          <p:cNvSpPr txBox="1"/>
          <p:nvPr/>
        </p:nvSpPr>
        <p:spPr>
          <a:xfrm>
            <a:off x="558800" y="1828800"/>
            <a:ext cx="1663700" cy="939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6000" b="1" i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6000" b="1" i="0" spc="0">
                <a:solidFill>
                  <a:srgbClr val="17324D"/>
                </a:solidFill>
                <a:latin typeface="Arial"/>
                <a:ea typeface="Arial"/>
                <a:cs typeface="Arial"/>
              </a:rPr>
              <a:t>66%</a:t>
            </a:r>
          </a:p>
        </p:txBody>
      </p:sp>
      <p:sp>
        <p:nvSpPr>
          <p:cNvPr id="14" name="p10_h1_node"/>
          <p:cNvSpPr txBox="1"/>
          <p:nvPr/>
        </p:nvSpPr>
        <p:spPr>
          <a:xfrm>
            <a:off x="2324100" y="1968500"/>
            <a:ext cx="43815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人机共享技能</a:t>
            </a:r>
          </a:p>
        </p:txBody>
      </p:sp>
      <p:sp>
        <p:nvSpPr>
          <p:cNvPr id="15" name="p10_v2_node"/>
          <p:cNvSpPr txBox="1"/>
          <p:nvPr/>
        </p:nvSpPr>
        <p:spPr>
          <a:xfrm>
            <a:off x="558800" y="3251200"/>
            <a:ext cx="1663700" cy="939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6000" b="1" i="0">
                <a:solidFill>
                  <a:srgbClr val="168C87"/>
                </a:solidFill>
                <a:latin typeface="Arial"/>
                <a:ea typeface="Arial"/>
                <a:cs typeface="Arial"/>
              </a:defRPr>
            </a:pPr>
            <a:r>
              <a:rPr sz="6000" b="1" i="0" spc="0">
                <a:solidFill>
                  <a:srgbClr val="168C87"/>
                </a:solidFill>
                <a:latin typeface="Arial"/>
                <a:ea typeface="Arial"/>
                <a:cs typeface="Arial"/>
              </a:rPr>
              <a:t>21%</a:t>
            </a:r>
          </a:p>
        </p:txBody>
      </p:sp>
      <p:sp>
        <p:nvSpPr>
          <p:cNvPr id="16" name="p10_h2_node"/>
          <p:cNvSpPr txBox="1"/>
          <p:nvPr/>
        </p:nvSpPr>
        <p:spPr>
          <a:xfrm>
            <a:off x="2324100" y="3416300"/>
            <a:ext cx="4381500" cy="5969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主要用于可自动化活动</a:t>
            </a:r>
          </a:p>
        </p:txBody>
      </p:sp>
      <p:sp>
        <p:nvSpPr>
          <p:cNvPr id="17" name="p10_v3_node"/>
          <p:cNvSpPr txBox="1"/>
          <p:nvPr/>
        </p:nvSpPr>
        <p:spPr>
          <a:xfrm>
            <a:off x="558800" y="4686300"/>
            <a:ext cx="1663700" cy="939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6000" b="1" i="0">
                <a:solidFill>
                  <a:srgbClr val="DCA22E"/>
                </a:solidFill>
                <a:latin typeface="Arial"/>
                <a:ea typeface="Arial"/>
                <a:cs typeface="Arial"/>
              </a:defRPr>
            </a:pPr>
            <a:r>
              <a:rPr sz="6000" b="1" i="0" spc="0">
                <a:solidFill>
                  <a:srgbClr val="DCA22E"/>
                </a:solidFill>
                <a:latin typeface="Arial"/>
                <a:ea typeface="Arial"/>
                <a:cs typeface="Arial"/>
              </a:rPr>
              <a:t>13%</a:t>
            </a:r>
          </a:p>
        </p:txBody>
      </p:sp>
      <p:sp>
        <p:nvSpPr>
          <p:cNvPr id="18" name="p10_h3_node"/>
          <p:cNvSpPr txBox="1"/>
          <p:nvPr/>
        </p:nvSpPr>
        <p:spPr>
          <a:xfrm>
            <a:off x="2324100" y="4851400"/>
            <a:ext cx="4381500" cy="5969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主要用于不可自动化活动</a:t>
            </a:r>
          </a:p>
        </p:txBody>
      </p:sp>
      <p:sp>
        <p:nvSpPr>
          <p:cNvPr id="19" name="p10_center_node"/>
          <p:cNvSpPr txBox="1"/>
          <p:nvPr/>
        </p:nvSpPr>
        <p:spPr>
          <a:xfrm>
            <a:off x="8763000" y="3200400"/>
            <a:ext cx="1447800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技能</a:t>
            </a:r>
          </a:p>
        </p:txBody>
      </p:sp>
      <p:sp>
        <p:nvSpPr>
          <p:cNvPr id="20" name="p10_h4_node"/>
          <p:cNvSpPr txBox="1"/>
          <p:nvPr/>
        </p:nvSpPr>
        <p:spPr>
          <a:xfrm>
            <a:off x="876300" y="5880100"/>
            <a:ext cx="10147300" cy="508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问题解决、团队协作、沟通</a:t>
            </a:r>
          </a:p>
        </p:txBody>
      </p:sp>
      <p:sp>
        <p:nvSpPr>
          <p:cNvPr id="21" name="p10_d4_node"/>
          <p:cNvSpPr txBox="1"/>
          <p:nvPr/>
        </p:nvSpPr>
        <p:spPr>
          <a:xfrm>
            <a:off x="876300" y="6286500"/>
            <a:ext cx="102489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从直接执行，转向指导、判断与改进AI输出</a:t>
            </a:r>
          </a:p>
        </p:txBody>
      </p:sp>
      <p:sp>
        <p:nvSpPr>
          <p:cNvPr id="22" name="p10_footer_node"/>
          <p:cNvSpPr txBox="1"/>
          <p:nvPr/>
        </p:nvSpPr>
        <p:spPr>
          <a:xfrm>
            <a:off x="431800" y="6642100"/>
            <a:ext cx="1056640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00" b="0" i="0" spc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rPr>
              <a:t>来源：麦肯锡全球研究院，2026.07 · PDF第24、25、26页</a:t>
            </a:r>
          </a:p>
        </p:txBody>
      </p:sp>
      <p:sp>
        <p:nvSpPr>
          <p:cNvPr id="23" name="p10_page_node"/>
          <p:cNvSpPr txBox="1"/>
          <p:nvPr/>
        </p:nvSpPr>
        <p:spPr>
          <a:xfrm>
            <a:off x="11201400" y="6642100"/>
            <a:ext cx="55880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5D6B78"/>
                </a:solidFill>
                <a:latin typeface="Arial"/>
                <a:ea typeface="Arial"/>
                <a:cs typeface="Arial"/>
              </a:defRPr>
            </a:pPr>
            <a:r>
              <a:rPr sz="800" b="0" i="0" spc="0">
                <a:solidFill>
                  <a:srgbClr val="5D6B78"/>
                </a:solidFill>
                <a:latin typeface="Arial"/>
                <a:ea typeface="Arial"/>
                <a:cs typeface="Arial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11_header_rule"/>
          <p:cNvSpPr/>
          <p:nvPr/>
        </p:nvSpPr>
        <p:spPr>
          <a:xfrm>
            <a:off x="444500" y="622300"/>
            <a:ext cx="673100" cy="25400"/>
          </a:xfrm>
          <a:prstGeom prst="rect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11_line1"/>
          <p:cNvSpPr/>
          <p:nvPr/>
        </p:nvSpPr>
        <p:spPr>
          <a:xfrm>
            <a:off x="4229100" y="2222500"/>
            <a:ext cx="12700" cy="3695700"/>
          </a:xfrm>
          <a:prstGeom prst="rect">
            <a:avLst/>
          </a:prstGeom>
          <a:solidFill>
            <a:srgbClr val="D7E0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p11_line2"/>
          <p:cNvSpPr/>
          <p:nvPr/>
        </p:nvSpPr>
        <p:spPr>
          <a:xfrm>
            <a:off x="7924800" y="2222500"/>
            <a:ext cx="12700" cy="3695700"/>
          </a:xfrm>
          <a:prstGeom prst="rect">
            <a:avLst/>
          </a:prstGeom>
          <a:solidFill>
            <a:srgbClr val="D7E0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5" name="p11_skills-growth"/>
          <p:cNvGraphicFramePr>
            <a:graphicFrameLocks noGrp="1"/>
          </p:cNvGraphicFramePr>
          <p:nvPr/>
        </p:nvGraphicFramePr>
        <p:xfrm>
          <a:off x="482600" y="2882900"/>
          <a:ext cx="11150600" cy="309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p11_kicker_node"/>
          <p:cNvSpPr txBox="1"/>
          <p:nvPr/>
        </p:nvSpPr>
        <p:spPr>
          <a:xfrm>
            <a:off x="444500" y="241300"/>
            <a:ext cx="11214100" cy="3683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 i="0" spc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rPr>
              <a:t>2023—2025年技能需求</a:t>
            </a:r>
          </a:p>
        </p:txBody>
      </p:sp>
      <p:sp>
        <p:nvSpPr>
          <p:cNvPr id="7" name="p11_title_node"/>
          <p:cNvSpPr txBox="1"/>
          <p:nvPr/>
        </p:nvSpPr>
        <p:spPr>
          <a:xfrm>
            <a:off x="431800" y="787400"/>
            <a:ext cx="11341100" cy="939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5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5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AI应用素养需求，扩张快于技术专长</a:t>
            </a:r>
          </a:p>
        </p:txBody>
      </p:sp>
      <p:sp>
        <p:nvSpPr>
          <p:cNvPr id="8" name="p11_units_node"/>
          <p:cNvSpPr txBox="1"/>
          <p:nvPr/>
        </p:nvSpPr>
        <p:spPr>
          <a:xfrm>
            <a:off x="444500" y="1651000"/>
            <a:ext cx="9791700" cy="406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相关职业中的就业人数 · 万人</a:t>
            </a:r>
          </a:p>
        </p:txBody>
      </p:sp>
      <p:sp>
        <p:nvSpPr>
          <p:cNvPr id="9" name="p11_growth1_node"/>
          <p:cNvSpPr txBox="1"/>
          <p:nvPr/>
        </p:nvSpPr>
        <p:spPr>
          <a:xfrm>
            <a:off x="1181100" y="2184400"/>
            <a:ext cx="2895600" cy="6731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000" b="1" i="0">
                <a:solidFill>
                  <a:srgbClr val="C98F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00" b="1" i="0" spc="0">
                <a:solidFill>
                  <a:srgbClr val="C98F24"/>
                </a:solidFill>
                <a:latin typeface="Hiragino Sans GB"/>
                <a:ea typeface="Hiragino Sans GB"/>
                <a:cs typeface="Hiragino Sans GB"/>
              </a:rPr>
              <a:t>10.9倍</a:t>
            </a:r>
          </a:p>
        </p:txBody>
      </p:sp>
      <p:sp>
        <p:nvSpPr>
          <p:cNvPr id="10" name="p11_growth2_node"/>
          <p:cNvSpPr txBox="1"/>
          <p:nvPr/>
        </p:nvSpPr>
        <p:spPr>
          <a:xfrm>
            <a:off x="4724400" y="2184400"/>
            <a:ext cx="2768600" cy="6731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000" b="1" i="0">
                <a:solidFill>
                  <a:srgbClr val="C98F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00" b="1" i="0" spc="0">
                <a:solidFill>
                  <a:srgbClr val="C98F24"/>
                </a:solidFill>
                <a:latin typeface="Hiragino Sans GB"/>
                <a:ea typeface="Hiragino Sans GB"/>
                <a:cs typeface="Hiragino Sans GB"/>
              </a:rPr>
              <a:t>3.0倍</a:t>
            </a:r>
          </a:p>
        </p:txBody>
      </p:sp>
      <p:sp>
        <p:nvSpPr>
          <p:cNvPr id="11" name="p11_growth3_node"/>
          <p:cNvSpPr txBox="1"/>
          <p:nvPr/>
        </p:nvSpPr>
        <p:spPr>
          <a:xfrm>
            <a:off x="8242300" y="2184400"/>
            <a:ext cx="2908300" cy="6731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000" b="1" i="0">
                <a:solidFill>
                  <a:srgbClr val="C98F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00" b="1" i="0" spc="0">
                <a:solidFill>
                  <a:srgbClr val="C98F24"/>
                </a:solidFill>
                <a:latin typeface="Hiragino Sans GB"/>
                <a:ea typeface="Hiragino Sans GB"/>
                <a:cs typeface="Hiragino Sans GB"/>
              </a:rPr>
              <a:t>6.8倍</a:t>
            </a:r>
          </a:p>
        </p:txBody>
      </p:sp>
      <p:sp>
        <p:nvSpPr>
          <p:cNvPr id="12" name="p11_limit_node"/>
          <p:cNvSpPr txBox="1"/>
          <p:nvPr/>
        </p:nvSpPr>
        <p:spPr>
          <a:xfrm>
            <a:off x="444500" y="6159500"/>
            <a:ext cx="11074400" cy="3175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00" b="0" i="0" spc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rPr>
              <a:t>类别存在重叠；倍数沿用报告，人数为四舍五入值</a:t>
            </a:r>
          </a:p>
        </p:txBody>
      </p:sp>
      <p:sp>
        <p:nvSpPr>
          <p:cNvPr id="13" name="p11_footer_node"/>
          <p:cNvSpPr txBox="1"/>
          <p:nvPr/>
        </p:nvSpPr>
        <p:spPr>
          <a:xfrm>
            <a:off x="431800" y="6565900"/>
            <a:ext cx="10566400" cy="203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 i="0" spc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rPr>
              <a:t>来源：麦肯锡全球研究院，2026.07 · PDF第30、31页</a:t>
            </a:r>
          </a:p>
        </p:txBody>
      </p:sp>
      <p:sp>
        <p:nvSpPr>
          <p:cNvPr id="14" name="p11_page_node"/>
          <p:cNvSpPr txBox="1"/>
          <p:nvPr/>
        </p:nvSpPr>
        <p:spPr>
          <a:xfrm>
            <a:off x="11201400" y="6565900"/>
            <a:ext cx="558800" cy="203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D6B78"/>
                </a:solidFill>
                <a:latin typeface="Arial"/>
                <a:ea typeface="Arial"/>
                <a:cs typeface="Arial"/>
              </a:defRPr>
            </a:pPr>
            <a:r>
              <a:rPr sz="900" b="0" i="0" spc="0">
                <a:solidFill>
                  <a:srgbClr val="5D6B78"/>
                </a:solidFill>
                <a:latin typeface="Arial"/>
                <a:ea typeface="Arial"/>
                <a:cs typeface="Arial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12_header_rule"/>
          <p:cNvSpPr/>
          <p:nvPr/>
        </p:nvSpPr>
        <p:spPr>
          <a:xfrm>
            <a:off x="444500" y="622300"/>
            <a:ext cx="673100" cy="25400"/>
          </a:xfrm>
          <a:prstGeom prst="rect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12_divider"/>
          <p:cNvSpPr/>
          <p:nvPr/>
        </p:nvSpPr>
        <p:spPr>
          <a:xfrm>
            <a:off x="4572000" y="1790700"/>
            <a:ext cx="12700" cy="4457700"/>
          </a:xfrm>
          <a:prstGeom prst="rect">
            <a:avLst/>
          </a:prstGeom>
          <a:solidFill>
            <a:srgbClr val="C2DC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p12_line1"/>
          <p:cNvSpPr/>
          <p:nvPr/>
        </p:nvSpPr>
        <p:spPr>
          <a:xfrm>
            <a:off x="444500" y="3251200"/>
            <a:ext cx="3746500" cy="12700"/>
          </a:xfrm>
          <a:prstGeom prst="rect">
            <a:avLst/>
          </a:prstGeom>
          <a:solidFill>
            <a:srgbClr val="C2DC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p12_line2"/>
          <p:cNvSpPr/>
          <p:nvPr/>
        </p:nvSpPr>
        <p:spPr>
          <a:xfrm>
            <a:off x="444500" y="4813300"/>
            <a:ext cx="3746500" cy="12700"/>
          </a:xfrm>
          <a:prstGeom prst="rect">
            <a:avLst/>
          </a:prstGeom>
          <a:solidFill>
            <a:srgbClr val="C2DC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12_band"/>
          <p:cNvSpPr/>
          <p:nvPr/>
        </p:nvSpPr>
        <p:spPr>
          <a:xfrm>
            <a:off x="4940300" y="5753100"/>
            <a:ext cx="6807200" cy="673100"/>
          </a:xfrm>
          <a:prstGeom prst="roundRect">
            <a:avLst/>
          </a:prstGeom>
          <a:solidFill>
            <a:srgbClr val="DDEF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p12_employment"/>
          <p:cNvGraphicFramePr>
            <a:graphicFrameLocks noGrp="1"/>
          </p:cNvGraphicFramePr>
          <p:nvPr/>
        </p:nvGraphicFramePr>
        <p:xfrm>
          <a:off x="5016500" y="2425700"/>
          <a:ext cx="6604000" cy="31623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p12_kicker_node"/>
          <p:cNvSpPr txBox="1"/>
          <p:nvPr/>
        </p:nvSpPr>
        <p:spPr>
          <a:xfrm>
            <a:off x="444500" y="241300"/>
            <a:ext cx="11214100" cy="3683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 i="0" spc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rPr>
              <a:t>AI技能需求的广度</a:t>
            </a:r>
          </a:p>
        </p:txBody>
      </p:sp>
      <p:sp>
        <p:nvSpPr>
          <p:cNvPr id="9" name="p12_title_node"/>
          <p:cNvSpPr txBox="1"/>
          <p:nvPr/>
        </p:nvSpPr>
        <p:spPr>
          <a:xfrm>
            <a:off x="431800" y="787400"/>
            <a:ext cx="11341100" cy="939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需求已跨出技术岗位，覆盖仍有提升空间</a:t>
            </a:r>
          </a:p>
        </p:txBody>
      </p:sp>
      <p:sp>
        <p:nvSpPr>
          <p:cNvPr id="10" name="p12_v1_node"/>
          <p:cNvSpPr txBox="1"/>
          <p:nvPr/>
        </p:nvSpPr>
        <p:spPr>
          <a:xfrm>
            <a:off x="444500" y="1765300"/>
            <a:ext cx="3848100" cy="8763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5800" b="1" i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800" b="1" i="0" spc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rPr>
              <a:t>990万人</a:t>
            </a:r>
          </a:p>
        </p:txBody>
      </p:sp>
      <p:sp>
        <p:nvSpPr>
          <p:cNvPr id="11" name="p12_d1_node"/>
          <p:cNvSpPr txBox="1"/>
          <p:nvPr/>
        </p:nvSpPr>
        <p:spPr>
          <a:xfrm>
            <a:off x="444500" y="2667000"/>
            <a:ext cx="3759200" cy="5715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处于已出现AI技能需求的职业</a:t>
            </a:r>
          </a:p>
        </p:txBody>
      </p:sp>
      <p:sp>
        <p:nvSpPr>
          <p:cNvPr id="12" name="p12_v2_node"/>
          <p:cNvSpPr txBox="1"/>
          <p:nvPr/>
        </p:nvSpPr>
        <p:spPr>
          <a:xfrm>
            <a:off x="444500" y="3390900"/>
            <a:ext cx="3556000" cy="9525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6200" b="1" i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6200" b="1" i="0" spc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rPr>
              <a:t>约5%</a:t>
            </a:r>
          </a:p>
        </p:txBody>
      </p:sp>
      <p:sp>
        <p:nvSpPr>
          <p:cNvPr id="13" name="p12_d2_node"/>
          <p:cNvSpPr txBox="1"/>
          <p:nvPr/>
        </p:nvSpPr>
        <p:spPr>
          <a:xfrm>
            <a:off x="444500" y="4318000"/>
            <a:ext cx="3759200" cy="508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占五国样本就业总量</a:t>
            </a:r>
          </a:p>
        </p:txBody>
      </p:sp>
      <p:sp>
        <p:nvSpPr>
          <p:cNvPr id="14" name="p12_v3_node"/>
          <p:cNvSpPr txBox="1"/>
          <p:nvPr/>
        </p:nvSpPr>
        <p:spPr>
          <a:xfrm>
            <a:off x="444500" y="4902200"/>
            <a:ext cx="3835400" cy="863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5400" b="1" i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400" b="1" i="0" spc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rPr>
              <a:t>7类职业</a:t>
            </a:r>
          </a:p>
        </p:txBody>
      </p:sp>
      <p:sp>
        <p:nvSpPr>
          <p:cNvPr id="15" name="p12_d3_node"/>
          <p:cNvSpPr txBox="1"/>
          <p:nvPr/>
        </p:nvSpPr>
        <p:spPr>
          <a:xfrm>
            <a:off x="444500" y="5740400"/>
            <a:ext cx="3784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集中约80%的AI技能需求</a:t>
            </a:r>
          </a:p>
        </p:txBody>
      </p:sp>
      <p:sp>
        <p:nvSpPr>
          <p:cNvPr id="16" name="p12_units_node"/>
          <p:cNvSpPr txBox="1"/>
          <p:nvPr/>
        </p:nvSpPr>
        <p:spPr>
          <a:xfrm>
            <a:off x="5054600" y="1866900"/>
            <a:ext cx="6451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相关职业就业占比（%）</a:t>
            </a:r>
          </a:p>
        </p:txBody>
      </p:sp>
      <p:sp>
        <p:nvSpPr>
          <p:cNvPr id="17" name="p12_takeaway_node"/>
          <p:cNvSpPr txBox="1"/>
          <p:nvPr/>
        </p:nvSpPr>
        <p:spPr>
          <a:xfrm>
            <a:off x="5105400" y="5918200"/>
            <a:ext cx="6489700" cy="482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 i="0" spc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rPr>
              <a:t>培训应覆盖业务、创意和管理岗位</a:t>
            </a:r>
          </a:p>
        </p:txBody>
      </p:sp>
      <p:sp>
        <p:nvSpPr>
          <p:cNvPr id="18" name="p12_footer_node"/>
          <p:cNvSpPr txBox="1"/>
          <p:nvPr/>
        </p:nvSpPr>
        <p:spPr>
          <a:xfrm>
            <a:off x="431800" y="6565900"/>
            <a:ext cx="10566400" cy="203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 i="0" spc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rPr>
              <a:t>来源：麦肯锡全球研究院，2026.07 · PDF第27、28、29页</a:t>
            </a:r>
          </a:p>
        </p:txBody>
      </p:sp>
      <p:sp>
        <p:nvSpPr>
          <p:cNvPr id="19" name="p12_page_node"/>
          <p:cNvSpPr txBox="1"/>
          <p:nvPr/>
        </p:nvSpPr>
        <p:spPr>
          <a:xfrm>
            <a:off x="11201400" y="6565900"/>
            <a:ext cx="558800" cy="203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D6B78"/>
                </a:solidFill>
                <a:latin typeface="Arial"/>
                <a:ea typeface="Arial"/>
                <a:cs typeface="Arial"/>
              </a:defRPr>
            </a:pPr>
            <a:r>
              <a:rPr sz="900" b="0" i="0" spc="0">
                <a:solidFill>
                  <a:srgbClr val="5D6B78"/>
                </a:solidFill>
                <a:latin typeface="Arial"/>
                <a:ea typeface="Arial"/>
                <a:cs typeface="Arial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13_header_rule"/>
          <p:cNvSpPr/>
          <p:nvPr/>
        </p:nvSpPr>
        <p:spPr>
          <a:xfrm>
            <a:off x="444500" y="622300"/>
            <a:ext cx="673100" cy="25400"/>
          </a:xfrm>
          <a:prstGeom prst="rect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13_scale"/>
          <p:cNvSpPr/>
          <p:nvPr/>
        </p:nvSpPr>
        <p:spPr>
          <a:xfrm>
            <a:off x="520700" y="2908300"/>
            <a:ext cx="11176000" cy="76200"/>
          </a:xfrm>
          <a:prstGeom prst="rightArrow">
            <a:avLst/>
          </a:prstGeom>
          <a:solidFill>
            <a:srgbClr val="AAB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p13_point1"/>
          <p:cNvSpPr/>
          <p:nvPr/>
        </p:nvSpPr>
        <p:spPr>
          <a:xfrm>
            <a:off x="1993900" y="2794000"/>
            <a:ext cx="317500" cy="317500"/>
          </a:xfrm>
          <a:prstGeom prst="ellipse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p13_point2"/>
          <p:cNvSpPr/>
          <p:nvPr/>
        </p:nvSpPr>
        <p:spPr>
          <a:xfrm>
            <a:off x="5930900" y="2794000"/>
            <a:ext cx="317500" cy="317500"/>
          </a:xfrm>
          <a:prstGeom prst="ellipse">
            <a:avLst/>
          </a:prstGeom>
          <a:solidFill>
            <a:srgbClr val="1732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13_point3"/>
          <p:cNvSpPr/>
          <p:nvPr/>
        </p:nvSpPr>
        <p:spPr>
          <a:xfrm>
            <a:off x="9867900" y="2794000"/>
            <a:ext cx="317500" cy="317500"/>
          </a:xfrm>
          <a:prstGeom prst="ellipse">
            <a:avLst/>
          </a:prstGeom>
          <a:solidFill>
            <a:srgbClr val="E8AC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13_lower-left"/>
          <p:cNvSpPr/>
          <p:nvPr/>
        </p:nvSpPr>
        <p:spPr>
          <a:xfrm>
            <a:off x="393700" y="4406900"/>
            <a:ext cx="5524500" cy="1930400"/>
          </a:xfrm>
          <a:prstGeom prst="roundRect">
            <a:avLst/>
          </a:prstGeom>
          <a:solidFill>
            <a:srgbClr val="DDEF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13_lower-right"/>
          <p:cNvSpPr/>
          <p:nvPr/>
        </p:nvSpPr>
        <p:spPr>
          <a:xfrm>
            <a:off x="6261100" y="4406900"/>
            <a:ext cx="5524500" cy="1930400"/>
          </a:xfrm>
          <a:prstGeom prst="roundRect">
            <a:avLst/>
          </a:prstGeom>
          <a:solidFill>
            <a:srgbClr val="F3ED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13_left-head"/>
          <p:cNvSpPr/>
          <p:nvPr/>
        </p:nvSpPr>
        <p:spPr>
          <a:xfrm>
            <a:off x="393700" y="4406900"/>
            <a:ext cx="5524500" cy="635000"/>
          </a:xfrm>
          <a:prstGeom prst="roundRect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13_right-head"/>
          <p:cNvSpPr/>
          <p:nvPr/>
        </p:nvSpPr>
        <p:spPr>
          <a:xfrm>
            <a:off x="6261100" y="4406900"/>
            <a:ext cx="5524500" cy="635000"/>
          </a:xfrm>
          <a:prstGeom prst="roundRect">
            <a:avLst/>
          </a:prstGeom>
          <a:solidFill>
            <a:srgbClr val="D9A4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13_kicker_node"/>
          <p:cNvSpPr txBox="1"/>
          <p:nvPr/>
        </p:nvSpPr>
        <p:spPr>
          <a:xfrm>
            <a:off x="444500" y="241300"/>
            <a:ext cx="11214100" cy="3683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 i="0" spc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rPr>
              <a:t>技能变化指数 SCI</a:t>
            </a:r>
          </a:p>
        </p:txBody>
      </p:sp>
      <p:sp>
        <p:nvSpPr>
          <p:cNvPr id="12" name="p13_title_node"/>
          <p:cNvSpPr txBox="1"/>
          <p:nvPr/>
        </p:nvSpPr>
        <p:spPr>
          <a:xfrm>
            <a:off x="431800" y="787400"/>
            <a:ext cx="11341100" cy="939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3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技能变化广泛发生，人际与情境能力更耐久</a:t>
            </a:r>
          </a:p>
        </p:txBody>
      </p:sp>
      <p:sp>
        <p:nvSpPr>
          <p:cNvPr id="13" name="p13_q1_node"/>
          <p:cNvSpPr txBox="1"/>
          <p:nvPr/>
        </p:nvSpPr>
        <p:spPr>
          <a:xfrm>
            <a:off x="990600" y="1816100"/>
            <a:ext cx="23241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 spc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rPr>
              <a:t>25分位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 spc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rPr>
              <a:t>13%</a:t>
            </a:r>
          </a:p>
        </p:txBody>
      </p:sp>
      <p:sp>
        <p:nvSpPr>
          <p:cNvPr id="14" name="p13_q2_node"/>
          <p:cNvSpPr txBox="1"/>
          <p:nvPr/>
        </p:nvSpPr>
        <p:spPr>
          <a:xfrm>
            <a:off x="4927600" y="1816100"/>
            <a:ext cx="23241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中位数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20%</a:t>
            </a:r>
          </a:p>
        </p:txBody>
      </p:sp>
      <p:sp>
        <p:nvSpPr>
          <p:cNvPr id="15" name="p13_q3_node"/>
          <p:cNvSpPr txBox="1"/>
          <p:nvPr/>
        </p:nvSpPr>
        <p:spPr>
          <a:xfrm>
            <a:off x="8864600" y="1816100"/>
            <a:ext cx="23241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C98F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 spc="0">
                <a:solidFill>
                  <a:srgbClr val="C98F24"/>
                </a:solidFill>
                <a:latin typeface="Hiragino Sans GB"/>
                <a:ea typeface="Hiragino Sans GB"/>
                <a:cs typeface="Hiragino Sans GB"/>
              </a:rPr>
              <a:t>75分位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C98F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 spc="0">
                <a:solidFill>
                  <a:srgbClr val="C98F24"/>
                </a:solidFill>
                <a:latin typeface="Hiragino Sans GB"/>
                <a:ea typeface="Hiragino Sans GB"/>
                <a:cs typeface="Hiragino Sans GB"/>
              </a:rPr>
              <a:t>26%</a:t>
            </a:r>
          </a:p>
        </p:txBody>
      </p:sp>
      <p:sp>
        <p:nvSpPr>
          <p:cNvPr id="16" name="p13_intro_node"/>
          <p:cNvSpPr txBox="1"/>
          <p:nvPr/>
        </p:nvSpPr>
        <p:spPr>
          <a:xfrm>
            <a:off x="1943100" y="3390900"/>
            <a:ext cx="8293100" cy="4191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 i="0" spc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rPr>
              <a:t>SCI衡量2030年采用情景下的活动暴露</a:t>
            </a:r>
          </a:p>
        </p:txBody>
      </p:sp>
      <p:sp>
        <p:nvSpPr>
          <p:cNvPr id="17" name="p13_limit_node"/>
          <p:cNvSpPr txBox="1"/>
          <p:nvPr/>
        </p:nvSpPr>
        <p:spPr>
          <a:xfrm>
            <a:off x="1943100" y="3810000"/>
            <a:ext cx="8293100" cy="4191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0" i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00" b="0" i="0" spc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rPr>
              <a:t>不是技能消失概率，也不是员工裁减比例</a:t>
            </a:r>
          </a:p>
        </p:txBody>
      </p:sp>
      <p:sp>
        <p:nvSpPr>
          <p:cNvPr id="18" name="p13_low_node"/>
          <p:cNvSpPr txBox="1"/>
          <p:nvPr/>
        </p:nvSpPr>
        <p:spPr>
          <a:xfrm>
            <a:off x="431800" y="4508500"/>
            <a:ext cx="5473700" cy="508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 spc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较低暴露</a:t>
            </a:r>
          </a:p>
        </p:txBody>
      </p:sp>
      <p:sp>
        <p:nvSpPr>
          <p:cNvPr id="19" name="p13_high_node"/>
          <p:cNvSpPr txBox="1"/>
          <p:nvPr/>
        </p:nvSpPr>
        <p:spPr>
          <a:xfrm>
            <a:off x="6273800" y="4508500"/>
            <a:ext cx="5486400" cy="508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 spc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较高暴露</a:t>
            </a:r>
          </a:p>
        </p:txBody>
      </p:sp>
      <p:sp>
        <p:nvSpPr>
          <p:cNvPr id="20" name="p13_low-detail_node"/>
          <p:cNvSpPr txBox="1"/>
          <p:nvPr/>
        </p:nvSpPr>
        <p:spPr>
          <a:xfrm>
            <a:off x="901700" y="5283200"/>
            <a:ext cx="4521200" cy="8509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护理 · 急救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建立信任 · 客户关系</a:t>
            </a:r>
          </a:p>
        </p:txBody>
      </p:sp>
      <p:sp>
        <p:nvSpPr>
          <p:cNvPr id="21" name="p13_high-detail_node"/>
          <p:cNvSpPr txBox="1"/>
          <p:nvPr/>
        </p:nvSpPr>
        <p:spPr>
          <a:xfrm>
            <a:off x="6654800" y="5283200"/>
            <a:ext cx="4711700" cy="8509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数据库管理 · 脚本语言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财务记录 · 矿物加工</a:t>
            </a:r>
          </a:p>
        </p:txBody>
      </p:sp>
      <p:sp>
        <p:nvSpPr>
          <p:cNvPr id="22" name="p13_lo_node"/>
          <p:cNvSpPr txBox="1"/>
          <p:nvPr/>
        </p:nvSpPr>
        <p:spPr>
          <a:xfrm>
            <a:off x="508000" y="3098800"/>
            <a:ext cx="1333500" cy="355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0" i="0" spc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rPr>
              <a:t>较低</a:t>
            </a:r>
          </a:p>
        </p:txBody>
      </p:sp>
      <p:sp>
        <p:nvSpPr>
          <p:cNvPr id="23" name="p13_hi_node"/>
          <p:cNvSpPr txBox="1"/>
          <p:nvPr/>
        </p:nvSpPr>
        <p:spPr>
          <a:xfrm>
            <a:off x="10363200" y="3098800"/>
            <a:ext cx="1333500" cy="355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0" i="0" spc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rPr>
              <a:t>较高</a:t>
            </a:r>
          </a:p>
        </p:txBody>
      </p:sp>
      <p:sp>
        <p:nvSpPr>
          <p:cNvPr id="24" name="p13_footer_node"/>
          <p:cNvSpPr txBox="1"/>
          <p:nvPr/>
        </p:nvSpPr>
        <p:spPr>
          <a:xfrm>
            <a:off x="431800" y="6565900"/>
            <a:ext cx="10566400" cy="203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 i="0" spc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rPr>
              <a:t>来源：麦肯锡全球研究院，2026.07 · PDF第31、32、33页</a:t>
            </a:r>
          </a:p>
        </p:txBody>
      </p:sp>
      <p:sp>
        <p:nvSpPr>
          <p:cNvPr id="25" name="p13_page_node"/>
          <p:cNvSpPr txBox="1"/>
          <p:nvPr/>
        </p:nvSpPr>
        <p:spPr>
          <a:xfrm>
            <a:off x="11201400" y="6565900"/>
            <a:ext cx="558800" cy="203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D6B78"/>
                </a:solidFill>
                <a:latin typeface="Arial"/>
                <a:ea typeface="Arial"/>
                <a:cs typeface="Arial"/>
              </a:defRPr>
            </a:pPr>
            <a:r>
              <a:rPr sz="900" b="0" i="0" spc="0">
                <a:solidFill>
                  <a:srgbClr val="5D6B78"/>
                </a:solidFill>
                <a:latin typeface="Arial"/>
                <a:ea typeface="Arial"/>
                <a:cs typeface="Arial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14_header_rule"/>
          <p:cNvSpPr/>
          <p:nvPr/>
        </p:nvSpPr>
        <p:spPr>
          <a:xfrm>
            <a:off x="444500" y="622300"/>
            <a:ext cx="673100" cy="25400"/>
          </a:xfrm>
          <a:prstGeom prst="rect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14_marker1"/>
          <p:cNvSpPr/>
          <p:nvPr/>
        </p:nvSpPr>
        <p:spPr>
          <a:xfrm>
            <a:off x="457200" y="5956300"/>
            <a:ext cx="292100" cy="342900"/>
          </a:xfrm>
          <a:prstGeom prst="rect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p14_marker2"/>
          <p:cNvSpPr/>
          <p:nvPr/>
        </p:nvSpPr>
        <p:spPr>
          <a:xfrm>
            <a:off x="6057900" y="5956300"/>
            <a:ext cx="292100" cy="342900"/>
          </a:xfrm>
          <a:prstGeom prst="rect">
            <a:avLst/>
          </a:prstGeom>
          <a:solidFill>
            <a:srgbClr val="E8AC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5" name="p14_country-table"/>
          <p:cNvGraphicFramePr>
            <a:graphicFrameLocks noGrp="1"/>
          </p:cNvGraphicFramePr>
          <p:nvPr/>
        </p:nvGraphicFramePr>
        <p:xfrm>
          <a:off x="419100" y="2184400"/>
          <a:ext cx="11353800" cy="3378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3000"/>
                <a:gridCol w="2235200"/>
                <a:gridCol w="2235200"/>
                <a:gridCol w="2235200"/>
                <a:gridCol w="2235200"/>
              </a:tblGrid>
              <a:tr h="563033"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1" i="0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2200" b="1" i="0" spc="0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国家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1" i="0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2200" b="1" i="0" spc="0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技术潜力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1" i="0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2200" b="1" i="0" spc="0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采用率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1" i="0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2200" b="1" i="0" spc="0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年度价值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1" i="0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2200" b="1" i="0" spc="0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素养倍数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</a:tr>
              <a:tr h="563033"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22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阿根廷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22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58%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22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11%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22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170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22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10.1×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</a:tr>
              <a:tr h="563033"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22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巴西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22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56%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22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15%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22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1350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22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19.1×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</a:tr>
              <a:tr h="563033"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22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智利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22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56%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22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14%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22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140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22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28.7×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</a:tr>
              <a:tr h="563033"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22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哥伦比亚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22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55%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22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13%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22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270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22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3.7×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</a:tr>
              <a:tr h="563035"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22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墨西哥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22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59%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22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16%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22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2040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  <a:tc>
                  <a:txBody>
                    <a:bodyPr wrap="square" anchor="ctr" lIns="50800" rIns="50800" tIns="50800" bIns="5080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200" b="0" i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defRPr>
                      </a:pPr>
                      <a:r>
                        <a:rPr sz="2200" b="0" i="0" spc="0">
                          <a:solidFill>
                            <a:srgbClr val="17324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7.0×</a:t>
                      </a:r>
                    </a:p>
                  </a:txBody>
                  <a:tcPr>
                    <a:solidFill>
                      <a:srgbClr val="E5F0EB"/>
                    </a:solidFill>
                  </a:tcPr>
                </a:tc>
              </a:tr>
            </a:tbl>
          </a:graphicData>
        </a:graphic>
      </p:graphicFrame>
      <p:sp>
        <p:nvSpPr>
          <p:cNvPr id="6" name="p14_kicker_node"/>
          <p:cNvSpPr txBox="1"/>
          <p:nvPr/>
        </p:nvSpPr>
        <p:spPr>
          <a:xfrm>
            <a:off x="444500" y="241300"/>
            <a:ext cx="11214100" cy="3683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 i="0" spc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rPr>
              <a:t>国家仪表盘</a:t>
            </a:r>
          </a:p>
        </p:txBody>
      </p:sp>
      <p:sp>
        <p:nvSpPr>
          <p:cNvPr id="7" name="p14_title_node"/>
          <p:cNvSpPr txBox="1"/>
          <p:nvPr/>
        </p:nvSpPr>
        <p:spPr>
          <a:xfrm>
            <a:off x="431800" y="787400"/>
            <a:ext cx="11341100" cy="939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五国对照：价值规模与技能需求并不同步</a:t>
            </a:r>
          </a:p>
        </p:txBody>
      </p:sp>
      <p:sp>
        <p:nvSpPr>
          <p:cNvPr id="8" name="p14_units_node"/>
          <p:cNvSpPr txBox="1"/>
          <p:nvPr/>
        </p:nvSpPr>
        <p:spPr>
          <a:xfrm>
            <a:off x="457200" y="1625600"/>
            <a:ext cx="11239500" cy="4445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0" i="0" spc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rPr>
              <a:t>价值：亿美元；倍数：2025年相对2023年</a:t>
            </a:r>
          </a:p>
        </p:txBody>
      </p:sp>
      <p:sp>
        <p:nvSpPr>
          <p:cNvPr id="9" name="p14_insight1_node"/>
          <p:cNvSpPr txBox="1"/>
          <p:nvPr/>
        </p:nvSpPr>
        <p:spPr>
          <a:xfrm>
            <a:off x="876300" y="5867400"/>
            <a:ext cx="4838700" cy="5969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墨西哥价值最大</a:t>
            </a:r>
          </a:p>
        </p:txBody>
      </p:sp>
      <p:sp>
        <p:nvSpPr>
          <p:cNvPr id="10" name="p14_insight2_node"/>
          <p:cNvSpPr txBox="1"/>
          <p:nvPr/>
        </p:nvSpPr>
        <p:spPr>
          <a:xfrm>
            <a:off x="6477000" y="5867400"/>
            <a:ext cx="5207000" cy="5969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智利应用素养增长最快</a:t>
            </a:r>
          </a:p>
        </p:txBody>
      </p:sp>
      <p:sp>
        <p:nvSpPr>
          <p:cNvPr id="11" name="p14_footer_node"/>
          <p:cNvSpPr txBox="1"/>
          <p:nvPr/>
        </p:nvSpPr>
        <p:spPr>
          <a:xfrm>
            <a:off x="431800" y="6565900"/>
            <a:ext cx="10566400" cy="203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00" b="0" i="0" spc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rPr>
              <a:t>来源：麦肯锡全球研究院，2026.07 · PDF第41、42、46、47、51、52、56、57、61、62页</a:t>
            </a:r>
          </a:p>
        </p:txBody>
      </p:sp>
      <p:sp>
        <p:nvSpPr>
          <p:cNvPr id="12" name="p14_page_node"/>
          <p:cNvSpPr txBox="1"/>
          <p:nvPr/>
        </p:nvSpPr>
        <p:spPr>
          <a:xfrm>
            <a:off x="11201400" y="6565900"/>
            <a:ext cx="558800" cy="203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5D6B78"/>
                </a:solidFill>
                <a:latin typeface="Arial"/>
                <a:ea typeface="Arial"/>
                <a:cs typeface="Arial"/>
              </a:defRPr>
            </a:pPr>
            <a:r>
              <a:rPr sz="800" b="0" i="0" spc="0">
                <a:solidFill>
                  <a:srgbClr val="5D6B78"/>
                </a:solidFill>
                <a:latin typeface="Arial"/>
                <a:ea typeface="Arial"/>
                <a:cs typeface="Arial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15_header_rule"/>
          <p:cNvSpPr/>
          <p:nvPr/>
        </p:nvSpPr>
        <p:spPr>
          <a:xfrm>
            <a:off x="444500" y="622300"/>
            <a:ext cx="673100" cy="25400"/>
          </a:xfrm>
          <a:prstGeom prst="rect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15_old-panel"/>
          <p:cNvSpPr/>
          <p:nvPr/>
        </p:nvSpPr>
        <p:spPr>
          <a:xfrm>
            <a:off x="393700" y="1739900"/>
            <a:ext cx="2197100" cy="4737100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p15_old-rule"/>
          <p:cNvSpPr/>
          <p:nvPr/>
        </p:nvSpPr>
        <p:spPr>
          <a:xfrm>
            <a:off x="571500" y="2565400"/>
            <a:ext cx="1841500" cy="1270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p15_steps1"/>
          <p:cNvSpPr/>
          <p:nvPr/>
        </p:nvSpPr>
        <p:spPr>
          <a:xfrm>
            <a:off x="2819400" y="2984500"/>
            <a:ext cx="2895600" cy="1054100"/>
          </a:xfrm>
          <a:prstGeom prst="rightArrow">
            <a:avLst/>
          </a:prstGeom>
          <a:solidFill>
            <a:srgbClr val="C9E5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15_steps2"/>
          <p:cNvSpPr/>
          <p:nvPr/>
        </p:nvSpPr>
        <p:spPr>
          <a:xfrm>
            <a:off x="5715000" y="2984500"/>
            <a:ext cx="2908300" cy="1054100"/>
          </a:xfrm>
          <a:prstGeom prst="rightArrow">
            <a:avLst/>
          </a:prstGeom>
          <a:solidFill>
            <a:srgbClr val="A8D5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15_steps3"/>
          <p:cNvSpPr/>
          <p:nvPr/>
        </p:nvSpPr>
        <p:spPr>
          <a:xfrm>
            <a:off x="8623300" y="2984500"/>
            <a:ext cx="3136900" cy="1054100"/>
          </a:xfrm>
          <a:prstGeom prst="rightArrow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15_impact"/>
          <p:cNvSpPr/>
          <p:nvPr/>
        </p:nvSpPr>
        <p:spPr>
          <a:xfrm>
            <a:off x="2794000" y="4191000"/>
            <a:ext cx="8978900" cy="2286000"/>
          </a:xfrm>
          <a:prstGeom prst="rect">
            <a:avLst/>
          </a:prstGeom>
          <a:solidFill>
            <a:srgbClr val="0D32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15_divider"/>
          <p:cNvSpPr/>
          <p:nvPr/>
        </p:nvSpPr>
        <p:spPr>
          <a:xfrm>
            <a:off x="7188200" y="4368800"/>
            <a:ext cx="12700" cy="1460500"/>
          </a:xfrm>
          <a:prstGeom prst="rect">
            <a:avLst/>
          </a:prstGeom>
          <a:solidFill>
            <a:srgbClr val="5283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15_human-strip"/>
          <p:cNvSpPr/>
          <p:nvPr/>
        </p:nvSpPr>
        <p:spPr>
          <a:xfrm>
            <a:off x="3073400" y="5956300"/>
            <a:ext cx="8445500" cy="482600"/>
          </a:xfrm>
          <a:prstGeom prst="roundRect">
            <a:avLst/>
          </a:prstGeom>
          <a:solidFill>
            <a:srgbClr val="DDEF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15_rework-approx_node"/>
          <p:cNvSpPr txBox="1"/>
          <p:nvPr/>
        </p:nvSpPr>
        <p:spPr>
          <a:xfrm>
            <a:off x="558800" y="4991100"/>
            <a:ext cx="355600" cy="4445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DCA2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00" b="1" i="0" spc="0">
                <a:solidFill>
                  <a:srgbClr val="DCA22E"/>
                </a:solidFill>
                <a:latin typeface="Hiragino Sans GB"/>
                <a:ea typeface="Hiragino Sans GB"/>
                <a:cs typeface="Hiragino Sans GB"/>
              </a:rPr>
              <a:t>约</a:t>
            </a:r>
          </a:p>
        </p:txBody>
      </p:sp>
      <p:sp>
        <p:nvSpPr>
          <p:cNvPr id="12" name="p15_kicker_node"/>
          <p:cNvSpPr txBox="1"/>
          <p:nvPr/>
        </p:nvSpPr>
        <p:spPr>
          <a:xfrm>
            <a:off x="444500" y="241300"/>
            <a:ext cx="11214100" cy="3683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 i="0" spc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rPr>
              <a:t>案例一 · 信贷审批</a:t>
            </a:r>
          </a:p>
        </p:txBody>
      </p:sp>
      <p:sp>
        <p:nvSpPr>
          <p:cNvPr id="13" name="p15_title_node"/>
          <p:cNvSpPr txBox="1"/>
          <p:nvPr/>
        </p:nvSpPr>
        <p:spPr>
          <a:xfrm>
            <a:off x="431800" y="787400"/>
            <a:ext cx="11341100" cy="939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银行：把分析师从材料处理转向判断</a:t>
            </a:r>
          </a:p>
        </p:txBody>
      </p:sp>
      <p:sp>
        <p:nvSpPr>
          <p:cNvPr id="14" name="p15_old_node"/>
          <p:cNvSpPr txBox="1"/>
          <p:nvPr/>
        </p:nvSpPr>
        <p:spPr>
          <a:xfrm>
            <a:off x="558800" y="1917700"/>
            <a:ext cx="1905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原流程</a:t>
            </a:r>
          </a:p>
        </p:txBody>
      </p:sp>
      <p:sp>
        <p:nvSpPr>
          <p:cNvPr id="15" name="p15_old-time-label_node"/>
          <p:cNvSpPr txBox="1"/>
          <p:nvPr/>
        </p:nvSpPr>
        <p:spPr>
          <a:xfrm>
            <a:off x="558800" y="3009900"/>
            <a:ext cx="1917700" cy="4445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平均超过</a:t>
            </a:r>
          </a:p>
        </p:txBody>
      </p:sp>
      <p:sp>
        <p:nvSpPr>
          <p:cNvPr id="16" name="p15_old-time_node"/>
          <p:cNvSpPr txBox="1"/>
          <p:nvPr/>
        </p:nvSpPr>
        <p:spPr>
          <a:xfrm>
            <a:off x="558800" y="3530600"/>
            <a:ext cx="1955800" cy="939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5300" b="1" i="0">
                <a:solidFill>
                  <a:srgbClr val="DCA2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300" b="1" i="0" spc="0">
                <a:solidFill>
                  <a:srgbClr val="DCA22E"/>
                </a:solidFill>
                <a:latin typeface="Hiragino Sans GB"/>
                <a:ea typeface="Hiragino Sans GB"/>
                <a:cs typeface="Hiragino Sans GB"/>
              </a:rPr>
              <a:t>40天</a:t>
            </a:r>
          </a:p>
        </p:txBody>
      </p:sp>
      <p:sp>
        <p:nvSpPr>
          <p:cNvPr id="17" name="p15_old-rework_node"/>
          <p:cNvSpPr txBox="1"/>
          <p:nvPr/>
        </p:nvSpPr>
        <p:spPr>
          <a:xfrm>
            <a:off x="952500" y="4813300"/>
            <a:ext cx="1574800" cy="812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300" b="1" i="0">
                <a:solidFill>
                  <a:srgbClr val="DCA22E"/>
                </a:solidFill>
                <a:latin typeface="Arial"/>
                <a:ea typeface="Arial"/>
                <a:cs typeface="Arial"/>
              </a:defRPr>
            </a:pPr>
            <a:r>
              <a:rPr sz="4300" b="1" i="0" spc="0">
                <a:solidFill>
                  <a:srgbClr val="DCA22E"/>
                </a:solidFill>
                <a:latin typeface="Arial"/>
                <a:ea typeface="Arial"/>
                <a:cs typeface="Arial"/>
              </a:rPr>
              <a:t>55%</a:t>
            </a:r>
          </a:p>
        </p:txBody>
      </p:sp>
      <p:sp>
        <p:nvSpPr>
          <p:cNvPr id="18" name="p15_old-rework-label_node"/>
          <p:cNvSpPr txBox="1"/>
          <p:nvPr/>
        </p:nvSpPr>
        <p:spPr>
          <a:xfrm>
            <a:off x="558800" y="5651500"/>
            <a:ext cx="1955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案例需要返工</a:t>
            </a:r>
          </a:p>
        </p:txBody>
      </p:sp>
      <p:sp>
        <p:nvSpPr>
          <p:cNvPr id="19" name="p15_agents_node"/>
          <p:cNvSpPr txBox="1"/>
          <p:nvPr/>
        </p:nvSpPr>
        <p:spPr>
          <a:xfrm>
            <a:off x="2895600" y="1866900"/>
            <a:ext cx="8458200" cy="584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500" b="1" i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500" b="1" i="0" spc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rPr>
              <a:t>45个专业智能体</a:t>
            </a:r>
          </a:p>
        </p:txBody>
      </p:sp>
      <p:sp>
        <p:nvSpPr>
          <p:cNvPr id="20" name="p15_inputs_node"/>
          <p:cNvSpPr txBox="1"/>
          <p:nvPr/>
        </p:nvSpPr>
        <p:spPr>
          <a:xfrm>
            <a:off x="2895600" y="2451100"/>
            <a:ext cx="8470900" cy="482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整合14个数据源，每案生成50余项提示</a:t>
            </a:r>
          </a:p>
        </p:txBody>
      </p:sp>
      <p:sp>
        <p:nvSpPr>
          <p:cNvPr id="21" name="p15_step1_node"/>
          <p:cNvSpPr txBox="1"/>
          <p:nvPr/>
        </p:nvSpPr>
        <p:spPr>
          <a:xfrm>
            <a:off x="2984500" y="3276600"/>
            <a:ext cx="2514600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材料提取</a:t>
            </a:r>
          </a:p>
        </p:txBody>
      </p:sp>
      <p:sp>
        <p:nvSpPr>
          <p:cNvPr id="22" name="p15_step2_node"/>
          <p:cNvSpPr txBox="1"/>
          <p:nvPr/>
        </p:nvSpPr>
        <p:spPr>
          <a:xfrm>
            <a:off x="5867400" y="3276600"/>
            <a:ext cx="2679700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财务与风险分析</a:t>
            </a:r>
          </a:p>
        </p:txBody>
      </p:sp>
      <p:sp>
        <p:nvSpPr>
          <p:cNvPr id="23" name="p15_step3_node"/>
          <p:cNvSpPr txBox="1"/>
          <p:nvPr/>
        </p:nvSpPr>
        <p:spPr>
          <a:xfrm>
            <a:off x="8826500" y="3276600"/>
            <a:ext cx="2755900" cy="685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00" b="1" i="0" spc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人工复核与决策</a:t>
            </a:r>
          </a:p>
        </p:txBody>
      </p:sp>
      <p:sp>
        <p:nvSpPr>
          <p:cNvPr id="24" name="p15_speed-label_node"/>
          <p:cNvSpPr txBox="1"/>
          <p:nvPr/>
        </p:nvSpPr>
        <p:spPr>
          <a:xfrm>
            <a:off x="3111500" y="4267200"/>
            <a:ext cx="4000500" cy="520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00" b="1" i="0" spc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信贷决策总时长下降</a:t>
            </a:r>
          </a:p>
        </p:txBody>
      </p:sp>
      <p:sp>
        <p:nvSpPr>
          <p:cNvPr id="25" name="p15_speed_node"/>
          <p:cNvSpPr txBox="1"/>
          <p:nvPr/>
        </p:nvSpPr>
        <p:spPr>
          <a:xfrm>
            <a:off x="3111500" y="4787900"/>
            <a:ext cx="3759200" cy="1028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6700" b="1" i="0">
                <a:solidFill>
                  <a:srgbClr val="E8AC4B"/>
                </a:solidFill>
                <a:latin typeface="Arial"/>
                <a:ea typeface="Arial"/>
                <a:cs typeface="Arial"/>
              </a:defRPr>
            </a:pPr>
            <a:r>
              <a:rPr sz="6700" b="1" i="0" spc="0">
                <a:solidFill>
                  <a:srgbClr val="E8AC4B"/>
                </a:solidFill>
                <a:latin typeface="Arial"/>
                <a:ea typeface="Arial"/>
                <a:cs typeface="Arial"/>
              </a:rPr>
              <a:t>55%</a:t>
            </a:r>
          </a:p>
        </p:txBody>
      </p:sp>
      <p:sp>
        <p:nvSpPr>
          <p:cNvPr id="26" name="p15_memo-label_node"/>
          <p:cNvSpPr txBox="1"/>
          <p:nvPr/>
        </p:nvSpPr>
        <p:spPr>
          <a:xfrm>
            <a:off x="7518400" y="4267200"/>
            <a:ext cx="3962400" cy="520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00" b="1" i="0" spc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备忘录数小时内完成约</a:t>
            </a:r>
          </a:p>
        </p:txBody>
      </p:sp>
      <p:sp>
        <p:nvSpPr>
          <p:cNvPr id="27" name="p15_memo_node"/>
          <p:cNvSpPr txBox="1"/>
          <p:nvPr/>
        </p:nvSpPr>
        <p:spPr>
          <a:xfrm>
            <a:off x="7518400" y="4787900"/>
            <a:ext cx="3695700" cy="1028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6700" b="1" i="0">
                <a:solidFill>
                  <a:srgbClr val="E8AC4B"/>
                </a:solidFill>
                <a:latin typeface="Arial"/>
                <a:ea typeface="Arial"/>
                <a:cs typeface="Arial"/>
              </a:defRPr>
            </a:pPr>
            <a:r>
              <a:rPr sz="6700" b="1" i="0" spc="0">
                <a:solidFill>
                  <a:srgbClr val="E8AC4B"/>
                </a:solidFill>
                <a:latin typeface="Arial"/>
                <a:ea typeface="Arial"/>
                <a:cs typeface="Arial"/>
              </a:rPr>
              <a:t>85%</a:t>
            </a:r>
          </a:p>
        </p:txBody>
      </p:sp>
      <p:sp>
        <p:nvSpPr>
          <p:cNvPr id="28" name="p15_human_node"/>
          <p:cNvSpPr txBox="1"/>
          <p:nvPr/>
        </p:nvSpPr>
        <p:spPr>
          <a:xfrm>
            <a:off x="3149600" y="6019800"/>
            <a:ext cx="8204200" cy="4191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人工承担质疑、判断与最终责任</a:t>
            </a:r>
          </a:p>
        </p:txBody>
      </p:sp>
      <p:sp>
        <p:nvSpPr>
          <p:cNvPr id="29" name="p15_footer_node"/>
          <p:cNvSpPr txBox="1"/>
          <p:nvPr/>
        </p:nvSpPr>
        <p:spPr>
          <a:xfrm>
            <a:off x="431800" y="6565900"/>
            <a:ext cx="10566400" cy="203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 i="0" spc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rPr>
              <a:t>来源：麦肯锡全球研究院，2026.07 · PDF第34、35页</a:t>
            </a:r>
          </a:p>
        </p:txBody>
      </p:sp>
      <p:sp>
        <p:nvSpPr>
          <p:cNvPr id="30" name="p15_page_node"/>
          <p:cNvSpPr txBox="1"/>
          <p:nvPr/>
        </p:nvSpPr>
        <p:spPr>
          <a:xfrm>
            <a:off x="11201400" y="6565900"/>
            <a:ext cx="558800" cy="203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D6B78"/>
                </a:solidFill>
                <a:latin typeface="Arial"/>
                <a:ea typeface="Arial"/>
                <a:cs typeface="Arial"/>
              </a:defRPr>
            </a:pPr>
            <a:r>
              <a:rPr sz="900" b="0" i="0" spc="0">
                <a:solidFill>
                  <a:srgbClr val="5D6B78"/>
                </a:solidFill>
                <a:latin typeface="Arial"/>
                <a:ea typeface="Arial"/>
                <a:cs typeface="Arial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16_header_rule"/>
          <p:cNvSpPr/>
          <p:nvPr/>
        </p:nvSpPr>
        <p:spPr>
          <a:xfrm>
            <a:off x="444500" y="622300"/>
            <a:ext cx="673100" cy="25400"/>
          </a:xfrm>
          <a:prstGeom prst="rect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16_left-head"/>
          <p:cNvSpPr/>
          <p:nvPr/>
        </p:nvSpPr>
        <p:spPr>
          <a:xfrm>
            <a:off x="444500" y="1663700"/>
            <a:ext cx="5346700" cy="1054100"/>
          </a:xfrm>
          <a:prstGeom prst="roundRect">
            <a:avLst/>
          </a:prstGeom>
          <a:solidFill>
            <a:srgbClr val="DDEF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p16_right-head"/>
          <p:cNvSpPr/>
          <p:nvPr/>
        </p:nvSpPr>
        <p:spPr>
          <a:xfrm>
            <a:off x="6362700" y="1663700"/>
            <a:ext cx="5384800" cy="1054100"/>
          </a:xfrm>
          <a:prstGeom prst="roundRect">
            <a:avLst/>
          </a:prstGeom>
          <a:solidFill>
            <a:srgbClr val="DDEF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p16_divider"/>
          <p:cNvSpPr/>
          <p:nvPr/>
        </p:nvSpPr>
        <p:spPr>
          <a:xfrm>
            <a:off x="6096000" y="1663700"/>
            <a:ext cx="12700" cy="4800600"/>
          </a:xfrm>
          <a:prstGeom prst="rect">
            <a:avLst/>
          </a:prstGeom>
          <a:solidFill>
            <a:srgbClr val="C2DC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16_left-rule"/>
          <p:cNvSpPr/>
          <p:nvPr/>
        </p:nvSpPr>
        <p:spPr>
          <a:xfrm>
            <a:off x="736600" y="5715000"/>
            <a:ext cx="4889500" cy="12700"/>
          </a:xfrm>
          <a:prstGeom prst="rect">
            <a:avLst/>
          </a:prstGeom>
          <a:solidFill>
            <a:srgbClr val="C2DC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16_right-rule"/>
          <p:cNvSpPr/>
          <p:nvPr/>
        </p:nvSpPr>
        <p:spPr>
          <a:xfrm>
            <a:off x="6578600" y="5715000"/>
            <a:ext cx="4876800" cy="12700"/>
          </a:xfrm>
          <a:prstGeom prst="rect">
            <a:avLst/>
          </a:prstGeom>
          <a:solidFill>
            <a:srgbClr val="C2DC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16_kicker_node"/>
          <p:cNvSpPr txBox="1"/>
          <p:nvPr/>
        </p:nvSpPr>
        <p:spPr>
          <a:xfrm>
            <a:off x="444500" y="241300"/>
            <a:ext cx="11214100" cy="3683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 i="0" spc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rPr>
              <a:t>案例二与三 · 货运与索赔</a:t>
            </a:r>
          </a:p>
        </p:txBody>
      </p:sp>
      <p:sp>
        <p:nvSpPr>
          <p:cNvPr id="9" name="p16_title_node"/>
          <p:cNvSpPr txBox="1"/>
          <p:nvPr/>
        </p:nvSpPr>
        <p:spPr>
          <a:xfrm>
            <a:off x="431800" y="787400"/>
            <a:ext cx="11341100" cy="939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运营：更广的覆盖与一致规则带来收益</a:t>
            </a:r>
          </a:p>
        </p:txBody>
      </p:sp>
      <p:sp>
        <p:nvSpPr>
          <p:cNvPr id="10" name="p16_left-title_node"/>
          <p:cNvSpPr txBox="1"/>
          <p:nvPr/>
        </p:nvSpPr>
        <p:spPr>
          <a:xfrm>
            <a:off x="635000" y="1892300"/>
            <a:ext cx="5092700" cy="6731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造纸企业 · 货运签约</a:t>
            </a:r>
          </a:p>
        </p:txBody>
      </p:sp>
      <p:sp>
        <p:nvSpPr>
          <p:cNvPr id="11" name="p16_right-title_node"/>
          <p:cNvSpPr txBox="1"/>
          <p:nvPr/>
        </p:nvSpPr>
        <p:spPr>
          <a:xfrm>
            <a:off x="6477000" y="1892300"/>
            <a:ext cx="5080000" cy="6731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管道企业 · 土地索赔</a:t>
            </a:r>
          </a:p>
        </p:txBody>
      </p:sp>
      <p:sp>
        <p:nvSpPr>
          <p:cNvPr id="12" name="p16_left-agents_node"/>
          <p:cNvSpPr txBox="1"/>
          <p:nvPr/>
        </p:nvSpPr>
        <p:spPr>
          <a:xfrm>
            <a:off x="762000" y="2946400"/>
            <a:ext cx="4826000" cy="812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6个智能体扩展司机触达、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安排与跟踪</a:t>
            </a:r>
          </a:p>
        </p:txBody>
      </p:sp>
      <p:sp>
        <p:nvSpPr>
          <p:cNvPr id="13" name="p16_left-cost_node"/>
          <p:cNvSpPr txBox="1"/>
          <p:nvPr/>
        </p:nvSpPr>
        <p:spPr>
          <a:xfrm>
            <a:off x="762000" y="4076700"/>
            <a:ext cx="4826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直接货运成本下降</a:t>
            </a:r>
          </a:p>
        </p:txBody>
      </p:sp>
      <p:sp>
        <p:nvSpPr>
          <p:cNvPr id="14" name="p16_left-hero_node"/>
          <p:cNvSpPr txBox="1"/>
          <p:nvPr/>
        </p:nvSpPr>
        <p:spPr>
          <a:xfrm>
            <a:off x="762000" y="4597400"/>
            <a:ext cx="4864100" cy="965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5900" b="1" i="0">
                <a:solidFill>
                  <a:srgbClr val="DCA22E"/>
                </a:solidFill>
                <a:latin typeface="Arial"/>
                <a:ea typeface="Arial"/>
                <a:cs typeface="Arial"/>
              </a:defRPr>
            </a:pPr>
            <a:r>
              <a:rPr sz="5900" b="1" i="0" spc="0">
                <a:solidFill>
                  <a:srgbClr val="DCA22E"/>
                </a:solidFill>
                <a:latin typeface="Arial"/>
                <a:ea typeface="Arial"/>
                <a:cs typeface="Arial"/>
              </a:rPr>
              <a:t>10%—20%</a:t>
            </a:r>
          </a:p>
        </p:txBody>
      </p:sp>
      <p:sp>
        <p:nvSpPr>
          <p:cNvPr id="15" name="p16_left-human_node"/>
          <p:cNvSpPr txBox="1"/>
          <p:nvPr/>
        </p:nvSpPr>
        <p:spPr>
          <a:xfrm>
            <a:off x="762000" y="5880100"/>
            <a:ext cx="4876800" cy="5969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分析师转向规则制定与异常处理</a:t>
            </a:r>
          </a:p>
        </p:txBody>
      </p:sp>
      <p:sp>
        <p:nvSpPr>
          <p:cNvPr id="16" name="p16_right-agents_node"/>
          <p:cNvSpPr txBox="1"/>
          <p:nvPr/>
        </p:nvSpPr>
        <p:spPr>
          <a:xfrm>
            <a:off x="6578600" y="2895600"/>
            <a:ext cx="4851400" cy="787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5个智能体串联历史、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地理与协商建议</a:t>
            </a:r>
          </a:p>
        </p:txBody>
      </p:sp>
      <p:sp>
        <p:nvSpPr>
          <p:cNvPr id="17" name="p16_time-label_node"/>
          <p:cNvSpPr txBox="1"/>
          <p:nvPr/>
        </p:nvSpPr>
        <p:spPr>
          <a:xfrm>
            <a:off x="6578600" y="3822700"/>
            <a:ext cx="4851400" cy="393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处理周期</a:t>
            </a:r>
          </a:p>
        </p:txBody>
      </p:sp>
      <p:sp>
        <p:nvSpPr>
          <p:cNvPr id="18" name="p16_time_node"/>
          <p:cNvSpPr txBox="1"/>
          <p:nvPr/>
        </p:nvSpPr>
        <p:spPr>
          <a:xfrm>
            <a:off x="6578600" y="4267200"/>
            <a:ext cx="4864100" cy="5461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100" b="1" i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00" b="1" i="0" spc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rPr>
              <a:t>约6个月 → 约2周</a:t>
            </a:r>
          </a:p>
        </p:txBody>
      </p:sp>
      <p:sp>
        <p:nvSpPr>
          <p:cNvPr id="19" name="p16_cost_node"/>
          <p:cNvSpPr txBox="1"/>
          <p:nvPr/>
        </p:nvSpPr>
        <p:spPr>
          <a:xfrm>
            <a:off x="6578600" y="5041900"/>
            <a:ext cx="4864100" cy="7239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500" b="1" i="0">
                <a:solidFill>
                  <a:srgbClr val="DCA2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500" b="1" i="0" spc="0">
                <a:solidFill>
                  <a:srgbClr val="DCA22E"/>
                </a:solidFill>
                <a:latin typeface="Hiragino Sans GB"/>
                <a:ea typeface="Hiragino Sans GB"/>
                <a:cs typeface="Hiragino Sans GB"/>
              </a:rPr>
              <a:t>处理成本下降 58%</a:t>
            </a:r>
          </a:p>
        </p:txBody>
      </p:sp>
      <p:sp>
        <p:nvSpPr>
          <p:cNvPr id="20" name="p16_right-human_node"/>
          <p:cNvSpPr txBox="1"/>
          <p:nvPr/>
        </p:nvSpPr>
        <p:spPr>
          <a:xfrm>
            <a:off x="6578600" y="5880100"/>
            <a:ext cx="4864100" cy="5969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人负责个案管理、复核和谈判</a:t>
            </a:r>
          </a:p>
        </p:txBody>
      </p:sp>
      <p:sp>
        <p:nvSpPr>
          <p:cNvPr id="21" name="p16_footer_node"/>
          <p:cNvSpPr txBox="1"/>
          <p:nvPr/>
        </p:nvSpPr>
        <p:spPr>
          <a:xfrm>
            <a:off x="431800" y="6565900"/>
            <a:ext cx="10566400" cy="203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 i="0" spc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rPr>
              <a:t>来源：麦肯锡全球研究院，2026.07 · PDF第35页</a:t>
            </a:r>
          </a:p>
        </p:txBody>
      </p:sp>
      <p:sp>
        <p:nvSpPr>
          <p:cNvPr id="22" name="p16_page_node"/>
          <p:cNvSpPr txBox="1"/>
          <p:nvPr/>
        </p:nvSpPr>
        <p:spPr>
          <a:xfrm>
            <a:off x="11201400" y="6565900"/>
            <a:ext cx="558800" cy="203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D6B78"/>
                </a:solidFill>
                <a:latin typeface="Arial"/>
                <a:ea typeface="Arial"/>
                <a:cs typeface="Arial"/>
              </a:defRPr>
            </a:pPr>
            <a:r>
              <a:rPr sz="900" b="0" i="0" spc="0">
                <a:solidFill>
                  <a:srgbClr val="5D6B78"/>
                </a:solidFill>
                <a:latin typeface="Arial"/>
                <a:ea typeface="Arial"/>
                <a:cs typeface="Arial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17_header_rule"/>
          <p:cNvSpPr/>
          <p:nvPr/>
        </p:nvSpPr>
        <p:spPr>
          <a:xfrm>
            <a:off x="444500" y="622300"/>
            <a:ext cx="673100" cy="25400"/>
          </a:xfrm>
          <a:prstGeom prst="rect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17_upper"/>
          <p:cNvSpPr/>
          <p:nvPr/>
        </p:nvSpPr>
        <p:spPr>
          <a:xfrm>
            <a:off x="254000" y="1701800"/>
            <a:ext cx="11696700" cy="2324100"/>
          </a:xfrm>
          <a:prstGeom prst="roundRect">
            <a:avLst/>
          </a:prstGeom>
          <a:solidFill>
            <a:srgbClr val="E0F0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p17_lower"/>
          <p:cNvSpPr/>
          <p:nvPr/>
        </p:nvSpPr>
        <p:spPr>
          <a:xfrm>
            <a:off x="254000" y="4279900"/>
            <a:ext cx="11696700" cy="2222500"/>
          </a:xfrm>
          <a:prstGeom prst="roundRect">
            <a:avLst/>
          </a:prstGeom>
          <a:solidFill>
            <a:srgbClr val="E0F0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p17_upper-title"/>
          <p:cNvSpPr/>
          <p:nvPr/>
        </p:nvSpPr>
        <p:spPr>
          <a:xfrm>
            <a:off x="254000" y="1701800"/>
            <a:ext cx="2654300" cy="736600"/>
          </a:xfrm>
          <a:prstGeom prst="roundRect">
            <a:avLst/>
          </a:prstGeom>
          <a:solidFill>
            <a:srgbClr val="0E53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17_lower-title"/>
          <p:cNvSpPr/>
          <p:nvPr/>
        </p:nvSpPr>
        <p:spPr>
          <a:xfrm>
            <a:off x="254000" y="4279900"/>
            <a:ext cx="2755900" cy="723900"/>
          </a:xfrm>
          <a:prstGeom prst="roundRect">
            <a:avLst/>
          </a:prstGeom>
          <a:solidFill>
            <a:srgbClr val="0E536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17_divider1"/>
          <p:cNvSpPr/>
          <p:nvPr/>
        </p:nvSpPr>
        <p:spPr>
          <a:xfrm>
            <a:off x="5867400" y="2044700"/>
            <a:ext cx="12700" cy="1828800"/>
          </a:xfrm>
          <a:prstGeom prst="rect">
            <a:avLst/>
          </a:prstGeom>
          <a:solidFill>
            <a:srgbClr val="9EBF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17_divider2"/>
          <p:cNvSpPr/>
          <p:nvPr/>
        </p:nvSpPr>
        <p:spPr>
          <a:xfrm>
            <a:off x="8763000" y="2044700"/>
            <a:ext cx="12700" cy="1828800"/>
          </a:xfrm>
          <a:prstGeom prst="rect">
            <a:avLst/>
          </a:prstGeom>
          <a:solidFill>
            <a:srgbClr val="9EBF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17_timing"/>
          <p:cNvSpPr/>
          <p:nvPr/>
        </p:nvSpPr>
        <p:spPr>
          <a:xfrm>
            <a:off x="4089400" y="4686300"/>
            <a:ext cx="6832600" cy="1371600"/>
          </a:xfrm>
          <a:prstGeom prst="roundRect">
            <a:avLst/>
          </a:prstGeom>
          <a:solidFill>
            <a:srgbClr val="C9E5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17_fbase"/>
          <p:cNvSpPr/>
          <p:nvPr/>
        </p:nvSpPr>
        <p:spPr>
          <a:xfrm>
            <a:off x="762000" y="3263900"/>
            <a:ext cx="1600200" cy="457200"/>
          </a:xfrm>
          <a:prstGeom prst="rect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17_chimney"/>
          <p:cNvSpPr/>
          <p:nvPr/>
        </p:nvSpPr>
        <p:spPr>
          <a:xfrm>
            <a:off x="2159000" y="2717800"/>
            <a:ext cx="190500" cy="1003300"/>
          </a:xfrm>
          <a:prstGeom prst="rect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17_window1"/>
          <p:cNvSpPr/>
          <p:nvPr/>
        </p:nvSpPr>
        <p:spPr>
          <a:xfrm>
            <a:off x="901700" y="3429000"/>
            <a:ext cx="1905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17_window2"/>
          <p:cNvSpPr/>
          <p:nvPr/>
        </p:nvSpPr>
        <p:spPr>
          <a:xfrm>
            <a:off x="1231900" y="3429000"/>
            <a:ext cx="1905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17_window3"/>
          <p:cNvSpPr/>
          <p:nvPr/>
        </p:nvSpPr>
        <p:spPr>
          <a:xfrm>
            <a:off x="1562100" y="3429000"/>
            <a:ext cx="1905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17_kicker_node"/>
          <p:cNvSpPr txBox="1"/>
          <p:nvPr/>
        </p:nvSpPr>
        <p:spPr>
          <a:xfrm>
            <a:off x="444500" y="241300"/>
            <a:ext cx="11214100" cy="3683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 i="0" spc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rPr>
              <a:t>案例四与五 · 实时决策</a:t>
            </a:r>
          </a:p>
        </p:txBody>
      </p:sp>
      <p:sp>
        <p:nvSpPr>
          <p:cNvPr id="16" name="p17_title_node"/>
          <p:cNvSpPr txBox="1"/>
          <p:nvPr/>
        </p:nvSpPr>
        <p:spPr>
          <a:xfrm>
            <a:off x="431800" y="787400"/>
            <a:ext cx="11341100" cy="939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制造与航空：把响应速度推向新的量级</a:t>
            </a:r>
          </a:p>
        </p:txBody>
      </p:sp>
      <p:sp>
        <p:nvSpPr>
          <p:cNvPr id="17" name="p17_manufacturing_node"/>
          <p:cNvSpPr txBox="1"/>
          <p:nvPr/>
        </p:nvSpPr>
        <p:spPr>
          <a:xfrm>
            <a:off x="495300" y="1816100"/>
            <a:ext cx="2311400" cy="5461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00" b="1" i="0" spc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科技制造商</a:t>
            </a:r>
          </a:p>
        </p:txBody>
      </p:sp>
      <p:sp>
        <p:nvSpPr>
          <p:cNvPr id="18" name="p17_m1-label_node"/>
          <p:cNvSpPr txBox="1"/>
          <p:nvPr/>
        </p:nvSpPr>
        <p:spPr>
          <a:xfrm>
            <a:off x="3124200" y="2159000"/>
            <a:ext cx="2679700" cy="787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供应链问题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解决时间下降</a:t>
            </a:r>
          </a:p>
        </p:txBody>
      </p:sp>
      <p:sp>
        <p:nvSpPr>
          <p:cNvPr id="19" name="p17_m1_node"/>
          <p:cNvSpPr txBox="1"/>
          <p:nvPr/>
        </p:nvSpPr>
        <p:spPr>
          <a:xfrm>
            <a:off x="3124200" y="2984500"/>
            <a:ext cx="2679700" cy="901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rgbClr val="168C87"/>
                </a:solidFill>
                <a:latin typeface="Arial"/>
                <a:ea typeface="Arial"/>
                <a:cs typeface="Arial"/>
              </a:defRPr>
            </a:pPr>
            <a:r>
              <a:rPr sz="5600" b="1" i="0" spc="0">
                <a:solidFill>
                  <a:srgbClr val="168C87"/>
                </a:solidFill>
                <a:latin typeface="Arial"/>
                <a:ea typeface="Arial"/>
                <a:cs typeface="Arial"/>
              </a:rPr>
              <a:t>60%</a:t>
            </a:r>
          </a:p>
        </p:txBody>
      </p:sp>
      <p:sp>
        <p:nvSpPr>
          <p:cNvPr id="20" name="p17_m2-label_node"/>
          <p:cNvSpPr txBox="1"/>
          <p:nvPr/>
        </p:nvSpPr>
        <p:spPr>
          <a:xfrm>
            <a:off x="5994400" y="2159000"/>
            <a:ext cx="2679700" cy="787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车间问题解决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平均时间下降</a:t>
            </a:r>
          </a:p>
        </p:txBody>
      </p:sp>
      <p:sp>
        <p:nvSpPr>
          <p:cNvPr id="21" name="p17_m2_node"/>
          <p:cNvSpPr txBox="1"/>
          <p:nvPr/>
        </p:nvSpPr>
        <p:spPr>
          <a:xfrm>
            <a:off x="5994400" y="2984500"/>
            <a:ext cx="2679700" cy="901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rgbClr val="168C87"/>
                </a:solidFill>
                <a:latin typeface="Arial"/>
                <a:ea typeface="Arial"/>
                <a:cs typeface="Arial"/>
              </a:defRPr>
            </a:pPr>
            <a:r>
              <a:rPr sz="5600" b="1" i="0" spc="0">
                <a:solidFill>
                  <a:srgbClr val="168C87"/>
                </a:solidFill>
                <a:latin typeface="Arial"/>
                <a:ea typeface="Arial"/>
                <a:cs typeface="Arial"/>
              </a:rPr>
              <a:t>95%</a:t>
            </a:r>
          </a:p>
        </p:txBody>
      </p:sp>
      <p:sp>
        <p:nvSpPr>
          <p:cNvPr id="22" name="p17_m3-label_node"/>
          <p:cNvSpPr txBox="1"/>
          <p:nvPr/>
        </p:nvSpPr>
        <p:spPr>
          <a:xfrm>
            <a:off x="8902700" y="2159000"/>
            <a:ext cx="2679700" cy="787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单位小时产出提高</a:t>
            </a:r>
          </a:p>
        </p:txBody>
      </p:sp>
      <p:sp>
        <p:nvSpPr>
          <p:cNvPr id="23" name="p17_m3_node"/>
          <p:cNvSpPr txBox="1"/>
          <p:nvPr/>
        </p:nvSpPr>
        <p:spPr>
          <a:xfrm>
            <a:off x="8902700" y="2984500"/>
            <a:ext cx="2679700" cy="901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rgbClr val="168C87"/>
                </a:solidFill>
                <a:latin typeface="Arial"/>
                <a:ea typeface="Arial"/>
                <a:cs typeface="Arial"/>
              </a:defRPr>
            </a:pPr>
            <a:r>
              <a:rPr sz="5600" b="1" i="0" spc="0">
                <a:solidFill>
                  <a:srgbClr val="168C87"/>
                </a:solidFill>
                <a:latin typeface="Arial"/>
                <a:ea typeface="Arial"/>
                <a:cs typeface="Arial"/>
              </a:rPr>
              <a:t>42%</a:t>
            </a:r>
          </a:p>
        </p:txBody>
      </p:sp>
      <p:sp>
        <p:nvSpPr>
          <p:cNvPr id="24" name="p17_airline_node"/>
          <p:cNvSpPr txBox="1"/>
          <p:nvPr/>
        </p:nvSpPr>
        <p:spPr>
          <a:xfrm>
            <a:off x="495300" y="4394200"/>
            <a:ext cx="2489200" cy="520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00" b="1" i="0" spc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区域航空公司</a:t>
            </a:r>
          </a:p>
        </p:txBody>
      </p:sp>
      <p:sp>
        <p:nvSpPr>
          <p:cNvPr id="25" name="p17_agents_node"/>
          <p:cNvSpPr txBox="1"/>
          <p:nvPr/>
        </p:nvSpPr>
        <p:spPr>
          <a:xfrm>
            <a:off x="520700" y="5168900"/>
            <a:ext cx="32766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4个智能体评估运营、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机组与机场约束</a:t>
            </a:r>
          </a:p>
        </p:txBody>
      </p:sp>
      <p:sp>
        <p:nvSpPr>
          <p:cNvPr id="26" name="p17_disrupt-label_node"/>
          <p:cNvSpPr txBox="1"/>
          <p:nvPr/>
        </p:nvSpPr>
        <p:spPr>
          <a:xfrm>
            <a:off x="4419600" y="4775200"/>
            <a:ext cx="5829300" cy="393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中断响应</a:t>
            </a:r>
          </a:p>
        </p:txBody>
      </p:sp>
      <p:sp>
        <p:nvSpPr>
          <p:cNvPr id="27" name="p17_disrupt_node"/>
          <p:cNvSpPr txBox="1"/>
          <p:nvPr/>
        </p:nvSpPr>
        <p:spPr>
          <a:xfrm>
            <a:off x="4267200" y="5283200"/>
            <a:ext cx="6197600" cy="635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500" b="1" i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500" b="1" i="0" spc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rPr>
              <a:t>2—3小时 → 约5分钟</a:t>
            </a:r>
          </a:p>
        </p:txBody>
      </p:sp>
      <p:sp>
        <p:nvSpPr>
          <p:cNvPr id="28" name="p17_human_node"/>
          <p:cNvSpPr txBox="1"/>
          <p:nvPr/>
        </p:nvSpPr>
        <p:spPr>
          <a:xfrm>
            <a:off x="4394200" y="6032500"/>
            <a:ext cx="6108700" cy="406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人员验证方案并协调执行</a:t>
            </a:r>
          </a:p>
        </p:txBody>
      </p:sp>
      <p:sp>
        <p:nvSpPr>
          <p:cNvPr id="29" name="p17_footer_node"/>
          <p:cNvSpPr txBox="1"/>
          <p:nvPr/>
        </p:nvSpPr>
        <p:spPr>
          <a:xfrm>
            <a:off x="431800" y="6565900"/>
            <a:ext cx="10566400" cy="203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 i="0" spc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rPr>
              <a:t>来源：麦肯锡全球研究院，2026.07 · PDF第36页</a:t>
            </a:r>
          </a:p>
        </p:txBody>
      </p:sp>
      <p:sp>
        <p:nvSpPr>
          <p:cNvPr id="30" name="p17_page_node"/>
          <p:cNvSpPr txBox="1"/>
          <p:nvPr/>
        </p:nvSpPr>
        <p:spPr>
          <a:xfrm>
            <a:off x="11201400" y="6565900"/>
            <a:ext cx="558800" cy="203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D6B78"/>
                </a:solidFill>
                <a:latin typeface="Arial"/>
                <a:ea typeface="Arial"/>
                <a:cs typeface="Arial"/>
              </a:defRPr>
            </a:pPr>
            <a:r>
              <a:rPr sz="900" b="0" i="0" spc="0">
                <a:solidFill>
                  <a:srgbClr val="5D6B78"/>
                </a:solidFill>
                <a:latin typeface="Arial"/>
                <a:ea typeface="Arial"/>
                <a:cs typeface="Arial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2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18_header_rule"/>
          <p:cNvSpPr/>
          <p:nvPr/>
        </p:nvSpPr>
        <p:spPr>
          <a:xfrm>
            <a:off x="444500" y="622300"/>
            <a:ext cx="673100" cy="25400"/>
          </a:xfrm>
          <a:prstGeom prst="rect">
            <a:avLst/>
          </a:prstGeom>
          <a:solidFill>
            <a:srgbClr val="35CE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18_divider"/>
          <p:cNvSpPr/>
          <p:nvPr/>
        </p:nvSpPr>
        <p:spPr>
          <a:xfrm>
            <a:off x="5473700" y="2019300"/>
            <a:ext cx="12700" cy="4394200"/>
          </a:xfrm>
          <a:prstGeom prst="rect">
            <a:avLst/>
          </a:prstGeom>
          <a:solidFill>
            <a:srgbClr val="6282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p18_rule"/>
          <p:cNvSpPr/>
          <p:nvPr/>
        </p:nvSpPr>
        <p:spPr>
          <a:xfrm>
            <a:off x="457200" y="4978400"/>
            <a:ext cx="4711700" cy="12700"/>
          </a:xfrm>
          <a:prstGeom prst="rect">
            <a:avLst/>
          </a:prstGeom>
          <a:solidFill>
            <a:srgbClr val="6282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p18_s1"/>
          <p:cNvSpPr/>
          <p:nvPr/>
        </p:nvSpPr>
        <p:spPr>
          <a:xfrm>
            <a:off x="5753100" y="4432300"/>
            <a:ext cx="2070100" cy="927100"/>
          </a:xfrm>
          <a:prstGeom prst="rightArrow">
            <a:avLst/>
          </a:prstGeom>
          <a:solidFill>
            <a:srgbClr val="DDEF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18_s2"/>
          <p:cNvSpPr/>
          <p:nvPr/>
        </p:nvSpPr>
        <p:spPr>
          <a:xfrm>
            <a:off x="7772400" y="4432300"/>
            <a:ext cx="2070100" cy="927100"/>
          </a:xfrm>
          <a:prstGeom prst="rightArrow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18_s3"/>
          <p:cNvSpPr/>
          <p:nvPr/>
        </p:nvSpPr>
        <p:spPr>
          <a:xfrm>
            <a:off x="9791700" y="4432300"/>
            <a:ext cx="2070100" cy="927100"/>
          </a:xfrm>
          <a:prstGeom prst="rightArrow">
            <a:avLst/>
          </a:prstGeom>
          <a:solidFill>
            <a:srgbClr val="DDEF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18_v1"/>
          <p:cNvSpPr/>
          <p:nvPr/>
        </p:nvSpPr>
        <p:spPr>
          <a:xfrm>
            <a:off x="7797800" y="2260600"/>
            <a:ext cx="12700" cy="1714500"/>
          </a:xfrm>
          <a:prstGeom prst="rect">
            <a:avLst/>
          </a:prstGeom>
          <a:solidFill>
            <a:srgbClr val="6282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18_v2"/>
          <p:cNvSpPr/>
          <p:nvPr/>
        </p:nvSpPr>
        <p:spPr>
          <a:xfrm>
            <a:off x="9855200" y="2260600"/>
            <a:ext cx="12700" cy="1714500"/>
          </a:xfrm>
          <a:prstGeom prst="rect">
            <a:avLst/>
          </a:prstGeom>
          <a:solidFill>
            <a:srgbClr val="6282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18_bottom-rule"/>
          <p:cNvSpPr/>
          <p:nvPr/>
        </p:nvSpPr>
        <p:spPr>
          <a:xfrm>
            <a:off x="5778500" y="5549900"/>
            <a:ext cx="5969000" cy="12700"/>
          </a:xfrm>
          <a:prstGeom prst="rect">
            <a:avLst/>
          </a:prstGeom>
          <a:solidFill>
            <a:srgbClr val="6282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18_kicker_node"/>
          <p:cNvSpPr txBox="1"/>
          <p:nvPr/>
        </p:nvSpPr>
        <p:spPr>
          <a:xfrm>
            <a:off x="444500" y="241300"/>
            <a:ext cx="11214100" cy="3683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35CE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 i="0" spc="0">
                <a:solidFill>
                  <a:srgbClr val="35CEB6"/>
                </a:solidFill>
                <a:latin typeface="Hiragino Sans GB"/>
                <a:ea typeface="Hiragino Sans GB"/>
                <a:cs typeface="Hiragino Sans GB"/>
              </a:rPr>
              <a:t>案例六 · 呼叫中心</a:t>
            </a:r>
          </a:p>
        </p:txBody>
      </p:sp>
      <p:sp>
        <p:nvSpPr>
          <p:cNvPr id="12" name="p18_title_node"/>
          <p:cNvSpPr txBox="1"/>
          <p:nvPr/>
        </p:nvSpPr>
        <p:spPr>
          <a:xfrm>
            <a:off x="431800" y="787400"/>
            <a:ext cx="11341100" cy="939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 i="0" spc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电信：让服务触点同时发现销售机会</a:t>
            </a:r>
          </a:p>
        </p:txBody>
      </p:sp>
      <p:sp>
        <p:nvSpPr>
          <p:cNvPr id="13" name="p18_hero_node"/>
          <p:cNvSpPr txBox="1"/>
          <p:nvPr/>
        </p:nvSpPr>
        <p:spPr>
          <a:xfrm>
            <a:off x="444500" y="2146300"/>
            <a:ext cx="4635500" cy="1790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100" b="1" i="0">
                <a:solidFill>
                  <a:srgbClr val="35CEB6"/>
                </a:solidFill>
                <a:latin typeface="Arial"/>
                <a:ea typeface="Arial"/>
                <a:cs typeface="Arial"/>
              </a:defRPr>
            </a:pPr>
            <a:r>
              <a:rPr sz="11100" b="1" i="0" spc="0">
                <a:solidFill>
                  <a:srgbClr val="35CEB6"/>
                </a:solidFill>
                <a:latin typeface="Arial"/>
                <a:ea typeface="Arial"/>
                <a:cs typeface="Arial"/>
              </a:rPr>
              <a:t>5.6%</a:t>
            </a:r>
          </a:p>
        </p:txBody>
      </p:sp>
      <p:sp>
        <p:nvSpPr>
          <p:cNvPr id="14" name="p18_rate_node"/>
          <p:cNvSpPr txBox="1"/>
          <p:nvPr/>
        </p:nvSpPr>
        <p:spPr>
          <a:xfrm>
            <a:off x="482600" y="4076700"/>
            <a:ext cx="4787900" cy="6731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00" b="1" i="0" spc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转化率约为常规外呼活动的3倍</a:t>
            </a:r>
          </a:p>
        </p:txBody>
      </p:sp>
      <p:sp>
        <p:nvSpPr>
          <p:cNvPr id="15" name="p18_cost_node"/>
          <p:cNvSpPr txBox="1"/>
          <p:nvPr/>
        </p:nvSpPr>
        <p:spPr>
          <a:xfrm>
            <a:off x="647700" y="5334000"/>
            <a:ext cx="4279900" cy="9525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E8AC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00" b="1" i="0" spc="0">
                <a:solidFill>
                  <a:srgbClr val="E8AC4B"/>
                </a:solidFill>
                <a:latin typeface="Hiragino Sans GB"/>
                <a:ea typeface="Hiragino Sans GB"/>
                <a:cs typeface="Hiragino Sans GB"/>
              </a:rPr>
              <a:t>每通电话系统成本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E8AC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00" b="1" i="0" spc="0">
                <a:solidFill>
                  <a:srgbClr val="E8AC4B"/>
                </a:solidFill>
                <a:latin typeface="Hiragino Sans GB"/>
                <a:ea typeface="Hiragino Sans GB"/>
                <a:cs typeface="Hiragino Sans GB"/>
              </a:rPr>
              <a:t>低于1美分</a:t>
            </a:r>
          </a:p>
        </p:txBody>
      </p:sp>
      <p:sp>
        <p:nvSpPr>
          <p:cNvPr id="16" name="p18_calls-label_node"/>
          <p:cNvSpPr txBox="1"/>
          <p:nvPr/>
        </p:nvSpPr>
        <p:spPr>
          <a:xfrm>
            <a:off x="5930900" y="2120900"/>
            <a:ext cx="1790700" cy="4445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00" b="0" i="0" spc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每月约</a:t>
            </a:r>
          </a:p>
        </p:txBody>
      </p:sp>
      <p:sp>
        <p:nvSpPr>
          <p:cNvPr id="17" name="p18_calls_node"/>
          <p:cNvSpPr txBox="1"/>
          <p:nvPr/>
        </p:nvSpPr>
        <p:spPr>
          <a:xfrm>
            <a:off x="5930900" y="2641600"/>
            <a:ext cx="1790700" cy="736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300" b="1" i="0">
                <a:solidFill>
                  <a:srgbClr val="35CE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300" b="1" i="0" spc="0">
                <a:solidFill>
                  <a:srgbClr val="35CEB6"/>
                </a:solidFill>
                <a:latin typeface="Hiragino Sans GB"/>
                <a:ea typeface="Hiragino Sans GB"/>
                <a:cs typeface="Hiragino Sans GB"/>
              </a:rPr>
              <a:t>60万</a:t>
            </a:r>
          </a:p>
        </p:txBody>
      </p:sp>
      <p:sp>
        <p:nvSpPr>
          <p:cNvPr id="18" name="p18_calls-unit_node"/>
          <p:cNvSpPr txBox="1"/>
          <p:nvPr/>
        </p:nvSpPr>
        <p:spPr>
          <a:xfrm>
            <a:off x="5930900" y="3429000"/>
            <a:ext cx="1790700" cy="393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00" b="0" i="0" spc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通来电</a:t>
            </a:r>
          </a:p>
        </p:txBody>
      </p:sp>
      <p:sp>
        <p:nvSpPr>
          <p:cNvPr id="19" name="p18_coverage-label_node"/>
          <p:cNvSpPr txBox="1"/>
          <p:nvPr/>
        </p:nvSpPr>
        <p:spPr>
          <a:xfrm>
            <a:off x="7899400" y="2120900"/>
            <a:ext cx="1816100" cy="4445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00" b="0" i="0" spc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实时分析</a:t>
            </a:r>
          </a:p>
        </p:txBody>
      </p:sp>
      <p:sp>
        <p:nvSpPr>
          <p:cNvPr id="20" name="p18_coverage_node"/>
          <p:cNvSpPr txBox="1"/>
          <p:nvPr/>
        </p:nvSpPr>
        <p:spPr>
          <a:xfrm>
            <a:off x="7848600" y="2641600"/>
            <a:ext cx="1917700" cy="736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300" b="1" i="0">
                <a:solidFill>
                  <a:srgbClr val="35CEB6"/>
                </a:solidFill>
                <a:latin typeface="Arial"/>
                <a:ea typeface="Arial"/>
                <a:cs typeface="Arial"/>
              </a:defRPr>
            </a:pPr>
            <a:r>
              <a:rPr sz="4300" b="1" i="0" spc="0">
                <a:solidFill>
                  <a:srgbClr val="35CEB6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21" name="p18_coverage-unit_node"/>
          <p:cNvSpPr txBox="1"/>
          <p:nvPr/>
        </p:nvSpPr>
        <p:spPr>
          <a:xfrm>
            <a:off x="7899400" y="3429000"/>
            <a:ext cx="1816100" cy="393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00" b="0" i="0" spc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呼入电话</a:t>
            </a:r>
          </a:p>
        </p:txBody>
      </p:sp>
      <p:sp>
        <p:nvSpPr>
          <p:cNvPr id="22" name="p18_staff-label_node"/>
          <p:cNvSpPr txBox="1"/>
          <p:nvPr/>
        </p:nvSpPr>
        <p:spPr>
          <a:xfrm>
            <a:off x="9931400" y="2120900"/>
            <a:ext cx="1816100" cy="4445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00" b="0" i="0" spc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支持</a:t>
            </a:r>
          </a:p>
        </p:txBody>
      </p:sp>
      <p:sp>
        <p:nvSpPr>
          <p:cNvPr id="23" name="p18_staff_node"/>
          <p:cNvSpPr txBox="1"/>
          <p:nvPr/>
        </p:nvSpPr>
        <p:spPr>
          <a:xfrm>
            <a:off x="9867900" y="2641600"/>
            <a:ext cx="1943100" cy="736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100" b="1" i="0">
                <a:solidFill>
                  <a:srgbClr val="35CEB6"/>
                </a:solidFill>
                <a:latin typeface="Arial"/>
                <a:ea typeface="Arial"/>
                <a:cs typeface="Arial"/>
              </a:defRPr>
            </a:pPr>
            <a:r>
              <a:rPr sz="4100" b="1" i="0" spc="0">
                <a:solidFill>
                  <a:srgbClr val="35CEB6"/>
                </a:solidFill>
                <a:latin typeface="Arial"/>
                <a:ea typeface="Arial"/>
                <a:cs typeface="Arial"/>
              </a:rPr>
              <a:t>1000+</a:t>
            </a:r>
          </a:p>
        </p:txBody>
      </p:sp>
      <p:sp>
        <p:nvSpPr>
          <p:cNvPr id="24" name="p18_staff-unit_node"/>
          <p:cNvSpPr txBox="1"/>
          <p:nvPr/>
        </p:nvSpPr>
        <p:spPr>
          <a:xfrm>
            <a:off x="9931400" y="3429000"/>
            <a:ext cx="1816100" cy="393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00" b="0" i="0" spc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名客服</a:t>
            </a:r>
          </a:p>
        </p:txBody>
      </p:sp>
      <p:sp>
        <p:nvSpPr>
          <p:cNvPr id="25" name="p18_step1_node"/>
          <p:cNvSpPr txBox="1"/>
          <p:nvPr/>
        </p:nvSpPr>
        <p:spPr>
          <a:xfrm>
            <a:off x="5867400" y="4610100"/>
            <a:ext cx="1879600" cy="7239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识别购买信号</a:t>
            </a:r>
          </a:p>
        </p:txBody>
      </p:sp>
      <p:sp>
        <p:nvSpPr>
          <p:cNvPr id="26" name="p18_step2_node"/>
          <p:cNvSpPr txBox="1"/>
          <p:nvPr/>
        </p:nvSpPr>
        <p:spPr>
          <a:xfrm>
            <a:off x="7886700" y="4610100"/>
            <a:ext cx="1879600" cy="7239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00" b="1" i="0" spc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提供实时建议</a:t>
            </a:r>
          </a:p>
        </p:txBody>
      </p:sp>
      <p:sp>
        <p:nvSpPr>
          <p:cNvPr id="27" name="p18_step3_node"/>
          <p:cNvSpPr txBox="1"/>
          <p:nvPr/>
        </p:nvSpPr>
        <p:spPr>
          <a:xfrm>
            <a:off x="9906000" y="4610100"/>
            <a:ext cx="1879600" cy="7239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人员处理与转化</a:t>
            </a:r>
          </a:p>
        </p:txBody>
      </p:sp>
      <p:sp>
        <p:nvSpPr>
          <p:cNvPr id="28" name="p18_meaning_node"/>
          <p:cNvSpPr txBox="1"/>
          <p:nvPr/>
        </p:nvSpPr>
        <p:spPr>
          <a:xfrm>
            <a:off x="5943600" y="5727700"/>
            <a:ext cx="5715000" cy="7239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0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 i="0" spc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投诉处理继续进行，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00" b="0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 i="0" spc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销售建议成为新的辅助能力</a:t>
            </a:r>
          </a:p>
        </p:txBody>
      </p:sp>
      <p:sp>
        <p:nvSpPr>
          <p:cNvPr id="29" name="p18_footer_node"/>
          <p:cNvSpPr txBox="1"/>
          <p:nvPr/>
        </p:nvSpPr>
        <p:spPr>
          <a:xfrm>
            <a:off x="431800" y="6565900"/>
            <a:ext cx="10566400" cy="203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DDEFE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 i="0" spc="0">
                <a:solidFill>
                  <a:srgbClr val="DDEFEA"/>
                </a:solidFill>
                <a:latin typeface="Hiragino Sans GB"/>
                <a:ea typeface="Hiragino Sans GB"/>
                <a:cs typeface="Hiragino Sans GB"/>
              </a:rPr>
              <a:t>来源：麦肯锡全球研究院，2026.07 · PDF第36、37页</a:t>
            </a:r>
          </a:p>
        </p:txBody>
      </p:sp>
      <p:sp>
        <p:nvSpPr>
          <p:cNvPr id="30" name="p18_page_node"/>
          <p:cNvSpPr txBox="1"/>
          <p:nvPr/>
        </p:nvSpPr>
        <p:spPr>
          <a:xfrm>
            <a:off x="11201400" y="6565900"/>
            <a:ext cx="558800" cy="203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DDEFEA"/>
                </a:solidFill>
                <a:latin typeface="Arial"/>
                <a:ea typeface="Arial"/>
                <a:cs typeface="Arial"/>
              </a:defRPr>
            </a:pPr>
            <a:r>
              <a:rPr sz="900" b="0" i="0" spc="0">
                <a:solidFill>
                  <a:srgbClr val="DDEFEA"/>
                </a:solidFill>
                <a:latin typeface="Arial"/>
                <a:ea typeface="Arial"/>
                <a:cs typeface="Arial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19_header_rule"/>
          <p:cNvSpPr/>
          <p:nvPr/>
        </p:nvSpPr>
        <p:spPr>
          <a:xfrm>
            <a:off x="444500" y="622300"/>
            <a:ext cx="673100" cy="25400"/>
          </a:xfrm>
          <a:prstGeom prst="rect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19_disc1"/>
          <p:cNvSpPr/>
          <p:nvPr/>
        </p:nvSpPr>
        <p:spPr>
          <a:xfrm>
            <a:off x="1803400" y="2590800"/>
            <a:ext cx="774700" cy="774700"/>
          </a:xfrm>
          <a:prstGeom prst="ellipse">
            <a:avLst/>
          </a:prstGeom>
          <a:solidFill>
            <a:srgbClr val="1732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p19_disc2"/>
          <p:cNvSpPr/>
          <p:nvPr/>
        </p:nvSpPr>
        <p:spPr>
          <a:xfrm>
            <a:off x="4660900" y="2400300"/>
            <a:ext cx="774700" cy="774700"/>
          </a:xfrm>
          <a:prstGeom prst="ellipse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p19_disc3"/>
          <p:cNvSpPr/>
          <p:nvPr/>
        </p:nvSpPr>
        <p:spPr>
          <a:xfrm>
            <a:off x="7556500" y="2209800"/>
            <a:ext cx="774700" cy="774700"/>
          </a:xfrm>
          <a:prstGeom prst="ellipse">
            <a:avLst/>
          </a:prstGeom>
          <a:solidFill>
            <a:srgbClr val="E8AC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19_disc4"/>
          <p:cNvSpPr/>
          <p:nvPr/>
        </p:nvSpPr>
        <p:spPr>
          <a:xfrm>
            <a:off x="10439400" y="2019300"/>
            <a:ext cx="774700" cy="774700"/>
          </a:xfrm>
          <a:prstGeom prst="ellipse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19_dot1"/>
          <p:cNvSpPr/>
          <p:nvPr/>
        </p:nvSpPr>
        <p:spPr>
          <a:xfrm>
            <a:off x="393700" y="3492500"/>
            <a:ext cx="139700" cy="139700"/>
          </a:xfrm>
          <a:prstGeom prst="ellipse">
            <a:avLst/>
          </a:prstGeom>
          <a:solidFill>
            <a:srgbClr val="1732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19_dot2"/>
          <p:cNvSpPr/>
          <p:nvPr/>
        </p:nvSpPr>
        <p:spPr>
          <a:xfrm>
            <a:off x="3302000" y="3365500"/>
            <a:ext cx="139700" cy="139700"/>
          </a:xfrm>
          <a:prstGeom prst="ellipse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19_dot3"/>
          <p:cNvSpPr/>
          <p:nvPr/>
        </p:nvSpPr>
        <p:spPr>
          <a:xfrm>
            <a:off x="6184900" y="3276600"/>
            <a:ext cx="139700" cy="139700"/>
          </a:xfrm>
          <a:prstGeom prst="ellipse">
            <a:avLst/>
          </a:prstGeom>
          <a:solidFill>
            <a:srgbClr val="E8AC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19_dot4"/>
          <p:cNvSpPr/>
          <p:nvPr/>
        </p:nvSpPr>
        <p:spPr>
          <a:xfrm>
            <a:off x="9105900" y="3162300"/>
            <a:ext cx="139700" cy="139700"/>
          </a:xfrm>
          <a:prstGeom prst="ellipse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19_band"/>
          <p:cNvSpPr/>
          <p:nvPr/>
        </p:nvSpPr>
        <p:spPr>
          <a:xfrm>
            <a:off x="368300" y="5562600"/>
            <a:ext cx="11455400" cy="939800"/>
          </a:xfrm>
          <a:prstGeom prst="roundRect">
            <a:avLst/>
          </a:prstGeom>
          <a:solidFill>
            <a:srgbClr val="0D325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19_steps"/>
          <p:cNvSpPr/>
          <p:nvPr/>
        </p:nvSpPr>
        <p:spPr>
          <a:xfrm>
            <a:off x="457200" y="3263900"/>
            <a:ext cx="11341100" cy="317500"/>
          </a:xfrm>
          <a:custGeom>
            <a:avLst/>
            <a:gdLst/>
            <a:ahLst/>
            <a:cxnLst/>
            <a:rect l="0" t="0" r="r" b="b"/>
            <a:pathLst>
              <a:path w="893000" h="25000">
                <a:moveTo>
                  <a:pt x="0" y="25000"/>
                </a:moveTo>
                <a:lnTo>
                  <a:pt x="218000" y="25000"/>
                </a:lnTo>
                <a:lnTo>
                  <a:pt x="230000" y="15000"/>
                </a:lnTo>
                <a:lnTo>
                  <a:pt x="445000" y="15000"/>
                </a:lnTo>
                <a:lnTo>
                  <a:pt x="457000" y="8000"/>
                </a:lnTo>
                <a:lnTo>
                  <a:pt x="676000" y="8000"/>
                </a:lnTo>
                <a:lnTo>
                  <a:pt x="688000" y="0"/>
                </a:lnTo>
                <a:lnTo>
                  <a:pt x="893000" y="0"/>
                </a:lnTo>
              </a:path>
            </a:pathLst>
          </a:custGeom>
          <a:noFill/>
          <a:ln w="38100">
            <a:solidFill>
              <a:srgbClr val="168C8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19_flowA"/>
          <p:cNvSpPr/>
          <p:nvPr/>
        </p:nvSpPr>
        <p:spPr>
          <a:xfrm>
            <a:off x="1981200" y="2781300"/>
            <a:ext cx="152400" cy="12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19_flowB"/>
          <p:cNvSpPr/>
          <p:nvPr/>
        </p:nvSpPr>
        <p:spPr>
          <a:xfrm>
            <a:off x="2260600" y="2781300"/>
            <a:ext cx="152400" cy="12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19_flowC"/>
          <p:cNvSpPr/>
          <p:nvPr/>
        </p:nvSpPr>
        <p:spPr>
          <a:xfrm>
            <a:off x="2120900" y="3060700"/>
            <a:ext cx="152400" cy="12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19_flowLine1"/>
          <p:cNvSpPr/>
          <p:nvPr/>
        </p:nvSpPr>
        <p:spPr>
          <a:xfrm>
            <a:off x="2044700" y="2933700"/>
            <a:ext cx="3048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19_flowLine2"/>
          <p:cNvSpPr/>
          <p:nvPr/>
        </p:nvSpPr>
        <p:spPr>
          <a:xfrm>
            <a:off x="2184400" y="2933700"/>
            <a:ext cx="25400" cy="12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19_personHead"/>
          <p:cNvSpPr/>
          <p:nvPr/>
        </p:nvSpPr>
        <p:spPr>
          <a:xfrm>
            <a:off x="4953000" y="2552700"/>
            <a:ext cx="190500" cy="190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19_personBody"/>
          <p:cNvSpPr/>
          <p:nvPr/>
        </p:nvSpPr>
        <p:spPr>
          <a:xfrm>
            <a:off x="4864100" y="2781300"/>
            <a:ext cx="368300" cy="2413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19_bookL"/>
          <p:cNvSpPr/>
          <p:nvPr/>
        </p:nvSpPr>
        <p:spPr>
          <a:xfrm>
            <a:off x="10579100" y="2222500"/>
            <a:ext cx="228600" cy="368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19_bookR"/>
          <p:cNvSpPr/>
          <p:nvPr/>
        </p:nvSpPr>
        <p:spPr>
          <a:xfrm>
            <a:off x="10845800" y="2222500"/>
            <a:ext cx="228600" cy="368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19_bookline837_182"/>
          <p:cNvSpPr/>
          <p:nvPr/>
        </p:nvSpPr>
        <p:spPr>
          <a:xfrm>
            <a:off x="10629900" y="2311400"/>
            <a:ext cx="127000" cy="19050"/>
          </a:xfrm>
          <a:prstGeom prst="rect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19_bookline837_189"/>
          <p:cNvSpPr/>
          <p:nvPr/>
        </p:nvSpPr>
        <p:spPr>
          <a:xfrm>
            <a:off x="10629900" y="2400300"/>
            <a:ext cx="127000" cy="19050"/>
          </a:xfrm>
          <a:prstGeom prst="rect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19_bookline837_196"/>
          <p:cNvSpPr/>
          <p:nvPr/>
        </p:nvSpPr>
        <p:spPr>
          <a:xfrm>
            <a:off x="10629900" y="2489200"/>
            <a:ext cx="127000" cy="19050"/>
          </a:xfrm>
          <a:prstGeom prst="rect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p19_bookline858_182"/>
          <p:cNvSpPr/>
          <p:nvPr/>
        </p:nvSpPr>
        <p:spPr>
          <a:xfrm>
            <a:off x="10896600" y="2311400"/>
            <a:ext cx="127000" cy="19050"/>
          </a:xfrm>
          <a:prstGeom prst="rect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p19_bookline858_189"/>
          <p:cNvSpPr/>
          <p:nvPr/>
        </p:nvSpPr>
        <p:spPr>
          <a:xfrm>
            <a:off x="10896600" y="2400300"/>
            <a:ext cx="127000" cy="19050"/>
          </a:xfrm>
          <a:prstGeom prst="rect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p19_bookline858_196"/>
          <p:cNvSpPr/>
          <p:nvPr/>
        </p:nvSpPr>
        <p:spPr>
          <a:xfrm>
            <a:off x="10896600" y="2489200"/>
            <a:ext cx="127000" cy="19050"/>
          </a:xfrm>
          <a:prstGeom prst="rect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p19_shield"/>
          <p:cNvSpPr/>
          <p:nvPr/>
        </p:nvSpPr>
        <p:spPr>
          <a:xfrm>
            <a:off x="7721600" y="2349500"/>
            <a:ext cx="444500" cy="495300"/>
          </a:xfrm>
          <a:custGeom>
            <a:avLst/>
            <a:gdLst/>
            <a:ahLst/>
            <a:cxnLst/>
            <a:rect l="0" t="0" r="r" b="b"/>
            <a:pathLst>
              <a:path w="35000" h="39000">
                <a:moveTo>
                  <a:pt x="0" y="4000"/>
                </a:moveTo>
                <a:lnTo>
                  <a:pt x="17500" y="0"/>
                </a:lnTo>
                <a:lnTo>
                  <a:pt x="35000" y="4000"/>
                </a:lnTo>
                <a:lnTo>
                  <a:pt x="33000" y="24000"/>
                </a:lnTo>
                <a:lnTo>
                  <a:pt x="17500" y="39000"/>
                </a:lnTo>
                <a:lnTo>
                  <a:pt x="2000" y="24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p19_check"/>
          <p:cNvSpPr/>
          <p:nvPr/>
        </p:nvSpPr>
        <p:spPr>
          <a:xfrm>
            <a:off x="7823200" y="2489200"/>
            <a:ext cx="254000" cy="177800"/>
          </a:xfrm>
          <a:custGeom>
            <a:avLst/>
            <a:gdLst/>
            <a:ahLst/>
            <a:cxnLst/>
            <a:rect l="0" t="0" r="r" b="b"/>
            <a:pathLst>
              <a:path w="20000" h="14000">
                <a:moveTo>
                  <a:pt x="0" y="6000"/>
                </a:moveTo>
                <a:lnTo>
                  <a:pt x="7000" y="14000"/>
                </a:lnTo>
                <a:lnTo>
                  <a:pt x="20000" y="0"/>
                </a:lnTo>
              </a:path>
            </a:pathLst>
          </a:custGeom>
          <a:noFill/>
          <a:ln w="38100">
            <a:solidFill>
              <a:srgbClr val="DCA2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p19_kicker_node"/>
          <p:cNvSpPr txBox="1"/>
          <p:nvPr/>
        </p:nvSpPr>
        <p:spPr>
          <a:xfrm>
            <a:off x="444500" y="241300"/>
            <a:ext cx="11214100" cy="3683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 i="0" spc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rPr>
              <a:t>面向管理层的启示</a:t>
            </a:r>
          </a:p>
        </p:txBody>
      </p:sp>
      <p:sp>
        <p:nvSpPr>
          <p:cNvPr id="31" name="p19_title_node"/>
          <p:cNvSpPr txBox="1"/>
          <p:nvPr/>
        </p:nvSpPr>
        <p:spPr>
          <a:xfrm>
            <a:off x="431800" y="787400"/>
            <a:ext cx="11341100" cy="939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行动重点：流程、人才与责任一起重构</a:t>
            </a:r>
          </a:p>
        </p:txBody>
      </p:sp>
      <p:sp>
        <p:nvSpPr>
          <p:cNvPr id="32" name="p19_n1_node"/>
          <p:cNvSpPr txBox="1"/>
          <p:nvPr/>
        </p:nvSpPr>
        <p:spPr>
          <a:xfrm>
            <a:off x="558800" y="2527300"/>
            <a:ext cx="1066800" cy="711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200" b="1" i="0">
                <a:solidFill>
                  <a:srgbClr val="BED9D1"/>
                </a:solidFill>
                <a:latin typeface="Arial"/>
                <a:ea typeface="Arial"/>
                <a:cs typeface="Arial"/>
              </a:defRPr>
            </a:pPr>
            <a:r>
              <a:rPr sz="4200" b="1" i="0" spc="0">
                <a:solidFill>
                  <a:srgbClr val="BED9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3" name="p19_n2_node"/>
          <p:cNvSpPr txBox="1"/>
          <p:nvPr/>
        </p:nvSpPr>
        <p:spPr>
          <a:xfrm>
            <a:off x="3441700" y="2336800"/>
            <a:ext cx="1066800" cy="711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200" b="1" i="0">
                <a:solidFill>
                  <a:srgbClr val="BED9D1"/>
                </a:solidFill>
                <a:latin typeface="Arial"/>
                <a:ea typeface="Arial"/>
                <a:cs typeface="Arial"/>
              </a:defRPr>
            </a:pPr>
            <a:r>
              <a:rPr sz="4200" b="1" i="0" spc="0">
                <a:solidFill>
                  <a:srgbClr val="BED9D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4" name="p19_n3_node"/>
          <p:cNvSpPr txBox="1"/>
          <p:nvPr/>
        </p:nvSpPr>
        <p:spPr>
          <a:xfrm>
            <a:off x="6324600" y="2146300"/>
            <a:ext cx="1066800" cy="711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200" b="1" i="0">
                <a:solidFill>
                  <a:srgbClr val="BED9D1"/>
                </a:solidFill>
                <a:latin typeface="Arial"/>
                <a:ea typeface="Arial"/>
                <a:cs typeface="Arial"/>
              </a:defRPr>
            </a:pPr>
            <a:r>
              <a:rPr sz="4200" b="1" i="0" spc="0">
                <a:solidFill>
                  <a:srgbClr val="BED9D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5" name="p19_n4_node"/>
          <p:cNvSpPr txBox="1"/>
          <p:nvPr/>
        </p:nvSpPr>
        <p:spPr>
          <a:xfrm>
            <a:off x="9207500" y="1955800"/>
            <a:ext cx="1066800" cy="711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200" b="1" i="0">
                <a:solidFill>
                  <a:srgbClr val="BED9D1"/>
                </a:solidFill>
                <a:latin typeface="Arial"/>
                <a:ea typeface="Arial"/>
                <a:cs typeface="Arial"/>
              </a:defRPr>
            </a:pPr>
            <a:r>
              <a:rPr sz="4200" b="1" i="0" spc="0">
                <a:solidFill>
                  <a:srgbClr val="BED9D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6" name="p19_h1_node"/>
          <p:cNvSpPr txBox="1"/>
          <p:nvPr/>
        </p:nvSpPr>
        <p:spPr>
          <a:xfrm>
            <a:off x="533400" y="3759200"/>
            <a:ext cx="2667000" cy="520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重新设计流程</a:t>
            </a:r>
          </a:p>
        </p:txBody>
      </p:sp>
      <p:sp>
        <p:nvSpPr>
          <p:cNvPr id="37" name="p19_d1_node"/>
          <p:cNvSpPr txBox="1"/>
          <p:nvPr/>
        </p:nvSpPr>
        <p:spPr>
          <a:xfrm>
            <a:off x="533400" y="4330700"/>
            <a:ext cx="2667000" cy="939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围绕业务结果组合人、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智能体与机器人</a:t>
            </a:r>
          </a:p>
        </p:txBody>
      </p:sp>
      <p:sp>
        <p:nvSpPr>
          <p:cNvPr id="38" name="p19_h2_node"/>
          <p:cNvSpPr txBox="1"/>
          <p:nvPr/>
        </p:nvSpPr>
        <p:spPr>
          <a:xfrm>
            <a:off x="3429000" y="3568700"/>
            <a:ext cx="2717800" cy="584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扩大AI应用素养</a:t>
            </a:r>
          </a:p>
        </p:txBody>
      </p:sp>
      <p:sp>
        <p:nvSpPr>
          <p:cNvPr id="39" name="p19_d2_node"/>
          <p:cNvSpPr txBox="1"/>
          <p:nvPr/>
        </p:nvSpPr>
        <p:spPr>
          <a:xfrm>
            <a:off x="3429000" y="4178300"/>
            <a:ext cx="2705100" cy="939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让业务人员能使用、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解释并改进AI输出</a:t>
            </a:r>
          </a:p>
        </p:txBody>
      </p:sp>
      <p:sp>
        <p:nvSpPr>
          <p:cNvPr id="40" name="p19_h3_node"/>
          <p:cNvSpPr txBox="1"/>
          <p:nvPr/>
        </p:nvSpPr>
        <p:spPr>
          <a:xfrm>
            <a:off x="6324600" y="3365500"/>
            <a:ext cx="2717800" cy="584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保留判断与责任</a:t>
            </a:r>
          </a:p>
        </p:txBody>
      </p:sp>
      <p:sp>
        <p:nvSpPr>
          <p:cNvPr id="41" name="p19_d3_node"/>
          <p:cNvSpPr txBox="1"/>
          <p:nvPr/>
        </p:nvSpPr>
        <p:spPr>
          <a:xfrm>
            <a:off x="6324600" y="3975100"/>
            <a:ext cx="2717800" cy="939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为异常、复核和高影响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决策设置人工角色</a:t>
            </a:r>
          </a:p>
        </p:txBody>
      </p:sp>
      <p:sp>
        <p:nvSpPr>
          <p:cNvPr id="42" name="p19_h4_node"/>
          <p:cNvSpPr txBox="1"/>
          <p:nvPr/>
        </p:nvSpPr>
        <p:spPr>
          <a:xfrm>
            <a:off x="9207500" y="3187700"/>
            <a:ext cx="2667000" cy="558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持续学习与支持</a:t>
            </a:r>
          </a:p>
        </p:txBody>
      </p:sp>
      <p:sp>
        <p:nvSpPr>
          <p:cNvPr id="43" name="p19_d4_node"/>
          <p:cNvSpPr txBox="1"/>
          <p:nvPr/>
        </p:nvSpPr>
        <p:spPr>
          <a:xfrm>
            <a:off x="9207500" y="3822700"/>
            <a:ext cx="2717800" cy="11049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企业、教育者与政策制定者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共同帮助劳动者适应</a:t>
            </a:r>
          </a:p>
        </p:txBody>
      </p:sp>
      <p:sp>
        <p:nvSpPr>
          <p:cNvPr id="44" name="p19_takeaway_node"/>
          <p:cNvSpPr txBox="1"/>
          <p:nvPr/>
        </p:nvSpPr>
        <p:spPr>
          <a:xfrm>
            <a:off x="1219200" y="5892800"/>
            <a:ext cx="99187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1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00" b="1" i="0" spc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从单点任务提效，走向端到端价值创造</a:t>
            </a:r>
          </a:p>
        </p:txBody>
      </p:sp>
      <p:sp>
        <p:nvSpPr>
          <p:cNvPr id="45" name="p19_footer_node"/>
          <p:cNvSpPr txBox="1"/>
          <p:nvPr/>
        </p:nvSpPr>
        <p:spPr>
          <a:xfrm>
            <a:off x="431800" y="6565900"/>
            <a:ext cx="10566400" cy="203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 i="0" spc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rPr>
              <a:t>来源：麦肯锡全球研究院，2026.07 · PDF第31、34、37页</a:t>
            </a:r>
          </a:p>
        </p:txBody>
      </p:sp>
      <p:sp>
        <p:nvSpPr>
          <p:cNvPr id="46" name="p19_page_node"/>
          <p:cNvSpPr txBox="1"/>
          <p:nvPr/>
        </p:nvSpPr>
        <p:spPr>
          <a:xfrm>
            <a:off x="11201400" y="6565900"/>
            <a:ext cx="558800" cy="203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D6B78"/>
                </a:solidFill>
                <a:latin typeface="Arial"/>
                <a:ea typeface="Arial"/>
                <a:cs typeface="Arial"/>
              </a:defRPr>
            </a:pPr>
            <a:r>
              <a:rPr sz="900" b="0" i="0" spc="0">
                <a:solidFill>
                  <a:srgbClr val="5D6B78"/>
                </a:solidFill>
                <a:latin typeface="Arial"/>
                <a:ea typeface="Arial"/>
                <a:cs typeface="Arial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20_header_rule"/>
          <p:cNvSpPr/>
          <p:nvPr/>
        </p:nvSpPr>
        <p:spPr>
          <a:xfrm>
            <a:off x="444500" y="622300"/>
            <a:ext cx="673100" cy="25400"/>
          </a:xfrm>
          <a:prstGeom prst="rect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20_i1"/>
          <p:cNvSpPr/>
          <p:nvPr/>
        </p:nvSpPr>
        <p:spPr>
          <a:xfrm>
            <a:off x="495300" y="2006600"/>
            <a:ext cx="685800" cy="685800"/>
          </a:xfrm>
          <a:prstGeom prst="ellipse">
            <a:avLst/>
          </a:prstGeom>
          <a:solidFill>
            <a:srgbClr val="1732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p20_i2"/>
          <p:cNvSpPr/>
          <p:nvPr/>
        </p:nvSpPr>
        <p:spPr>
          <a:xfrm>
            <a:off x="495300" y="3225800"/>
            <a:ext cx="685800" cy="685800"/>
          </a:xfrm>
          <a:prstGeom prst="ellipse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p20_i3"/>
          <p:cNvSpPr/>
          <p:nvPr/>
        </p:nvSpPr>
        <p:spPr>
          <a:xfrm>
            <a:off x="495300" y="4533900"/>
            <a:ext cx="685800" cy="685800"/>
          </a:xfrm>
          <a:prstGeom prst="ellipse">
            <a:avLst/>
          </a:prstGeom>
          <a:solidFill>
            <a:srgbClr val="1732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20_i4"/>
          <p:cNvSpPr/>
          <p:nvPr/>
        </p:nvSpPr>
        <p:spPr>
          <a:xfrm>
            <a:off x="495300" y="5867400"/>
            <a:ext cx="685800" cy="685800"/>
          </a:xfrm>
          <a:prstGeom prst="ellipse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20_l1"/>
          <p:cNvSpPr/>
          <p:nvPr/>
        </p:nvSpPr>
        <p:spPr>
          <a:xfrm>
            <a:off x="457200" y="2959100"/>
            <a:ext cx="6680200" cy="12700"/>
          </a:xfrm>
          <a:prstGeom prst="rect">
            <a:avLst/>
          </a:prstGeom>
          <a:solidFill>
            <a:srgbClr val="C2DC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20_l2"/>
          <p:cNvSpPr/>
          <p:nvPr/>
        </p:nvSpPr>
        <p:spPr>
          <a:xfrm>
            <a:off x="457200" y="4267200"/>
            <a:ext cx="6680200" cy="12700"/>
          </a:xfrm>
          <a:prstGeom prst="rect">
            <a:avLst/>
          </a:prstGeom>
          <a:solidFill>
            <a:srgbClr val="C2DC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20_l3"/>
          <p:cNvSpPr/>
          <p:nvPr/>
        </p:nvSpPr>
        <p:spPr>
          <a:xfrm>
            <a:off x="457200" y="5575300"/>
            <a:ext cx="6680200" cy="12700"/>
          </a:xfrm>
          <a:prstGeom prst="rect">
            <a:avLst/>
          </a:prstGeom>
          <a:solidFill>
            <a:srgbClr val="C2DC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20_tr"/>
          <p:cNvSpPr/>
          <p:nvPr/>
        </p:nvSpPr>
        <p:spPr>
          <a:xfrm>
            <a:off x="7823200" y="2578100"/>
            <a:ext cx="3594100" cy="2933700"/>
          </a:xfrm>
          <a:prstGeom prst="triangle">
            <a:avLst/>
          </a:prstGeom>
          <a:solidFill>
            <a:srgbClr val="DDEF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20_people"/>
          <p:cNvSpPr/>
          <p:nvPr/>
        </p:nvSpPr>
        <p:spPr>
          <a:xfrm>
            <a:off x="8851900" y="2057400"/>
            <a:ext cx="1511300" cy="1511300"/>
          </a:xfrm>
          <a:prstGeom prst="ellipse">
            <a:avLst/>
          </a:prstGeom>
          <a:solidFill>
            <a:srgbClr val="1732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20_agent"/>
          <p:cNvSpPr/>
          <p:nvPr/>
        </p:nvSpPr>
        <p:spPr>
          <a:xfrm>
            <a:off x="7416800" y="4495800"/>
            <a:ext cx="1511300" cy="1511300"/>
          </a:xfrm>
          <a:prstGeom prst="ellipse">
            <a:avLst/>
          </a:prstGeom>
          <a:solidFill>
            <a:srgbClr val="168C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20_robot"/>
          <p:cNvSpPr/>
          <p:nvPr/>
        </p:nvSpPr>
        <p:spPr>
          <a:xfrm>
            <a:off x="10261600" y="4495800"/>
            <a:ext cx="1511300" cy="1511300"/>
          </a:xfrm>
          <a:prstGeom prst="ellipse">
            <a:avLst/>
          </a:prstGeom>
          <a:solidFill>
            <a:srgbClr val="E8AC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20_kicker_node"/>
          <p:cNvSpPr txBox="1"/>
          <p:nvPr/>
        </p:nvSpPr>
        <p:spPr>
          <a:xfrm>
            <a:off x="444500" y="241300"/>
            <a:ext cx="11214100" cy="3683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1" i="0" spc="0">
                <a:solidFill>
                  <a:srgbClr val="168C87"/>
                </a:solidFill>
                <a:latin typeface="Hiragino Sans GB"/>
                <a:ea typeface="Hiragino Sans GB"/>
                <a:cs typeface="Hiragino Sans GB"/>
              </a:rPr>
              <a:t>来源与阅读说明</a:t>
            </a:r>
          </a:p>
        </p:txBody>
      </p:sp>
      <p:sp>
        <p:nvSpPr>
          <p:cNvPr id="15" name="p20_title_node"/>
          <p:cNvSpPr txBox="1"/>
          <p:nvPr/>
        </p:nvSpPr>
        <p:spPr>
          <a:xfrm>
            <a:off x="431800" y="787400"/>
            <a:ext cx="11341100" cy="939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5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5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正确使用结论，需要保留这些边界</a:t>
            </a:r>
          </a:p>
        </p:txBody>
      </p:sp>
      <p:sp>
        <p:nvSpPr>
          <p:cNvPr id="16" name="p20_h1_node"/>
          <p:cNvSpPr txBox="1"/>
          <p:nvPr/>
        </p:nvSpPr>
        <p:spPr>
          <a:xfrm>
            <a:off x="1498600" y="1841500"/>
            <a:ext cx="5461000" cy="4953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技术潜力</a:t>
            </a:r>
          </a:p>
        </p:txBody>
      </p:sp>
      <p:sp>
        <p:nvSpPr>
          <p:cNvPr id="17" name="p20_d1_node"/>
          <p:cNvSpPr txBox="1"/>
          <p:nvPr/>
        </p:nvSpPr>
        <p:spPr>
          <a:xfrm>
            <a:off x="1498600" y="2349500"/>
            <a:ext cx="5651500" cy="5461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现有能力下可自动化的工时，不预测失业</a:t>
            </a:r>
          </a:p>
        </p:txBody>
      </p:sp>
      <p:sp>
        <p:nvSpPr>
          <p:cNvPr id="18" name="p20_h2_node"/>
          <p:cNvSpPr txBox="1"/>
          <p:nvPr/>
        </p:nvSpPr>
        <p:spPr>
          <a:xfrm>
            <a:off x="1498600" y="3060700"/>
            <a:ext cx="5461000" cy="4953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经济价值</a:t>
            </a:r>
          </a:p>
        </p:txBody>
      </p:sp>
      <p:sp>
        <p:nvSpPr>
          <p:cNvPr id="19" name="p20_d2_node"/>
          <p:cNvSpPr txBox="1"/>
          <p:nvPr/>
        </p:nvSpPr>
        <p:spPr>
          <a:xfrm>
            <a:off x="1498600" y="3556000"/>
            <a:ext cx="5651500" cy="6731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2030采用情景的组织层面时间价值，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非净收益或GDP增量</a:t>
            </a:r>
          </a:p>
        </p:txBody>
      </p:sp>
      <p:sp>
        <p:nvSpPr>
          <p:cNvPr id="20" name="p20_h3_node"/>
          <p:cNvSpPr txBox="1"/>
          <p:nvPr/>
        </p:nvSpPr>
        <p:spPr>
          <a:xfrm>
            <a:off x="1498600" y="4368800"/>
            <a:ext cx="5461000" cy="4953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技能需求</a:t>
            </a:r>
          </a:p>
        </p:txBody>
      </p:sp>
      <p:sp>
        <p:nvSpPr>
          <p:cNvPr id="21" name="p20_d3_node"/>
          <p:cNvSpPr txBox="1"/>
          <p:nvPr/>
        </p:nvSpPr>
        <p:spPr>
          <a:xfrm>
            <a:off x="1498600" y="4876800"/>
            <a:ext cx="5651500" cy="6731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招聘提及门槛下的职业覆盖，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不代表每位员工已掌握AI</a:t>
            </a:r>
          </a:p>
        </p:txBody>
      </p:sp>
      <p:sp>
        <p:nvSpPr>
          <p:cNvPr id="22" name="p20_h4_node"/>
          <p:cNvSpPr txBox="1"/>
          <p:nvPr/>
        </p:nvSpPr>
        <p:spPr>
          <a:xfrm>
            <a:off x="1498600" y="5702300"/>
            <a:ext cx="5461000" cy="4953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样本与差异</a:t>
            </a:r>
          </a:p>
        </p:txBody>
      </p:sp>
      <p:sp>
        <p:nvSpPr>
          <p:cNvPr id="23" name="p20_d4_node"/>
          <p:cNvSpPr txBox="1"/>
          <p:nvPr/>
        </p:nvSpPr>
        <p:spPr>
          <a:xfrm>
            <a:off x="1498600" y="6197600"/>
            <a:ext cx="5651500" cy="4699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技能仅覆盖五国；正文与国家页部分门槛有差异</a:t>
            </a:r>
          </a:p>
        </p:txBody>
      </p:sp>
      <p:sp>
        <p:nvSpPr>
          <p:cNvPr id="24" name="p20_p_node"/>
          <p:cNvSpPr txBox="1"/>
          <p:nvPr/>
        </p:nvSpPr>
        <p:spPr>
          <a:xfrm>
            <a:off x="8839200" y="2463800"/>
            <a:ext cx="1562100" cy="660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00" b="1" i="0" spc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人</a:t>
            </a:r>
          </a:p>
        </p:txBody>
      </p:sp>
      <p:sp>
        <p:nvSpPr>
          <p:cNvPr id="25" name="p20_a_node"/>
          <p:cNvSpPr txBox="1"/>
          <p:nvPr/>
        </p:nvSpPr>
        <p:spPr>
          <a:xfrm>
            <a:off x="7416800" y="4914900"/>
            <a:ext cx="1562100" cy="660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 i="0" spc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智能体</a:t>
            </a:r>
          </a:p>
        </p:txBody>
      </p:sp>
      <p:sp>
        <p:nvSpPr>
          <p:cNvPr id="26" name="p20_r_node"/>
          <p:cNvSpPr txBox="1"/>
          <p:nvPr/>
        </p:nvSpPr>
        <p:spPr>
          <a:xfrm>
            <a:off x="10248900" y="4914900"/>
            <a:ext cx="1562100" cy="660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 i="0" spc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机器人</a:t>
            </a:r>
          </a:p>
        </p:txBody>
      </p:sp>
      <p:sp>
        <p:nvSpPr>
          <p:cNvPr id="27" name="p20_center_node"/>
          <p:cNvSpPr txBox="1"/>
          <p:nvPr/>
        </p:nvSpPr>
        <p:spPr>
          <a:xfrm>
            <a:off x="8420100" y="3695700"/>
            <a:ext cx="2324100" cy="5461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人机协作</a:t>
            </a:r>
          </a:p>
        </p:txBody>
      </p:sp>
      <p:sp>
        <p:nvSpPr>
          <p:cNvPr id="28" name="p20_center2_node"/>
          <p:cNvSpPr txBox="1"/>
          <p:nvPr/>
        </p:nvSpPr>
        <p:spPr>
          <a:xfrm>
            <a:off x="8407400" y="4229100"/>
            <a:ext cx="2349500" cy="774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在明确边界内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00" b="0" i="0" spc="0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更好创造价值</a:t>
            </a:r>
          </a:p>
        </p:txBody>
      </p:sp>
      <p:sp>
        <p:nvSpPr>
          <p:cNvPr id="29" name="p20_footer_node"/>
          <p:cNvSpPr txBox="1"/>
          <p:nvPr/>
        </p:nvSpPr>
        <p:spPr>
          <a:xfrm>
            <a:off x="431800" y="6680200"/>
            <a:ext cx="1056640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50" b="0" i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i="0" spc="0">
                <a:solidFill>
                  <a:srgbClr val="5D6B78"/>
                </a:solidFill>
                <a:latin typeface="Hiragino Sans GB"/>
                <a:ea typeface="Hiragino Sans GB"/>
                <a:cs typeface="Hiragino Sans GB"/>
              </a:rPr>
              <a:t>来源：麦肯锡全球研究院，2026.07 · PDF第20、25、38、39、45、50、55、60、65页</a:t>
            </a:r>
          </a:p>
        </p:txBody>
      </p:sp>
      <p:sp>
        <p:nvSpPr>
          <p:cNvPr id="30" name="p20_page_node"/>
          <p:cNvSpPr txBox="1"/>
          <p:nvPr/>
        </p:nvSpPr>
        <p:spPr>
          <a:xfrm>
            <a:off x="11201400" y="6680200"/>
            <a:ext cx="55880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50" b="0" i="0">
                <a:solidFill>
                  <a:srgbClr val="5D6B78"/>
                </a:solidFill>
                <a:latin typeface="Arial"/>
                <a:ea typeface="Arial"/>
                <a:cs typeface="Arial"/>
              </a:defRPr>
            </a:pPr>
            <a:r>
              <a:rPr sz="750" b="0" i="0" spc="0">
                <a:solidFill>
                  <a:srgbClr val="5D6B78"/>
                </a:solidFill>
                <a:latin typeface="Arial"/>
                <a:ea typeface="Arial"/>
                <a:cs typeface="Arial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latin-america-ai-zh-20260920</dc:title>
  <dc:subject/>
  <dc:creator>PPT Smith declarative renderer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