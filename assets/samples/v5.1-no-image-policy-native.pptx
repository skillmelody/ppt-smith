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播提示：从创业者最关心的成本、客户和成长展开。三年计划将人工智能中小企业创业创新与人工智能赋能中小企业高质量发展相结合，重点在行业应用、数据服务、智能算力等领域。降门槛、快验证、促成长是本次作者对四条政策主线的概括，不是源文件小标题。来源：用户提供的《人工智能中小企业创业支持计划（2026—2028年）》PDF，第1—2页总体要求，并综述第2—7页重点工作。源文件共7页，本稿已通读全文。范围：仅作文件内容摘要，没有核实发布机关、发布日期、现行效力或后续地方细则；不将PDF元数据日期当作发布日期。</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播提示：先讲企业目标，再讲公共服务底座。原文第1—2页为“通过三年”，新培育科技和创新型中小企业1万家以上，专精特新“小巨人”企业突破2000家；并提出涌现一批瞪羚企业和独角兽企业，没有为后二者给出数量。10个科技型企业孵化器和10个国家中小企业公共服务示范平台（基地）为高标准建设；10个国家级中小企业特色产业集群为新培育。不要将三个10相加后解读为30项企业补贴，也不要把“小巨人”突破2000家改写为新培育2000家。第1页明确梯次发展方向。本页大数字是原生文字，无虚构比例或趋势图。来源：《计划》PDF，第1—2页。</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播提示：本文顺序原为算力、数据、场景。本页为创业者按“先验证客户问题，再匹配资源”的作者建议重排，不是官方申请次序。政策第1项优化中国中小企业服务网算力资源对接专区和中国算力平台中小企业专区；第2项围绕智能制造、材料研发、生物医药等领域建设高质量行业数据集，并在合规前提下挖掘数据资源；第3项包括“百场万企”融通对接、“深度行”、揭榜挂帅和人工智能创业场景合伙人。底部准备清单为作者建议。需提醒听众：数据开放不代表无条件使用，文件也没有承诺免费算力。来源：《计划》PDF，第2—3页，第1—3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播提示：起步、验证、扩张是对第4—8项的作者映射，并不是政府规定的三个资格等级，也不要求依次参加。第4项包容支持一人公司、超级个体，培育智能原生企业，鼓励开源贡献者和智能体开发者探索商业化，支持科研成果创业。第5项强调孵化服务从办公租赁扩展至算力、数据、场景，探索服务费、租金入股等机制。第6项依托创客中国、中国创新创业大赛等办专题赛，为具有较高成长潜力的获奖团队提供多元支持，不能解读为参赛即可获得资金。第7项支持特色产业集群及高新区培育。第8项“智赋万企”供需对接与“小快轻准”产品方向。本页省略部分举例，完整范围保留在本备注。来源：《计划》PDF，第3—5页，第4—8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播提示：开源降低重复研发的成本，商业化仍需面向具体行业和专业场景形成价值。第9—11项支持国家级人工智能开源社区AtomGit，推广开源模型、开发框架、工具链、数据集，并提供选型、微调适配、性能评测、推理部署等专业服务，鼓励商业转化。右侧第12—15项涵盖人才、融资、合规与国际合作。融资是发挥基金引导作用、带动社会资本，并拟在优质中小企业梯度培育平台融资专区增设AI投融资专栏和线上路演；算力入股、数据入股、投孵联动属于探索方式，不是企业可以无条件领取的资金。合规页内列举知识产权、算法备案、科技伦理审查和安全测试评估，具体适用义务仍应结合业务另行确认。本稿不提供法律判断。来源：《计划》PDF，第5—7页，第9—15项。</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播提示：这一页是作者建议，不是源文件规定的90天任务，更不是官方申报流程。0—30天建立场景需求及资源清单；31—60天结合孵化与开源资源进行最小原型验证；61—90天用效果、成本、交付和合规证据支撑客户、赛事或融资对接。应根据企业阶段调整节奏。源文件第7页末段要求地方主管部门推动措施落地，并表示工业和信息化部将在优质中小企业梯度培育平台开设“人工智能中小企业创业支持”专栏，在中国中小企业服务网等平台加强政策宣传与服务。本页将这些主体和平台列作持续跟进入口，未声称专栏当前已经上线。PDF没有具体申报截止日、普惠资助额度或统一申请门槛；以后续主管部门和平台公告为准。来源：《计划》PDF，第2—7页，尤其第7页末段。</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p1-rule"/>
          <p:cNvSpPr/>
          <p:nvPr/>
        </p:nvSpPr>
        <p:spPr>
          <a:xfrm>
            <a:off x="609600" y="482600"/>
            <a:ext cx="584200" cy="63500"/>
          </a:xfrm>
          <a:prstGeom prst="rect">
            <a:avLst/>
          </a:prstGeom>
          <a:solidFill>
            <a:srgbClr val="DDF06F"/>
          </a:solidFill>
          <a:ln>
            <a:noFill/>
          </a:ln>
          <a:effectLst/>
        </p:spPr>
        <p:txBody>
          <a:bodyPr rtlCol="0" anchor="ctr"/>
          <a:lstStyle/>
          <a:p>
            <a:pPr algn="ctr"/>
          </a:p>
        </p:txBody>
      </p:sp>
      <p:sp>
        <p:nvSpPr>
          <p:cNvPr id="3" name="p1-kicker-node"/>
          <p:cNvSpPr txBox="1"/>
          <p:nvPr/>
        </p:nvSpPr>
        <p:spPr>
          <a:xfrm>
            <a:off x="609600" y="736600"/>
            <a:ext cx="7620000" cy="3048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DDF06F"/>
                </a:solidFill>
                <a:latin typeface="Arial Unicode MS"/>
                <a:ea typeface="Arial Unicode MS"/>
                <a:cs typeface="Arial Unicode MS"/>
              </a:defRPr>
            </a:pPr>
            <a:r>
              <a:rPr sz="1200" b="1" i="0" spc="0">
                <a:solidFill>
                  <a:srgbClr val="DDF06F"/>
                </a:solidFill>
                <a:latin typeface="Arial Unicode MS"/>
                <a:ea typeface="Arial Unicode MS"/>
                <a:cs typeface="Arial Unicode MS"/>
              </a:rPr>
              <a:t>2026—2028  /  创业者政策导航</a:t>
            </a:r>
          </a:p>
        </p:txBody>
      </p:sp>
      <p:sp>
        <p:nvSpPr>
          <p:cNvPr id="4" name="p1-title-node"/>
          <p:cNvSpPr txBox="1"/>
          <p:nvPr/>
        </p:nvSpPr>
        <p:spPr>
          <a:xfrm>
            <a:off x="609600" y="1371600"/>
            <a:ext cx="7493000" cy="1447800"/>
          </a:xfrm>
          <a:prstGeom prst="rect">
            <a:avLst/>
          </a:prstGeom>
          <a:noFill/>
          <a:ln>
            <a:noFill/>
          </a:ln>
          <a:effectLst/>
        </p:spPr>
        <p:txBody>
          <a:bodyPr wrap="square" anchor="t" lIns="0" rIns="0" tIns="0" bIns="0">
            <a:noAutofit/>
          </a:bodyPr>
          <a:lstStyle/>
          <a:p>
            <a:pPr algn="l">
              <a:lnSpc>
                <a:spcPct val="110000"/>
              </a:lnSpc>
              <a:spcBef>
                <a:spcPts val="0"/>
              </a:spcBef>
              <a:spcAft>
                <a:spcPts val="0"/>
              </a:spcAft>
              <a:defRPr sz="3600" b="1" i="0">
                <a:solidFill>
                  <a:srgbClr val="F4F0E7"/>
                </a:solidFill>
                <a:latin typeface="Arial Unicode MS"/>
                <a:ea typeface="Arial Unicode MS"/>
                <a:cs typeface="Arial Unicode MS"/>
              </a:defRPr>
            </a:pPr>
            <a:r>
              <a:rPr sz="3600" b="1" i="0" spc="0">
                <a:solidFill>
                  <a:srgbClr val="F4F0E7"/>
                </a:solidFill>
                <a:latin typeface="Arial Unicode MS"/>
                <a:ea typeface="Arial Unicode MS"/>
                <a:cs typeface="Arial Unicode MS"/>
              </a:rPr>
              <a:t>以更低的试错成本，</a:t>
            </a:r>
          </a:p>
          <a:p>
            <a:pPr algn="l">
              <a:lnSpc>
                <a:spcPct val="110000"/>
              </a:lnSpc>
              <a:spcBef>
                <a:spcPts val="0"/>
              </a:spcBef>
              <a:spcAft>
                <a:spcPts val="0"/>
              </a:spcAft>
              <a:defRPr sz="3600" b="1" i="0">
                <a:solidFill>
                  <a:srgbClr val="F4F0E7"/>
                </a:solidFill>
                <a:latin typeface="Arial Unicode MS"/>
                <a:ea typeface="Arial Unicode MS"/>
                <a:cs typeface="Arial Unicode MS"/>
              </a:defRPr>
            </a:pPr>
            <a:r>
              <a:rPr sz="3600" b="1" i="0" spc="0">
                <a:solidFill>
                  <a:srgbClr val="F4F0E7"/>
                </a:solidFill>
                <a:latin typeface="Arial Unicode MS"/>
                <a:ea typeface="Arial Unicode MS"/>
                <a:cs typeface="Arial Unicode MS"/>
              </a:rPr>
              <a:t>找到 AI 创业的行业入口</a:t>
            </a:r>
          </a:p>
        </p:txBody>
      </p:sp>
      <p:sp>
        <p:nvSpPr>
          <p:cNvPr id="5" name="p1-subtitle-node"/>
          <p:cNvSpPr txBox="1"/>
          <p:nvPr/>
        </p:nvSpPr>
        <p:spPr>
          <a:xfrm>
            <a:off x="609600" y="3035300"/>
            <a:ext cx="7112000" cy="3810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0" i="0">
                <a:solidFill>
                  <a:srgbClr val="DDF06F"/>
                </a:solidFill>
                <a:latin typeface="Arial Unicode MS"/>
                <a:ea typeface="Arial Unicode MS"/>
                <a:cs typeface="Arial Unicode MS"/>
              </a:defRPr>
            </a:pPr>
            <a:r>
              <a:rPr sz="1600" b="0" i="0" spc="0">
                <a:solidFill>
                  <a:srgbClr val="DDF06F"/>
                </a:solidFill>
                <a:latin typeface="Arial Unicode MS"/>
                <a:ea typeface="Arial Unicode MS"/>
                <a:cs typeface="Arial Unicode MS"/>
              </a:rPr>
              <a:t>《人工智能中小企业创业支持计划》要点解读</a:t>
            </a:r>
          </a:p>
        </p:txBody>
      </p:sp>
      <p:sp>
        <p:nvSpPr>
          <p:cNvPr id="6" name="p1-intro-node"/>
          <p:cNvSpPr txBox="1"/>
          <p:nvPr/>
        </p:nvSpPr>
        <p:spPr>
          <a:xfrm>
            <a:off x="609600" y="3733800"/>
            <a:ext cx="6858000" cy="8382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700" b="0" i="0">
                <a:solidFill>
                  <a:srgbClr val="F4F0E7"/>
                </a:solidFill>
                <a:latin typeface="Arial Unicode MS"/>
                <a:ea typeface="Arial Unicode MS"/>
                <a:cs typeface="Arial Unicode MS"/>
              </a:defRPr>
            </a:pPr>
            <a:r>
              <a:rPr sz="1700" b="0" i="0" spc="0">
                <a:solidFill>
                  <a:srgbClr val="F4F0E7"/>
                </a:solidFill>
                <a:latin typeface="Arial Unicode MS"/>
                <a:ea typeface="Arial Unicode MS"/>
                <a:cs typeface="Arial Unicode MS"/>
              </a:rPr>
              <a:t>政策把创业创新与 AI 赋能中小企业结合，</a:t>
            </a:r>
          </a:p>
          <a:p>
            <a:pPr algn="l">
              <a:lnSpc>
                <a:spcPct val="118000"/>
              </a:lnSpc>
              <a:spcBef>
                <a:spcPts val="0"/>
              </a:spcBef>
              <a:spcAft>
                <a:spcPts val="0"/>
              </a:spcAft>
              <a:defRPr sz="1700" b="0" i="0">
                <a:solidFill>
                  <a:srgbClr val="F4F0E7"/>
                </a:solidFill>
                <a:latin typeface="Arial Unicode MS"/>
                <a:ea typeface="Arial Unicode MS"/>
                <a:cs typeface="Arial Unicode MS"/>
              </a:defRPr>
            </a:pPr>
            <a:r>
              <a:rPr sz="1700" b="0" i="0" spc="0">
                <a:solidFill>
                  <a:srgbClr val="F4F0E7"/>
                </a:solidFill>
                <a:latin typeface="Arial Unicode MS"/>
                <a:ea typeface="Arial Unicode MS"/>
                <a:cs typeface="Arial Unicode MS"/>
              </a:rPr>
              <a:t>强化资源供给、主体培育与服务保障。</a:t>
            </a:r>
          </a:p>
        </p:txBody>
      </p:sp>
      <p:sp>
        <p:nvSpPr>
          <p:cNvPr id="7" name="p1-rail"/>
          <p:cNvSpPr/>
          <p:nvPr/>
        </p:nvSpPr>
        <p:spPr>
          <a:xfrm>
            <a:off x="8382000" y="1308100"/>
            <a:ext cx="25400" cy="3365500"/>
          </a:xfrm>
          <a:prstGeom prst="rect">
            <a:avLst/>
          </a:prstGeom>
          <a:solidFill>
            <a:srgbClr val="47705E"/>
          </a:solidFill>
          <a:ln>
            <a:noFill/>
          </a:ln>
          <a:effectLst/>
        </p:spPr>
        <p:txBody>
          <a:bodyPr rtlCol="0" anchor="ctr"/>
          <a:lstStyle/>
          <a:p>
            <a:pPr algn="ctr"/>
          </a:p>
        </p:txBody>
      </p:sp>
      <p:sp>
        <p:nvSpPr>
          <p:cNvPr id="8" name="p1-dot-a"/>
          <p:cNvSpPr/>
          <p:nvPr/>
        </p:nvSpPr>
        <p:spPr>
          <a:xfrm>
            <a:off x="8305800" y="1435100"/>
            <a:ext cx="177800" cy="177800"/>
          </a:xfrm>
          <a:prstGeom prst="ellipse">
            <a:avLst/>
          </a:prstGeom>
          <a:solidFill>
            <a:srgbClr val="DDF06F"/>
          </a:solidFill>
          <a:ln>
            <a:noFill/>
          </a:ln>
          <a:effectLst/>
        </p:spPr>
        <p:txBody>
          <a:bodyPr rtlCol="0" anchor="ctr"/>
          <a:lstStyle/>
          <a:p>
            <a:pPr algn="ctr"/>
          </a:p>
        </p:txBody>
      </p:sp>
      <p:sp>
        <p:nvSpPr>
          <p:cNvPr id="9" name="p1-dot-b"/>
          <p:cNvSpPr/>
          <p:nvPr/>
        </p:nvSpPr>
        <p:spPr>
          <a:xfrm>
            <a:off x="8305800" y="2794000"/>
            <a:ext cx="177800" cy="177800"/>
          </a:xfrm>
          <a:prstGeom prst="ellipse">
            <a:avLst/>
          </a:prstGeom>
          <a:solidFill>
            <a:srgbClr val="DDF06F"/>
          </a:solidFill>
          <a:ln>
            <a:noFill/>
          </a:ln>
          <a:effectLst/>
        </p:spPr>
        <p:txBody>
          <a:bodyPr rtlCol="0" anchor="ctr"/>
          <a:lstStyle/>
          <a:p>
            <a:pPr algn="ctr"/>
          </a:p>
        </p:txBody>
      </p:sp>
      <p:sp>
        <p:nvSpPr>
          <p:cNvPr id="10" name="p1-dot-c"/>
          <p:cNvSpPr/>
          <p:nvPr/>
        </p:nvSpPr>
        <p:spPr>
          <a:xfrm>
            <a:off x="8305800" y="4152900"/>
            <a:ext cx="177800" cy="177800"/>
          </a:xfrm>
          <a:prstGeom prst="ellipse">
            <a:avLst/>
          </a:prstGeom>
          <a:solidFill>
            <a:srgbClr val="DDF06F"/>
          </a:solidFill>
          <a:ln>
            <a:noFill/>
          </a:ln>
          <a:effectLst/>
        </p:spPr>
        <p:txBody>
          <a:bodyPr rtlCol="0" anchor="ctr"/>
          <a:lstStyle/>
          <a:p>
            <a:pPr algn="ctr"/>
          </a:p>
        </p:txBody>
      </p:sp>
      <p:sp>
        <p:nvSpPr>
          <p:cNvPr id="11" name="p1-a-head-node"/>
          <p:cNvSpPr txBox="1"/>
          <p:nvPr/>
        </p:nvSpPr>
        <p:spPr>
          <a:xfrm>
            <a:off x="8763000" y="1346200"/>
            <a:ext cx="2540000" cy="4572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2400" b="1" i="0">
                <a:solidFill>
                  <a:srgbClr val="DDF06F"/>
                </a:solidFill>
                <a:latin typeface="Arial Unicode MS"/>
                <a:ea typeface="Arial Unicode MS"/>
                <a:cs typeface="Arial Unicode MS"/>
              </a:defRPr>
            </a:pPr>
            <a:r>
              <a:rPr sz="2400" b="1" i="0" spc="0">
                <a:solidFill>
                  <a:srgbClr val="DDF06F"/>
                </a:solidFill>
                <a:latin typeface="Arial Unicode MS"/>
                <a:ea typeface="Arial Unicode MS"/>
                <a:cs typeface="Arial Unicode MS"/>
              </a:rPr>
              <a:t>降门槛</a:t>
            </a:r>
          </a:p>
        </p:txBody>
      </p:sp>
      <p:sp>
        <p:nvSpPr>
          <p:cNvPr id="12" name="p1-a-body-node"/>
          <p:cNvSpPr txBox="1"/>
          <p:nvPr/>
        </p:nvSpPr>
        <p:spPr>
          <a:xfrm>
            <a:off x="8763000" y="1917700"/>
            <a:ext cx="2921000" cy="3810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300" b="0" i="0">
                <a:solidFill>
                  <a:srgbClr val="F4F0E7"/>
                </a:solidFill>
                <a:latin typeface="Arial Unicode MS"/>
                <a:ea typeface="Arial Unicode MS"/>
                <a:cs typeface="Arial Unicode MS"/>
              </a:defRPr>
            </a:pPr>
            <a:r>
              <a:rPr sz="1300" b="0" i="0" spc="0">
                <a:solidFill>
                  <a:srgbClr val="F4F0E7"/>
                </a:solidFill>
                <a:latin typeface="Arial Unicode MS"/>
                <a:ea typeface="Arial Unicode MS"/>
                <a:cs typeface="Arial Unicode MS"/>
              </a:rPr>
              <a:t>算力 · 数据 · 开源资源</a:t>
            </a:r>
          </a:p>
        </p:txBody>
      </p:sp>
      <p:sp>
        <p:nvSpPr>
          <p:cNvPr id="13" name="p1-b-head-node"/>
          <p:cNvSpPr txBox="1"/>
          <p:nvPr/>
        </p:nvSpPr>
        <p:spPr>
          <a:xfrm>
            <a:off x="8763000" y="2705100"/>
            <a:ext cx="2540000" cy="4572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2400" b="1" i="0">
                <a:solidFill>
                  <a:srgbClr val="DDF06F"/>
                </a:solidFill>
                <a:latin typeface="Arial Unicode MS"/>
                <a:ea typeface="Arial Unicode MS"/>
                <a:cs typeface="Arial Unicode MS"/>
              </a:defRPr>
            </a:pPr>
            <a:r>
              <a:rPr sz="2400" b="1" i="0" spc="0">
                <a:solidFill>
                  <a:srgbClr val="DDF06F"/>
                </a:solidFill>
                <a:latin typeface="Arial Unicode MS"/>
                <a:ea typeface="Arial Unicode MS"/>
                <a:cs typeface="Arial Unicode MS"/>
              </a:rPr>
              <a:t>快验证</a:t>
            </a:r>
          </a:p>
        </p:txBody>
      </p:sp>
      <p:sp>
        <p:nvSpPr>
          <p:cNvPr id="14" name="p1-b-body-node"/>
          <p:cNvSpPr txBox="1"/>
          <p:nvPr/>
        </p:nvSpPr>
        <p:spPr>
          <a:xfrm>
            <a:off x="8763000" y="3276600"/>
            <a:ext cx="2921000" cy="3810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300" b="0" i="0">
                <a:solidFill>
                  <a:srgbClr val="F4F0E7"/>
                </a:solidFill>
                <a:latin typeface="Arial Unicode MS"/>
                <a:ea typeface="Arial Unicode MS"/>
                <a:cs typeface="Arial Unicode MS"/>
              </a:defRPr>
            </a:pPr>
            <a:r>
              <a:rPr sz="1300" b="0" i="0" spc="0">
                <a:solidFill>
                  <a:srgbClr val="F4F0E7"/>
                </a:solidFill>
                <a:latin typeface="Arial Unicode MS"/>
                <a:ea typeface="Arial Unicode MS"/>
                <a:cs typeface="Arial Unicode MS"/>
              </a:rPr>
              <a:t>开放场景 · 试点 · 供需对接</a:t>
            </a:r>
          </a:p>
        </p:txBody>
      </p:sp>
      <p:sp>
        <p:nvSpPr>
          <p:cNvPr id="15" name="p1-c-head-node"/>
          <p:cNvSpPr txBox="1"/>
          <p:nvPr/>
        </p:nvSpPr>
        <p:spPr>
          <a:xfrm>
            <a:off x="8763000" y="4064000"/>
            <a:ext cx="2540000" cy="4572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2400" b="1" i="0">
                <a:solidFill>
                  <a:srgbClr val="DDF06F"/>
                </a:solidFill>
                <a:latin typeface="Arial Unicode MS"/>
                <a:ea typeface="Arial Unicode MS"/>
                <a:cs typeface="Arial Unicode MS"/>
              </a:defRPr>
            </a:pPr>
            <a:r>
              <a:rPr sz="2400" b="1" i="0" spc="0">
                <a:solidFill>
                  <a:srgbClr val="DDF06F"/>
                </a:solidFill>
                <a:latin typeface="Arial Unicode MS"/>
                <a:ea typeface="Arial Unicode MS"/>
                <a:cs typeface="Arial Unicode MS"/>
              </a:rPr>
              <a:t>促成长</a:t>
            </a:r>
          </a:p>
        </p:txBody>
      </p:sp>
      <p:sp>
        <p:nvSpPr>
          <p:cNvPr id="16" name="p1-c-body-node"/>
          <p:cNvSpPr txBox="1"/>
          <p:nvPr/>
        </p:nvSpPr>
        <p:spPr>
          <a:xfrm>
            <a:off x="8763000" y="4635500"/>
            <a:ext cx="2921000" cy="3810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300" b="0" i="0">
                <a:solidFill>
                  <a:srgbClr val="F4F0E7"/>
                </a:solidFill>
                <a:latin typeface="Arial Unicode MS"/>
                <a:ea typeface="Arial Unicode MS"/>
                <a:cs typeface="Arial Unicode MS"/>
              </a:defRPr>
            </a:pPr>
            <a:r>
              <a:rPr sz="1300" b="0" i="0" spc="0">
                <a:solidFill>
                  <a:srgbClr val="F4F0E7"/>
                </a:solidFill>
                <a:latin typeface="Arial Unicode MS"/>
                <a:ea typeface="Arial Unicode MS"/>
                <a:cs typeface="Arial Unicode MS"/>
              </a:rPr>
              <a:t>人才 · 耐心资本 · 合规服务</a:t>
            </a:r>
          </a:p>
        </p:txBody>
      </p:sp>
      <p:sp>
        <p:nvSpPr>
          <p:cNvPr id="17" name="p1-bottom-bg"/>
          <p:cNvSpPr/>
          <p:nvPr/>
        </p:nvSpPr>
        <p:spPr>
          <a:xfrm>
            <a:off x="609600" y="5410200"/>
            <a:ext cx="10972800" cy="546100"/>
          </a:xfrm>
          <a:prstGeom prst="rect">
            <a:avLst/>
          </a:prstGeom>
          <a:solidFill>
            <a:srgbClr val="284F40"/>
          </a:solidFill>
          <a:ln>
            <a:noFill/>
          </a:ln>
          <a:effectLst/>
        </p:spPr>
        <p:txBody>
          <a:bodyPr rtlCol="0" anchor="ctr"/>
          <a:lstStyle/>
          <a:p>
            <a:pPr algn="ctr"/>
          </a:p>
        </p:txBody>
      </p:sp>
      <p:sp>
        <p:nvSpPr>
          <p:cNvPr id="18" name="p1-focus-node"/>
          <p:cNvSpPr txBox="1"/>
          <p:nvPr/>
        </p:nvSpPr>
        <p:spPr>
          <a:xfrm>
            <a:off x="812800" y="5562600"/>
            <a:ext cx="10541000" cy="3175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500" b="0" i="0">
                <a:solidFill>
                  <a:srgbClr val="F4F0E7"/>
                </a:solidFill>
                <a:latin typeface="Arial Unicode MS"/>
                <a:ea typeface="Arial Unicode MS"/>
                <a:cs typeface="Arial Unicode MS"/>
              </a:defRPr>
            </a:pPr>
            <a:r>
              <a:rPr sz="1500" b="0" i="0" spc="0">
                <a:solidFill>
                  <a:srgbClr val="F4F0E7"/>
                </a:solidFill>
                <a:latin typeface="Arial Unicode MS"/>
                <a:ea typeface="Arial Unicode MS"/>
                <a:cs typeface="Arial Unicode MS"/>
              </a:rPr>
              <a:t>重点领域  /  行业应用  ·  数据服务  ·  智能算力</a:t>
            </a:r>
          </a:p>
        </p:txBody>
      </p:sp>
      <p:sp>
        <p:nvSpPr>
          <p:cNvPr id="19" name="p1-source-node"/>
          <p:cNvSpPr txBox="1"/>
          <p:nvPr/>
        </p:nvSpPr>
        <p:spPr>
          <a:xfrm>
            <a:off x="609600" y="6362700"/>
            <a:ext cx="9906000" cy="2413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000" b="0" i="0">
                <a:solidFill>
                  <a:srgbClr val="B9CABA"/>
                </a:solidFill>
                <a:latin typeface="Arial Unicode MS"/>
                <a:ea typeface="Arial Unicode MS"/>
                <a:cs typeface="Arial Unicode MS"/>
              </a:defRPr>
            </a:pPr>
            <a:r>
              <a:rPr sz="1000" b="0" i="0" spc="0">
                <a:solidFill>
                  <a:srgbClr val="B9CABA"/>
                </a:solidFill>
                <a:latin typeface="Arial Unicode MS"/>
                <a:ea typeface="Arial Unicode MS"/>
                <a:cs typeface="Arial Unicode MS"/>
              </a:rPr>
              <a:t>来源：用户提供《计划》PDF，第1—7页；本页为作者提炼。</a:t>
            </a:r>
          </a:p>
        </p:txBody>
      </p:sp>
      <p:sp>
        <p:nvSpPr>
          <p:cNvPr id="20" name="p1-page-node"/>
          <p:cNvSpPr txBox="1"/>
          <p:nvPr/>
        </p:nvSpPr>
        <p:spPr>
          <a:xfrm>
            <a:off x="10642600" y="6362700"/>
            <a:ext cx="939800" cy="241300"/>
          </a:xfrm>
          <a:prstGeom prst="rect">
            <a:avLst/>
          </a:prstGeom>
          <a:noFill/>
          <a:ln>
            <a:noFill/>
          </a:ln>
          <a:effectLst/>
        </p:spPr>
        <p:txBody>
          <a:bodyPr wrap="square" anchor="t" lIns="0" rIns="0" tIns="0" bIns="0">
            <a:noAutofit/>
          </a:bodyPr>
          <a:lstStyle/>
          <a:p>
            <a:pPr algn="r">
              <a:lnSpc>
                <a:spcPct val="115000"/>
              </a:lnSpc>
              <a:spcBef>
                <a:spcPts val="0"/>
              </a:spcBef>
              <a:spcAft>
                <a:spcPts val="0"/>
              </a:spcAft>
              <a:defRPr sz="1000" b="0" i="0">
                <a:solidFill>
                  <a:srgbClr val="B9CABA"/>
                </a:solidFill>
                <a:latin typeface="Arial Unicode MS"/>
                <a:ea typeface="Arial Unicode MS"/>
                <a:cs typeface="Arial Unicode MS"/>
              </a:defRPr>
            </a:pPr>
            <a:r>
              <a:rPr sz="1000" b="0" i="0" spc="0">
                <a:solidFill>
                  <a:srgbClr val="B9CABA"/>
                </a:solidFill>
                <a:latin typeface="Arial Unicode MS"/>
                <a:ea typeface="Arial Unicode MS"/>
                <a:cs typeface="Arial Unicode MS"/>
              </a:rPr>
              <a:t>01 / 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0E7"/>
        </a:solidFill>
        <a:effectLst/>
      </p:bgPr>
    </p:bg>
    <p:spTree>
      <p:nvGrpSpPr>
        <p:cNvPr id="1" name=""/>
        <p:cNvGrpSpPr/>
        <p:nvPr/>
      </p:nvGrpSpPr>
      <p:grpSpPr/>
      <p:sp>
        <p:nvSpPr>
          <p:cNvPr id="2" name="p2-kicker-node"/>
          <p:cNvSpPr txBox="1"/>
          <p:nvPr/>
        </p:nvSpPr>
        <p:spPr>
          <a:xfrm>
            <a:off x="609600" y="431800"/>
            <a:ext cx="9652000" cy="2794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667569"/>
                </a:solidFill>
                <a:latin typeface="Arial Unicode MS"/>
                <a:ea typeface="Arial Unicode MS"/>
                <a:cs typeface="Arial Unicode MS"/>
              </a:defRPr>
            </a:pPr>
            <a:r>
              <a:rPr sz="1200" b="1" i="0" spc="0">
                <a:solidFill>
                  <a:srgbClr val="667569"/>
                </a:solidFill>
                <a:latin typeface="Arial Unicode MS"/>
                <a:ea typeface="Arial Unicode MS"/>
                <a:cs typeface="Arial Unicode MS"/>
              </a:rPr>
              <a:t>01  /  主要政策目标</a:t>
            </a:r>
          </a:p>
        </p:txBody>
      </p:sp>
      <p:sp>
        <p:nvSpPr>
          <p:cNvPr id="3" name="p2-title-node"/>
          <p:cNvSpPr txBox="1"/>
          <p:nvPr/>
        </p:nvSpPr>
        <p:spPr>
          <a:xfrm>
            <a:off x="609600" y="889000"/>
            <a:ext cx="10972800" cy="635000"/>
          </a:xfrm>
          <a:prstGeom prst="rect">
            <a:avLst/>
          </a:prstGeom>
          <a:noFill/>
          <a:ln>
            <a:noFill/>
          </a:ln>
          <a:effectLst/>
        </p:spPr>
        <p:txBody>
          <a:bodyPr wrap="square" anchor="t" lIns="0" rIns="0" tIns="0" bIns="0">
            <a:noAutofit/>
          </a:bodyPr>
          <a:lstStyle/>
          <a:p>
            <a:pPr algn="l">
              <a:lnSpc>
                <a:spcPct val="110000"/>
              </a:lnSpc>
              <a:spcBef>
                <a:spcPts val="0"/>
              </a:spcBef>
              <a:spcAft>
                <a:spcPts val="0"/>
              </a:spcAft>
              <a:defRPr sz="2900" b="1" i="0">
                <a:solidFill>
                  <a:srgbClr val="173F35"/>
                </a:solidFill>
                <a:latin typeface="Arial Unicode MS"/>
                <a:ea typeface="Arial Unicode MS"/>
                <a:cs typeface="Arial Unicode MS"/>
              </a:defRPr>
            </a:pPr>
            <a:r>
              <a:rPr sz="2900" b="1" i="0" spc="0">
                <a:solidFill>
                  <a:srgbClr val="173F35"/>
                </a:solidFill>
                <a:latin typeface="Arial Unicode MS"/>
                <a:ea typeface="Arial Unicode MS"/>
                <a:cs typeface="Arial Unicode MS"/>
              </a:rPr>
              <a:t>三年目标：扩企业梯队，也补服务底座</a:t>
            </a:r>
          </a:p>
        </p:txBody>
      </p:sp>
      <p:sp>
        <p:nvSpPr>
          <p:cNvPr id="4" name="p2-n1-node"/>
          <p:cNvSpPr txBox="1"/>
          <p:nvPr/>
        </p:nvSpPr>
        <p:spPr>
          <a:xfrm>
            <a:off x="609600" y="1854200"/>
            <a:ext cx="5207000" cy="10414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5600" b="1" i="0">
                <a:solidFill>
                  <a:srgbClr val="173F35"/>
                </a:solidFill>
                <a:latin typeface="Arial Unicode MS"/>
                <a:ea typeface="Arial Unicode MS"/>
                <a:cs typeface="Arial Unicode MS"/>
              </a:defRPr>
            </a:pPr>
            <a:r>
              <a:rPr sz="5600" b="1" i="0" spc="0">
                <a:solidFill>
                  <a:srgbClr val="173F35"/>
                </a:solidFill>
                <a:latin typeface="Arial Unicode MS"/>
                <a:ea typeface="Arial Unicode MS"/>
                <a:cs typeface="Arial Unicode MS"/>
              </a:rPr>
              <a:t>1万家以上</a:t>
            </a:r>
          </a:p>
        </p:txBody>
      </p:sp>
      <p:sp>
        <p:nvSpPr>
          <p:cNvPr id="5" name="p2-l1-node"/>
          <p:cNvSpPr txBox="1"/>
          <p:nvPr/>
        </p:nvSpPr>
        <p:spPr>
          <a:xfrm>
            <a:off x="609600" y="2959100"/>
            <a:ext cx="5207000" cy="3810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0" i="0">
                <a:solidFill>
                  <a:srgbClr val="173F35"/>
                </a:solidFill>
                <a:latin typeface="Arial Unicode MS"/>
                <a:ea typeface="Arial Unicode MS"/>
                <a:cs typeface="Arial Unicode MS"/>
              </a:defRPr>
            </a:pPr>
            <a:r>
              <a:rPr sz="1600" b="0" i="0" spc="0">
                <a:solidFill>
                  <a:srgbClr val="173F35"/>
                </a:solidFill>
                <a:latin typeface="Arial Unicode MS"/>
                <a:ea typeface="Arial Unicode MS"/>
                <a:cs typeface="Arial Unicode MS"/>
              </a:rPr>
              <a:t>新培育科技和创新型中小企业</a:t>
            </a:r>
          </a:p>
        </p:txBody>
      </p:sp>
      <p:sp>
        <p:nvSpPr>
          <p:cNvPr id="6" name="p2-number-rule"/>
          <p:cNvSpPr/>
          <p:nvPr/>
        </p:nvSpPr>
        <p:spPr>
          <a:xfrm>
            <a:off x="5943600" y="1955800"/>
            <a:ext cx="19050" cy="1333500"/>
          </a:xfrm>
          <a:prstGeom prst="rect">
            <a:avLst/>
          </a:prstGeom>
          <a:solidFill>
            <a:srgbClr val="CDD5C7"/>
          </a:solidFill>
          <a:ln>
            <a:noFill/>
          </a:ln>
          <a:effectLst/>
        </p:spPr>
        <p:txBody>
          <a:bodyPr rtlCol="0" anchor="ctr"/>
          <a:lstStyle/>
          <a:p>
            <a:pPr algn="ctr"/>
          </a:p>
        </p:txBody>
      </p:sp>
      <p:sp>
        <p:nvSpPr>
          <p:cNvPr id="7" name="p2-n2-node"/>
          <p:cNvSpPr txBox="1"/>
          <p:nvPr/>
        </p:nvSpPr>
        <p:spPr>
          <a:xfrm>
            <a:off x="6553200" y="1955800"/>
            <a:ext cx="5207000" cy="9525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4800" b="1" i="0">
                <a:solidFill>
                  <a:srgbClr val="173F35"/>
                </a:solidFill>
                <a:latin typeface="Arial Unicode MS"/>
                <a:ea typeface="Arial Unicode MS"/>
                <a:cs typeface="Arial Unicode MS"/>
              </a:defRPr>
            </a:pPr>
            <a:r>
              <a:rPr sz="4800" b="1" i="0" spc="0">
                <a:solidFill>
                  <a:srgbClr val="173F35"/>
                </a:solidFill>
                <a:latin typeface="Arial Unicode MS"/>
                <a:ea typeface="Arial Unicode MS"/>
                <a:cs typeface="Arial Unicode MS"/>
              </a:rPr>
              <a:t>突破2000家</a:t>
            </a:r>
          </a:p>
        </p:txBody>
      </p:sp>
      <p:sp>
        <p:nvSpPr>
          <p:cNvPr id="8" name="p2-l2-node"/>
          <p:cNvSpPr txBox="1"/>
          <p:nvPr/>
        </p:nvSpPr>
        <p:spPr>
          <a:xfrm>
            <a:off x="6553200" y="2959100"/>
            <a:ext cx="5207000" cy="3810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0" i="0">
                <a:solidFill>
                  <a:srgbClr val="173F35"/>
                </a:solidFill>
                <a:latin typeface="Arial Unicode MS"/>
                <a:ea typeface="Arial Unicode MS"/>
                <a:cs typeface="Arial Unicode MS"/>
              </a:defRPr>
            </a:pPr>
            <a:r>
              <a:rPr sz="1600" b="0" i="0" spc="0">
                <a:solidFill>
                  <a:srgbClr val="173F35"/>
                </a:solidFill>
                <a:latin typeface="Arial Unicode MS"/>
                <a:ea typeface="Arial Unicode MS"/>
                <a:cs typeface="Arial Unicode MS"/>
              </a:rPr>
              <a:t>专精特新“小巨人”企业</a:t>
            </a:r>
          </a:p>
        </p:txBody>
      </p:sp>
      <p:sp>
        <p:nvSpPr>
          <p:cNvPr id="9" name="p2-separator"/>
          <p:cNvSpPr/>
          <p:nvPr/>
        </p:nvSpPr>
        <p:spPr>
          <a:xfrm>
            <a:off x="609600" y="3632200"/>
            <a:ext cx="10972800" cy="19050"/>
          </a:xfrm>
          <a:prstGeom prst="rect">
            <a:avLst/>
          </a:prstGeom>
          <a:solidFill>
            <a:srgbClr val="CDD5C7"/>
          </a:solidFill>
          <a:ln>
            <a:noFill/>
          </a:ln>
          <a:effectLst/>
        </p:spPr>
        <p:txBody>
          <a:bodyPr rtlCol="0" anchor="ctr"/>
          <a:lstStyle/>
          <a:p>
            <a:pPr algn="ctr"/>
          </a:p>
        </p:txBody>
      </p:sp>
      <p:sp>
        <p:nvSpPr>
          <p:cNvPr id="10" name="p2-support-node"/>
          <p:cNvSpPr txBox="1"/>
          <p:nvPr/>
        </p:nvSpPr>
        <p:spPr>
          <a:xfrm>
            <a:off x="609600" y="3949700"/>
            <a:ext cx="3048000" cy="3302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667569"/>
                </a:solidFill>
                <a:latin typeface="Arial Unicode MS"/>
                <a:ea typeface="Arial Unicode MS"/>
                <a:cs typeface="Arial Unicode MS"/>
              </a:defRPr>
            </a:pPr>
            <a:r>
              <a:rPr sz="1200" b="1" i="0" spc="0">
                <a:solidFill>
                  <a:srgbClr val="667569"/>
                </a:solidFill>
                <a:latin typeface="Arial Unicode MS"/>
                <a:ea typeface="Arial Unicode MS"/>
                <a:cs typeface="Arial Unicode MS"/>
              </a:rPr>
              <a:t>公共服务与产业载体</a:t>
            </a:r>
          </a:p>
        </p:txBody>
      </p:sp>
      <p:sp>
        <p:nvSpPr>
          <p:cNvPr id="11" name="p2-s1-node"/>
          <p:cNvSpPr txBox="1"/>
          <p:nvPr/>
        </p:nvSpPr>
        <p:spPr>
          <a:xfrm>
            <a:off x="609600" y="4483100"/>
            <a:ext cx="1295400" cy="6350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3200" b="1" i="0">
                <a:solidFill>
                  <a:srgbClr val="173F35"/>
                </a:solidFill>
                <a:latin typeface="Arial Unicode MS"/>
                <a:ea typeface="Arial Unicode MS"/>
                <a:cs typeface="Arial Unicode MS"/>
              </a:defRPr>
            </a:pPr>
            <a:r>
              <a:rPr sz="3200" b="1" i="0" spc="0">
                <a:solidFill>
                  <a:srgbClr val="173F35"/>
                </a:solidFill>
                <a:latin typeface="Arial Unicode MS"/>
                <a:ea typeface="Arial Unicode MS"/>
                <a:cs typeface="Arial Unicode MS"/>
              </a:rPr>
              <a:t>10个</a:t>
            </a:r>
          </a:p>
        </p:txBody>
      </p:sp>
      <p:sp>
        <p:nvSpPr>
          <p:cNvPr id="12" name="p2-t1-node"/>
          <p:cNvSpPr txBox="1"/>
          <p:nvPr/>
        </p:nvSpPr>
        <p:spPr>
          <a:xfrm>
            <a:off x="1993900" y="4508500"/>
            <a:ext cx="2222500" cy="8636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科技型企业孵化器</a:t>
            </a:r>
          </a:p>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高标准建设</a:t>
            </a:r>
          </a:p>
        </p:txBody>
      </p:sp>
      <p:sp>
        <p:nvSpPr>
          <p:cNvPr id="13" name="p2-s2-node"/>
          <p:cNvSpPr txBox="1"/>
          <p:nvPr/>
        </p:nvSpPr>
        <p:spPr>
          <a:xfrm>
            <a:off x="4445000" y="4483100"/>
            <a:ext cx="1295400" cy="6350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3200" b="1" i="0">
                <a:solidFill>
                  <a:srgbClr val="173F35"/>
                </a:solidFill>
                <a:latin typeface="Arial Unicode MS"/>
                <a:ea typeface="Arial Unicode MS"/>
                <a:cs typeface="Arial Unicode MS"/>
              </a:defRPr>
            </a:pPr>
            <a:r>
              <a:rPr sz="3200" b="1" i="0" spc="0">
                <a:solidFill>
                  <a:srgbClr val="173F35"/>
                </a:solidFill>
                <a:latin typeface="Arial Unicode MS"/>
                <a:ea typeface="Arial Unicode MS"/>
                <a:cs typeface="Arial Unicode MS"/>
              </a:rPr>
              <a:t>10个</a:t>
            </a:r>
          </a:p>
        </p:txBody>
      </p:sp>
      <p:sp>
        <p:nvSpPr>
          <p:cNvPr id="14" name="p2-t2-node"/>
          <p:cNvSpPr txBox="1"/>
          <p:nvPr/>
        </p:nvSpPr>
        <p:spPr>
          <a:xfrm>
            <a:off x="5829300" y="4445000"/>
            <a:ext cx="2400300" cy="10414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国家中小企业公共服务</a:t>
            </a:r>
          </a:p>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示范平台（基地）</a:t>
            </a:r>
          </a:p>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高标准建设</a:t>
            </a:r>
          </a:p>
        </p:txBody>
      </p:sp>
      <p:sp>
        <p:nvSpPr>
          <p:cNvPr id="15" name="p2-s3-node"/>
          <p:cNvSpPr txBox="1"/>
          <p:nvPr/>
        </p:nvSpPr>
        <p:spPr>
          <a:xfrm>
            <a:off x="8432800" y="4483100"/>
            <a:ext cx="1295400" cy="6350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3200" b="1" i="0">
                <a:solidFill>
                  <a:srgbClr val="173F35"/>
                </a:solidFill>
                <a:latin typeface="Arial Unicode MS"/>
                <a:ea typeface="Arial Unicode MS"/>
                <a:cs typeface="Arial Unicode MS"/>
              </a:defRPr>
            </a:pPr>
            <a:r>
              <a:rPr sz="3200" b="1" i="0" spc="0">
                <a:solidFill>
                  <a:srgbClr val="173F35"/>
                </a:solidFill>
                <a:latin typeface="Arial Unicode MS"/>
                <a:ea typeface="Arial Unicode MS"/>
                <a:cs typeface="Arial Unicode MS"/>
              </a:rPr>
              <a:t>10个</a:t>
            </a:r>
          </a:p>
        </p:txBody>
      </p:sp>
      <p:sp>
        <p:nvSpPr>
          <p:cNvPr id="16" name="p2-t3-node"/>
          <p:cNvSpPr txBox="1"/>
          <p:nvPr/>
        </p:nvSpPr>
        <p:spPr>
          <a:xfrm>
            <a:off x="9829800" y="4445000"/>
            <a:ext cx="1968500" cy="10414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国家级中小企业</a:t>
            </a:r>
          </a:p>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特色产业集群</a:t>
            </a:r>
          </a:p>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新培育</a:t>
            </a:r>
          </a:p>
        </p:txBody>
      </p:sp>
      <p:sp>
        <p:nvSpPr>
          <p:cNvPr id="17" name="p2-path-bg"/>
          <p:cNvSpPr/>
          <p:nvPr/>
        </p:nvSpPr>
        <p:spPr>
          <a:xfrm>
            <a:off x="609600" y="5664200"/>
            <a:ext cx="10972800" cy="419100"/>
          </a:xfrm>
          <a:prstGeom prst="rect">
            <a:avLst/>
          </a:prstGeom>
          <a:solidFill>
            <a:srgbClr val="E4E9DB"/>
          </a:solidFill>
          <a:ln>
            <a:noFill/>
          </a:ln>
          <a:effectLst/>
        </p:spPr>
        <p:txBody>
          <a:bodyPr rtlCol="0" anchor="ctr"/>
          <a:lstStyle/>
          <a:p>
            <a:pPr algn="ctr"/>
          </a:p>
        </p:txBody>
      </p:sp>
      <p:sp>
        <p:nvSpPr>
          <p:cNvPr id="18" name="p2-path-node"/>
          <p:cNvSpPr txBox="1"/>
          <p:nvPr/>
        </p:nvSpPr>
        <p:spPr>
          <a:xfrm>
            <a:off x="762000" y="5791200"/>
            <a:ext cx="10693400" cy="2667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200" b="0" i="0">
                <a:solidFill>
                  <a:srgbClr val="173F35"/>
                </a:solidFill>
                <a:latin typeface="Arial Unicode MS"/>
                <a:ea typeface="Arial Unicode MS"/>
                <a:cs typeface="Arial Unicode MS"/>
              </a:defRPr>
            </a:pPr>
            <a:r>
              <a:rPr sz="1200" b="0" i="0" spc="0">
                <a:solidFill>
                  <a:srgbClr val="173F35"/>
                </a:solidFill>
                <a:latin typeface="Arial Unicode MS"/>
                <a:ea typeface="Arial Unicode MS"/>
                <a:cs typeface="Arial Unicode MS"/>
              </a:rPr>
              <a:t>梯次发展方向：科技和创新型中小企业  →  专精特新中小企业  →  专精特新“小巨人”</a:t>
            </a:r>
          </a:p>
        </p:txBody>
      </p:sp>
      <p:sp>
        <p:nvSpPr>
          <p:cNvPr id="19" name="p2-source-node"/>
          <p:cNvSpPr txBox="1"/>
          <p:nvPr/>
        </p:nvSpPr>
        <p:spPr>
          <a:xfrm>
            <a:off x="609600" y="6413500"/>
            <a:ext cx="10033000" cy="2286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000" b="0" i="0">
                <a:solidFill>
                  <a:srgbClr val="667569"/>
                </a:solidFill>
                <a:latin typeface="Arial Unicode MS"/>
                <a:ea typeface="Arial Unicode MS"/>
                <a:cs typeface="Arial Unicode MS"/>
              </a:defRPr>
            </a:pPr>
            <a:r>
              <a:rPr sz="1000" b="0" i="0" spc="0">
                <a:solidFill>
                  <a:srgbClr val="667569"/>
                </a:solidFill>
                <a:latin typeface="Arial Unicode MS"/>
                <a:ea typeface="Arial Unicode MS"/>
                <a:cs typeface="Arial Unicode MS"/>
              </a:rPr>
              <a:t>来源：《计划》PDF，第1—2页。以上为三年总体目标，不是单个企业的直接资助承诺。</a:t>
            </a:r>
          </a:p>
        </p:txBody>
      </p:sp>
      <p:sp>
        <p:nvSpPr>
          <p:cNvPr id="20" name="p2-page-node"/>
          <p:cNvSpPr txBox="1"/>
          <p:nvPr/>
        </p:nvSpPr>
        <p:spPr>
          <a:xfrm>
            <a:off x="10642600" y="6413500"/>
            <a:ext cx="939800" cy="228600"/>
          </a:xfrm>
          <a:prstGeom prst="rect">
            <a:avLst/>
          </a:prstGeom>
          <a:noFill/>
          <a:ln>
            <a:noFill/>
          </a:ln>
          <a:effectLst/>
        </p:spPr>
        <p:txBody>
          <a:bodyPr wrap="square" anchor="t" lIns="0" rIns="0" tIns="0" bIns="0">
            <a:noAutofit/>
          </a:bodyPr>
          <a:lstStyle/>
          <a:p>
            <a:pPr algn="r">
              <a:lnSpc>
                <a:spcPct val="115000"/>
              </a:lnSpc>
              <a:spcBef>
                <a:spcPts val="0"/>
              </a:spcBef>
              <a:spcAft>
                <a:spcPts val="0"/>
              </a:spcAft>
              <a:defRPr sz="1000" b="0" i="0">
                <a:solidFill>
                  <a:srgbClr val="667569"/>
                </a:solidFill>
                <a:latin typeface="Arial Unicode MS"/>
                <a:ea typeface="Arial Unicode MS"/>
                <a:cs typeface="Arial Unicode MS"/>
              </a:defRPr>
            </a:pPr>
            <a:r>
              <a:rPr sz="1000" b="0" i="0" spc="0">
                <a:solidFill>
                  <a:srgbClr val="667569"/>
                </a:solidFill>
                <a:latin typeface="Arial Unicode MS"/>
                <a:ea typeface="Arial Unicode MS"/>
                <a:cs typeface="Arial Unicode MS"/>
              </a:rPr>
              <a:t>02 / 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0E7"/>
        </a:solidFill>
        <a:effectLst/>
      </p:bgPr>
    </p:bg>
    <p:spTree>
      <p:nvGrpSpPr>
        <p:cNvPr id="1" name=""/>
        <p:cNvGrpSpPr/>
        <p:nvPr/>
      </p:nvGrpSpPr>
      <p:grpSpPr/>
      <p:sp>
        <p:nvSpPr>
          <p:cNvPr id="2" name="p3-kicker-node"/>
          <p:cNvSpPr txBox="1"/>
          <p:nvPr/>
        </p:nvSpPr>
        <p:spPr>
          <a:xfrm>
            <a:off x="609600" y="431800"/>
            <a:ext cx="9652000" cy="2794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667569"/>
                </a:solidFill>
                <a:latin typeface="Arial Unicode MS"/>
                <a:ea typeface="Arial Unicode MS"/>
                <a:cs typeface="Arial Unicode MS"/>
              </a:defRPr>
            </a:pPr>
            <a:r>
              <a:rPr sz="1200" b="1" i="0" spc="0">
                <a:solidFill>
                  <a:srgbClr val="667569"/>
                </a:solidFill>
                <a:latin typeface="Arial Unicode MS"/>
                <a:ea typeface="Arial Unicode MS"/>
                <a:cs typeface="Arial Unicode MS"/>
              </a:rPr>
              <a:t>02  /  创业要素供给</a:t>
            </a:r>
          </a:p>
        </p:txBody>
      </p:sp>
      <p:sp>
        <p:nvSpPr>
          <p:cNvPr id="3" name="p3-title-node"/>
          <p:cNvSpPr txBox="1"/>
          <p:nvPr/>
        </p:nvSpPr>
        <p:spPr>
          <a:xfrm>
            <a:off x="609600" y="889000"/>
            <a:ext cx="10972800" cy="635000"/>
          </a:xfrm>
          <a:prstGeom prst="rect">
            <a:avLst/>
          </a:prstGeom>
          <a:noFill/>
          <a:ln>
            <a:noFill/>
          </a:ln>
          <a:effectLst/>
        </p:spPr>
        <p:txBody>
          <a:bodyPr wrap="square" anchor="t" lIns="0" rIns="0" tIns="0" bIns="0">
            <a:noAutofit/>
          </a:bodyPr>
          <a:lstStyle/>
          <a:p>
            <a:pPr algn="l">
              <a:lnSpc>
                <a:spcPct val="110000"/>
              </a:lnSpc>
              <a:spcBef>
                <a:spcPts val="0"/>
              </a:spcBef>
              <a:spcAft>
                <a:spcPts val="0"/>
              </a:spcAft>
              <a:defRPr sz="2900" b="1" i="0">
                <a:solidFill>
                  <a:srgbClr val="173F35"/>
                </a:solidFill>
                <a:latin typeface="Arial Unicode MS"/>
                <a:ea typeface="Arial Unicode MS"/>
                <a:cs typeface="Arial Unicode MS"/>
              </a:defRPr>
            </a:pPr>
            <a:r>
              <a:rPr sz="2900" b="1" i="0" spc="0">
                <a:solidFill>
                  <a:srgbClr val="173F35"/>
                </a:solidFill>
                <a:latin typeface="Arial Unicode MS"/>
                <a:ea typeface="Arial Unicode MS"/>
                <a:cs typeface="Arial Unicode MS"/>
              </a:rPr>
              <a:t>先找场景，再匹配算力与数据</a:t>
            </a:r>
          </a:p>
        </p:txBody>
      </p:sp>
      <p:sp>
        <p:nvSpPr>
          <p:cNvPr id="4" name="p3-sub-node"/>
          <p:cNvSpPr txBox="1"/>
          <p:nvPr/>
        </p:nvSpPr>
        <p:spPr>
          <a:xfrm>
            <a:off x="609600" y="1625600"/>
            <a:ext cx="9652000" cy="3048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667569"/>
                </a:solidFill>
                <a:latin typeface="Arial Unicode MS"/>
                <a:ea typeface="Arial Unicode MS"/>
                <a:cs typeface="Arial Unicode MS"/>
              </a:defRPr>
            </a:pPr>
            <a:r>
              <a:rPr sz="1200" b="1" i="0" spc="0">
                <a:solidFill>
                  <a:srgbClr val="667569"/>
                </a:solidFill>
                <a:latin typeface="Arial Unicode MS"/>
                <a:ea typeface="Arial Unicode MS"/>
                <a:cs typeface="Arial Unicode MS"/>
              </a:rPr>
              <a:t>政策资源如何对接  /  按创业者决策顺序整理</a:t>
            </a:r>
          </a:p>
        </p:txBody>
      </p:sp>
      <p:sp>
        <p:nvSpPr>
          <p:cNvPr id="5" name="p3-a-bg"/>
          <p:cNvSpPr/>
          <p:nvPr/>
        </p:nvSpPr>
        <p:spPr>
          <a:xfrm>
            <a:off x="609600" y="2286000"/>
            <a:ext cx="1816100" cy="850900"/>
          </a:xfrm>
          <a:prstGeom prst="rect">
            <a:avLst/>
          </a:prstGeom>
          <a:solidFill>
            <a:srgbClr val="DDF06F"/>
          </a:solidFill>
          <a:ln>
            <a:noFill/>
          </a:ln>
          <a:effectLst/>
        </p:spPr>
        <p:txBody>
          <a:bodyPr rtlCol="0" anchor="ctr"/>
          <a:lstStyle/>
          <a:p>
            <a:pPr algn="ctr"/>
          </a:p>
        </p:txBody>
      </p:sp>
      <p:sp>
        <p:nvSpPr>
          <p:cNvPr id="6" name="p3-a-num-node"/>
          <p:cNvSpPr txBox="1"/>
          <p:nvPr/>
        </p:nvSpPr>
        <p:spPr>
          <a:xfrm>
            <a:off x="787400" y="2451100"/>
            <a:ext cx="457200" cy="2794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667569"/>
                </a:solidFill>
                <a:latin typeface="Arial Unicode MS"/>
                <a:ea typeface="Arial Unicode MS"/>
                <a:cs typeface="Arial Unicode MS"/>
              </a:defRPr>
            </a:pPr>
            <a:r>
              <a:rPr sz="1200" b="1" i="0" spc="0">
                <a:solidFill>
                  <a:srgbClr val="667569"/>
                </a:solidFill>
                <a:latin typeface="Arial Unicode MS"/>
                <a:ea typeface="Arial Unicode MS"/>
                <a:cs typeface="Arial Unicode MS"/>
              </a:rPr>
              <a:t>01</a:t>
            </a:r>
          </a:p>
        </p:txBody>
      </p:sp>
      <p:sp>
        <p:nvSpPr>
          <p:cNvPr id="7" name="p3-a-head-node"/>
          <p:cNvSpPr txBox="1"/>
          <p:nvPr/>
        </p:nvSpPr>
        <p:spPr>
          <a:xfrm>
            <a:off x="1358900" y="2476500"/>
            <a:ext cx="889000" cy="4318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2200" b="1" i="0">
                <a:solidFill>
                  <a:srgbClr val="173F35"/>
                </a:solidFill>
                <a:latin typeface="Arial Unicode MS"/>
                <a:ea typeface="Arial Unicode MS"/>
                <a:cs typeface="Arial Unicode MS"/>
              </a:defRPr>
            </a:pPr>
            <a:r>
              <a:rPr sz="2200" b="1" i="0" spc="0">
                <a:solidFill>
                  <a:srgbClr val="173F35"/>
                </a:solidFill>
                <a:latin typeface="Arial Unicode MS"/>
                <a:ea typeface="Arial Unicode MS"/>
                <a:cs typeface="Arial Unicode MS"/>
              </a:rPr>
              <a:t>场景</a:t>
            </a:r>
          </a:p>
        </p:txBody>
      </p:sp>
      <p:sp>
        <p:nvSpPr>
          <p:cNvPr id="8" name="p3-a-body-node"/>
          <p:cNvSpPr txBox="1"/>
          <p:nvPr/>
        </p:nvSpPr>
        <p:spPr>
          <a:xfrm>
            <a:off x="2933700" y="2336800"/>
            <a:ext cx="8534400" cy="8509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0" i="0">
                <a:solidFill>
                  <a:srgbClr val="173F35"/>
                </a:solidFill>
                <a:latin typeface="Arial Unicode MS"/>
                <a:ea typeface="Arial Unicode MS"/>
                <a:cs typeface="Arial Unicode MS"/>
              </a:defRPr>
            </a:pPr>
            <a:r>
              <a:rPr sz="1600" b="0" i="0" spc="0">
                <a:solidFill>
                  <a:srgbClr val="173F35"/>
                </a:solidFill>
                <a:latin typeface="Arial Unicode MS"/>
                <a:ea typeface="Arial Unicode MS"/>
                <a:cs typeface="Arial Unicode MS"/>
              </a:rPr>
              <a:t>链主企业开放试验验证、示范应用、规模化商用场景；</a:t>
            </a:r>
          </a:p>
          <a:p>
            <a:pPr algn="l">
              <a:lnSpc>
                <a:spcPct val="118000"/>
              </a:lnSpc>
              <a:spcBef>
                <a:spcPts val="0"/>
              </a:spcBef>
              <a:spcAft>
                <a:spcPts val="0"/>
              </a:spcAft>
              <a:defRPr sz="1600" b="0" i="0">
                <a:solidFill>
                  <a:srgbClr val="173F35"/>
                </a:solidFill>
                <a:latin typeface="Arial Unicode MS"/>
                <a:ea typeface="Arial Unicode MS"/>
                <a:cs typeface="Arial Unicode MS"/>
              </a:defRPr>
            </a:pPr>
            <a:r>
              <a:rPr sz="1600" b="0" i="0" spc="0">
                <a:solidFill>
                  <a:srgbClr val="173F35"/>
                </a:solidFill>
                <a:latin typeface="Arial Unicode MS"/>
                <a:ea typeface="Arial Unicode MS"/>
                <a:cs typeface="Arial Unicode MS"/>
              </a:rPr>
              <a:t>通过“百场万企”“深度行”和场景合伙人开展对接。</a:t>
            </a:r>
          </a:p>
        </p:txBody>
      </p:sp>
      <p:sp>
        <p:nvSpPr>
          <p:cNvPr id="9" name="p3-line1"/>
          <p:cNvSpPr/>
          <p:nvPr/>
        </p:nvSpPr>
        <p:spPr>
          <a:xfrm>
            <a:off x="609600" y="3327400"/>
            <a:ext cx="10972800" cy="12700"/>
          </a:xfrm>
          <a:prstGeom prst="rect">
            <a:avLst/>
          </a:prstGeom>
          <a:solidFill>
            <a:srgbClr val="CDD5C7"/>
          </a:solidFill>
          <a:ln>
            <a:noFill/>
          </a:ln>
          <a:effectLst/>
        </p:spPr>
        <p:txBody>
          <a:bodyPr rtlCol="0" anchor="ctr"/>
          <a:lstStyle/>
          <a:p>
            <a:pPr algn="ctr"/>
          </a:p>
        </p:txBody>
      </p:sp>
      <p:sp>
        <p:nvSpPr>
          <p:cNvPr id="10" name="p3-b-num-node"/>
          <p:cNvSpPr txBox="1"/>
          <p:nvPr/>
        </p:nvSpPr>
        <p:spPr>
          <a:xfrm>
            <a:off x="787400" y="3644900"/>
            <a:ext cx="457200" cy="2794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667569"/>
                </a:solidFill>
                <a:latin typeface="Arial Unicode MS"/>
                <a:ea typeface="Arial Unicode MS"/>
                <a:cs typeface="Arial Unicode MS"/>
              </a:defRPr>
            </a:pPr>
            <a:r>
              <a:rPr sz="1200" b="1" i="0" spc="0">
                <a:solidFill>
                  <a:srgbClr val="667569"/>
                </a:solidFill>
                <a:latin typeface="Arial Unicode MS"/>
                <a:ea typeface="Arial Unicode MS"/>
                <a:cs typeface="Arial Unicode MS"/>
              </a:rPr>
              <a:t>02</a:t>
            </a:r>
          </a:p>
        </p:txBody>
      </p:sp>
      <p:sp>
        <p:nvSpPr>
          <p:cNvPr id="11" name="p3-b-head-node"/>
          <p:cNvSpPr txBox="1"/>
          <p:nvPr/>
        </p:nvSpPr>
        <p:spPr>
          <a:xfrm>
            <a:off x="1358900" y="3670300"/>
            <a:ext cx="889000" cy="4318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2200" b="1" i="0">
                <a:solidFill>
                  <a:srgbClr val="173F35"/>
                </a:solidFill>
                <a:latin typeface="Arial Unicode MS"/>
                <a:ea typeface="Arial Unicode MS"/>
                <a:cs typeface="Arial Unicode MS"/>
              </a:defRPr>
            </a:pPr>
            <a:r>
              <a:rPr sz="2200" b="1" i="0" spc="0">
                <a:solidFill>
                  <a:srgbClr val="173F35"/>
                </a:solidFill>
                <a:latin typeface="Arial Unicode MS"/>
                <a:ea typeface="Arial Unicode MS"/>
                <a:cs typeface="Arial Unicode MS"/>
              </a:rPr>
              <a:t>算力</a:t>
            </a:r>
          </a:p>
        </p:txBody>
      </p:sp>
      <p:sp>
        <p:nvSpPr>
          <p:cNvPr id="12" name="p3-b-body-node"/>
          <p:cNvSpPr txBox="1"/>
          <p:nvPr/>
        </p:nvSpPr>
        <p:spPr>
          <a:xfrm>
            <a:off x="2933700" y="3530600"/>
            <a:ext cx="8534400" cy="8509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0" i="0">
                <a:solidFill>
                  <a:srgbClr val="173F35"/>
                </a:solidFill>
                <a:latin typeface="Arial Unicode MS"/>
                <a:ea typeface="Arial Unicode MS"/>
                <a:cs typeface="Arial Unicode MS"/>
              </a:defRPr>
            </a:pPr>
            <a:r>
              <a:rPr sz="1600" b="0" i="0" spc="0">
                <a:solidFill>
                  <a:srgbClr val="173F35"/>
                </a:solidFill>
                <a:latin typeface="Arial Unicode MS"/>
                <a:ea typeface="Arial Unicode MS"/>
                <a:cs typeface="Arial Unicode MS"/>
              </a:rPr>
              <a:t>强化普惠智能算力供给，推进资源池化整合、弹性配置；</a:t>
            </a:r>
          </a:p>
          <a:p>
            <a:pPr algn="l">
              <a:lnSpc>
                <a:spcPct val="118000"/>
              </a:lnSpc>
              <a:spcBef>
                <a:spcPts val="0"/>
              </a:spcBef>
              <a:spcAft>
                <a:spcPts val="0"/>
              </a:spcAft>
              <a:defRPr sz="1600" b="0" i="0">
                <a:solidFill>
                  <a:srgbClr val="173F35"/>
                </a:solidFill>
                <a:latin typeface="Arial Unicode MS"/>
                <a:ea typeface="Arial Unicode MS"/>
                <a:cs typeface="Arial Unicode MS"/>
              </a:defRPr>
            </a:pPr>
            <a:r>
              <a:rPr sz="1600" b="0" i="0" spc="0">
                <a:solidFill>
                  <a:srgbClr val="173F35"/>
                </a:solidFill>
                <a:latin typeface="Arial Unicode MS"/>
                <a:ea typeface="Arial Unicode MS"/>
                <a:cs typeface="Arial Unicode MS"/>
              </a:rPr>
              <a:t>优化中国算力平台中小企业专区、服务网算力对接专区。</a:t>
            </a:r>
          </a:p>
        </p:txBody>
      </p:sp>
      <p:sp>
        <p:nvSpPr>
          <p:cNvPr id="13" name="p3-line2"/>
          <p:cNvSpPr/>
          <p:nvPr/>
        </p:nvSpPr>
        <p:spPr>
          <a:xfrm>
            <a:off x="609600" y="4521200"/>
            <a:ext cx="10972800" cy="12700"/>
          </a:xfrm>
          <a:prstGeom prst="rect">
            <a:avLst/>
          </a:prstGeom>
          <a:solidFill>
            <a:srgbClr val="CDD5C7"/>
          </a:solidFill>
          <a:ln>
            <a:noFill/>
          </a:ln>
          <a:effectLst/>
        </p:spPr>
        <p:txBody>
          <a:bodyPr rtlCol="0" anchor="ctr"/>
          <a:lstStyle/>
          <a:p>
            <a:pPr algn="ctr"/>
          </a:p>
        </p:txBody>
      </p:sp>
      <p:sp>
        <p:nvSpPr>
          <p:cNvPr id="14" name="p3-c-num-node"/>
          <p:cNvSpPr txBox="1"/>
          <p:nvPr/>
        </p:nvSpPr>
        <p:spPr>
          <a:xfrm>
            <a:off x="787400" y="4838700"/>
            <a:ext cx="457200" cy="2794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667569"/>
                </a:solidFill>
                <a:latin typeface="Arial Unicode MS"/>
                <a:ea typeface="Arial Unicode MS"/>
                <a:cs typeface="Arial Unicode MS"/>
              </a:defRPr>
            </a:pPr>
            <a:r>
              <a:rPr sz="1200" b="1" i="0" spc="0">
                <a:solidFill>
                  <a:srgbClr val="667569"/>
                </a:solidFill>
                <a:latin typeface="Arial Unicode MS"/>
                <a:ea typeface="Arial Unicode MS"/>
                <a:cs typeface="Arial Unicode MS"/>
              </a:rPr>
              <a:t>03</a:t>
            </a:r>
          </a:p>
        </p:txBody>
      </p:sp>
      <p:sp>
        <p:nvSpPr>
          <p:cNvPr id="15" name="p3-c-head-node"/>
          <p:cNvSpPr txBox="1"/>
          <p:nvPr/>
        </p:nvSpPr>
        <p:spPr>
          <a:xfrm>
            <a:off x="1358900" y="4864100"/>
            <a:ext cx="889000" cy="4318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2200" b="1" i="0">
                <a:solidFill>
                  <a:srgbClr val="173F35"/>
                </a:solidFill>
                <a:latin typeface="Arial Unicode MS"/>
                <a:ea typeface="Arial Unicode MS"/>
                <a:cs typeface="Arial Unicode MS"/>
              </a:defRPr>
            </a:pPr>
            <a:r>
              <a:rPr sz="2200" b="1" i="0" spc="0">
                <a:solidFill>
                  <a:srgbClr val="173F35"/>
                </a:solidFill>
                <a:latin typeface="Arial Unicode MS"/>
                <a:ea typeface="Arial Unicode MS"/>
                <a:cs typeface="Arial Unicode MS"/>
              </a:rPr>
              <a:t>数据</a:t>
            </a:r>
          </a:p>
        </p:txBody>
      </p:sp>
      <p:sp>
        <p:nvSpPr>
          <p:cNvPr id="16" name="p3-c-body-node"/>
          <p:cNvSpPr txBox="1"/>
          <p:nvPr/>
        </p:nvSpPr>
        <p:spPr>
          <a:xfrm>
            <a:off x="2933700" y="4724400"/>
            <a:ext cx="8534400" cy="8509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0" i="0">
                <a:solidFill>
                  <a:srgbClr val="173F35"/>
                </a:solidFill>
                <a:latin typeface="Arial Unicode MS"/>
                <a:ea typeface="Arial Unicode MS"/>
                <a:cs typeface="Arial Unicode MS"/>
              </a:defRPr>
            </a:pPr>
            <a:r>
              <a:rPr sz="1600" b="0" i="0" spc="0">
                <a:solidFill>
                  <a:srgbClr val="173F35"/>
                </a:solidFill>
                <a:latin typeface="Arial Unicode MS"/>
                <a:ea typeface="Arial Unicode MS"/>
                <a:cs typeface="Arial Unicode MS"/>
              </a:rPr>
              <a:t>建设并有序开放高质量行业数据集；</a:t>
            </a:r>
          </a:p>
          <a:p>
            <a:pPr algn="l">
              <a:lnSpc>
                <a:spcPct val="118000"/>
              </a:lnSpc>
              <a:spcBef>
                <a:spcPts val="0"/>
              </a:spcBef>
              <a:spcAft>
                <a:spcPts val="0"/>
              </a:spcAft>
              <a:defRPr sz="1600" b="0" i="0">
                <a:solidFill>
                  <a:srgbClr val="173F35"/>
                </a:solidFill>
                <a:latin typeface="Arial Unicode MS"/>
                <a:ea typeface="Arial Unicode MS"/>
                <a:cs typeface="Arial Unicode MS"/>
              </a:defRPr>
            </a:pPr>
            <a:r>
              <a:rPr sz="1600" b="0" i="0" spc="0">
                <a:solidFill>
                  <a:srgbClr val="173F35"/>
                </a:solidFill>
                <a:latin typeface="Arial Unicode MS"/>
                <a:ea typeface="Arial Unicode MS"/>
                <a:cs typeface="Arial Unicode MS"/>
              </a:rPr>
              <a:t>通过数据合作联合体及咨询、治理、标注服务降低获取成本。</a:t>
            </a:r>
          </a:p>
        </p:txBody>
      </p:sp>
      <p:sp>
        <p:nvSpPr>
          <p:cNvPr id="17" name="p3-action-bg"/>
          <p:cNvSpPr/>
          <p:nvPr/>
        </p:nvSpPr>
        <p:spPr>
          <a:xfrm>
            <a:off x="609600" y="5676900"/>
            <a:ext cx="10972800" cy="444500"/>
          </a:xfrm>
          <a:prstGeom prst="rect">
            <a:avLst/>
          </a:prstGeom>
          <a:solidFill>
            <a:srgbClr val="173F35"/>
          </a:solidFill>
          <a:ln>
            <a:noFill/>
          </a:ln>
          <a:effectLst/>
        </p:spPr>
        <p:txBody>
          <a:bodyPr rtlCol="0" anchor="ctr"/>
          <a:lstStyle/>
          <a:p>
            <a:pPr algn="ctr"/>
          </a:p>
        </p:txBody>
      </p:sp>
      <p:sp>
        <p:nvSpPr>
          <p:cNvPr id="18" name="p3-action-node"/>
          <p:cNvSpPr txBox="1"/>
          <p:nvPr/>
        </p:nvSpPr>
        <p:spPr>
          <a:xfrm>
            <a:off x="787400" y="5803900"/>
            <a:ext cx="10604500" cy="2921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300" b="0" i="0">
                <a:solidFill>
                  <a:srgbClr val="F4F0E7"/>
                </a:solidFill>
                <a:latin typeface="Arial Unicode MS"/>
                <a:ea typeface="Arial Unicode MS"/>
                <a:cs typeface="Arial Unicode MS"/>
              </a:defRPr>
            </a:pPr>
            <a:r>
              <a:rPr sz="1300" b="0" i="0" spc="0">
                <a:solidFill>
                  <a:srgbClr val="F4F0E7"/>
                </a:solidFill>
                <a:latin typeface="Arial Unicode MS"/>
                <a:ea typeface="Arial Unicode MS"/>
                <a:cs typeface="Arial Unicode MS"/>
              </a:rPr>
              <a:t>创业者准备  /  明确一个客户问题、一个验证指标，以及所需算力和数据清单。</a:t>
            </a:r>
          </a:p>
        </p:txBody>
      </p:sp>
      <p:sp>
        <p:nvSpPr>
          <p:cNvPr id="19" name="p3-source-node"/>
          <p:cNvSpPr txBox="1"/>
          <p:nvPr/>
        </p:nvSpPr>
        <p:spPr>
          <a:xfrm>
            <a:off x="609600" y="6413500"/>
            <a:ext cx="10033000" cy="2286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000" b="0" i="0">
                <a:solidFill>
                  <a:srgbClr val="667569"/>
                </a:solidFill>
                <a:latin typeface="Arial Unicode MS"/>
                <a:ea typeface="Arial Unicode MS"/>
                <a:cs typeface="Arial Unicode MS"/>
              </a:defRPr>
            </a:pPr>
            <a:r>
              <a:rPr sz="1000" b="0" i="0" spc="0">
                <a:solidFill>
                  <a:srgbClr val="667569"/>
                </a:solidFill>
                <a:latin typeface="Arial Unicode MS"/>
                <a:ea typeface="Arial Unicode MS"/>
                <a:cs typeface="Arial Unicode MS"/>
              </a:rPr>
              <a:t>来源：《计划》PDF，第2—3页，第1—3项。排序与“创业者准备”为作者建议。</a:t>
            </a:r>
          </a:p>
        </p:txBody>
      </p:sp>
      <p:sp>
        <p:nvSpPr>
          <p:cNvPr id="20" name="p3-page-node"/>
          <p:cNvSpPr txBox="1"/>
          <p:nvPr/>
        </p:nvSpPr>
        <p:spPr>
          <a:xfrm>
            <a:off x="10642600" y="6413500"/>
            <a:ext cx="939800" cy="228600"/>
          </a:xfrm>
          <a:prstGeom prst="rect">
            <a:avLst/>
          </a:prstGeom>
          <a:noFill/>
          <a:ln>
            <a:noFill/>
          </a:ln>
          <a:effectLst/>
        </p:spPr>
        <p:txBody>
          <a:bodyPr wrap="square" anchor="t" lIns="0" rIns="0" tIns="0" bIns="0">
            <a:noAutofit/>
          </a:bodyPr>
          <a:lstStyle/>
          <a:p>
            <a:pPr algn="r">
              <a:lnSpc>
                <a:spcPct val="115000"/>
              </a:lnSpc>
              <a:spcBef>
                <a:spcPts val="0"/>
              </a:spcBef>
              <a:spcAft>
                <a:spcPts val="0"/>
              </a:spcAft>
              <a:defRPr sz="1000" b="0" i="0">
                <a:solidFill>
                  <a:srgbClr val="667569"/>
                </a:solidFill>
                <a:latin typeface="Arial Unicode MS"/>
                <a:ea typeface="Arial Unicode MS"/>
                <a:cs typeface="Arial Unicode MS"/>
              </a:defRPr>
            </a:pPr>
            <a:r>
              <a:rPr sz="1000" b="0" i="0" spc="0">
                <a:solidFill>
                  <a:srgbClr val="667569"/>
                </a:solidFill>
                <a:latin typeface="Arial Unicode MS"/>
                <a:ea typeface="Arial Unicode MS"/>
                <a:cs typeface="Arial Unicode MS"/>
              </a:rPr>
              <a:t>03 / 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0E7"/>
        </a:solidFill>
        <a:effectLst/>
      </p:bgPr>
    </p:bg>
    <p:spTree>
      <p:nvGrpSpPr>
        <p:cNvPr id="1" name=""/>
        <p:cNvGrpSpPr/>
        <p:nvPr/>
      </p:nvGrpSpPr>
      <p:grpSpPr/>
      <p:sp>
        <p:nvSpPr>
          <p:cNvPr id="2" name="p4-kicker-node"/>
          <p:cNvSpPr txBox="1"/>
          <p:nvPr/>
        </p:nvSpPr>
        <p:spPr>
          <a:xfrm>
            <a:off x="609600" y="431800"/>
            <a:ext cx="9652000" cy="2794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667569"/>
                </a:solidFill>
                <a:latin typeface="Arial Unicode MS"/>
                <a:ea typeface="Arial Unicode MS"/>
                <a:cs typeface="Arial Unicode MS"/>
              </a:defRPr>
            </a:pPr>
            <a:r>
              <a:rPr sz="1200" b="1" i="0" spc="0">
                <a:solidFill>
                  <a:srgbClr val="667569"/>
                </a:solidFill>
                <a:latin typeface="Arial Unicode MS"/>
                <a:ea typeface="Arial Unicode MS"/>
                <a:cs typeface="Arial Unicode MS"/>
              </a:rPr>
              <a:t>03  /  创业主体培育</a:t>
            </a:r>
          </a:p>
        </p:txBody>
      </p:sp>
      <p:sp>
        <p:nvSpPr>
          <p:cNvPr id="3" name="p4-title-node"/>
          <p:cNvSpPr txBox="1"/>
          <p:nvPr/>
        </p:nvSpPr>
        <p:spPr>
          <a:xfrm>
            <a:off x="609600" y="889000"/>
            <a:ext cx="10972800" cy="635000"/>
          </a:xfrm>
          <a:prstGeom prst="rect">
            <a:avLst/>
          </a:prstGeom>
          <a:noFill/>
          <a:ln>
            <a:noFill/>
          </a:ln>
          <a:effectLst/>
        </p:spPr>
        <p:txBody>
          <a:bodyPr wrap="square" anchor="t" lIns="0" rIns="0" tIns="0" bIns="0">
            <a:noAutofit/>
          </a:bodyPr>
          <a:lstStyle/>
          <a:p>
            <a:pPr algn="l">
              <a:lnSpc>
                <a:spcPct val="110000"/>
              </a:lnSpc>
              <a:spcBef>
                <a:spcPts val="0"/>
              </a:spcBef>
              <a:spcAft>
                <a:spcPts val="0"/>
              </a:spcAft>
              <a:defRPr sz="2800" b="1" i="0">
                <a:solidFill>
                  <a:srgbClr val="173F35"/>
                </a:solidFill>
                <a:latin typeface="Arial Unicode MS"/>
                <a:ea typeface="Arial Unicode MS"/>
                <a:cs typeface="Arial Unicode MS"/>
              </a:defRPr>
            </a:pPr>
            <a:r>
              <a:rPr sz="2800" b="1" i="0" spc="0">
                <a:solidFill>
                  <a:srgbClr val="173F35"/>
                </a:solidFill>
                <a:latin typeface="Arial Unicode MS"/>
                <a:ea typeface="Arial Unicode MS"/>
                <a:cs typeface="Arial Unicode MS"/>
              </a:rPr>
              <a:t>从微型主体到成长企业，都有培育着力点</a:t>
            </a:r>
          </a:p>
        </p:txBody>
      </p:sp>
      <p:sp>
        <p:nvSpPr>
          <p:cNvPr id="4" name="p4-sub-node"/>
          <p:cNvSpPr txBox="1"/>
          <p:nvPr/>
        </p:nvSpPr>
        <p:spPr>
          <a:xfrm>
            <a:off x="609600" y="1612900"/>
            <a:ext cx="9652000" cy="3048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667569"/>
                </a:solidFill>
                <a:latin typeface="Arial Unicode MS"/>
                <a:ea typeface="Arial Unicode MS"/>
                <a:cs typeface="Arial Unicode MS"/>
              </a:defRPr>
            </a:pPr>
            <a:r>
              <a:rPr sz="1200" b="1" i="0" spc="0">
                <a:solidFill>
                  <a:srgbClr val="667569"/>
                </a:solidFill>
                <a:latin typeface="Arial Unicode MS"/>
                <a:ea typeface="Arial Unicode MS"/>
                <a:cs typeface="Arial Unicode MS"/>
              </a:rPr>
              <a:t>将第4—8项支持措施，映射到创业的三个阶段</a:t>
            </a:r>
          </a:p>
        </p:txBody>
      </p:sp>
      <p:sp>
        <p:nvSpPr>
          <p:cNvPr id="5" name="p4-step1"/>
          <p:cNvSpPr/>
          <p:nvPr/>
        </p:nvSpPr>
        <p:spPr>
          <a:xfrm>
            <a:off x="609600" y="2971800"/>
            <a:ext cx="3454400" cy="2260600"/>
          </a:xfrm>
          <a:prstGeom prst="rect">
            <a:avLst/>
          </a:prstGeom>
          <a:solidFill>
            <a:srgbClr val="E4E9DB"/>
          </a:solidFill>
          <a:ln>
            <a:noFill/>
          </a:ln>
          <a:effectLst/>
        </p:spPr>
        <p:txBody>
          <a:bodyPr rtlCol="0" anchor="ctr"/>
          <a:lstStyle/>
          <a:p>
            <a:pPr algn="ctr"/>
          </a:p>
        </p:txBody>
      </p:sp>
      <p:sp>
        <p:nvSpPr>
          <p:cNvPr id="6" name="p4-step2"/>
          <p:cNvSpPr/>
          <p:nvPr/>
        </p:nvSpPr>
        <p:spPr>
          <a:xfrm>
            <a:off x="4368800" y="2590800"/>
            <a:ext cx="3454400" cy="2641600"/>
          </a:xfrm>
          <a:prstGeom prst="rect">
            <a:avLst/>
          </a:prstGeom>
          <a:solidFill>
            <a:srgbClr val="D4DDC6"/>
          </a:solidFill>
          <a:ln>
            <a:noFill/>
          </a:ln>
          <a:effectLst/>
        </p:spPr>
        <p:txBody>
          <a:bodyPr rtlCol="0" anchor="ctr"/>
          <a:lstStyle/>
          <a:p>
            <a:pPr algn="ctr"/>
          </a:p>
        </p:txBody>
      </p:sp>
      <p:sp>
        <p:nvSpPr>
          <p:cNvPr id="7" name="p4-step3"/>
          <p:cNvSpPr/>
          <p:nvPr/>
        </p:nvSpPr>
        <p:spPr>
          <a:xfrm>
            <a:off x="8128000" y="2209800"/>
            <a:ext cx="3454400" cy="3022600"/>
          </a:xfrm>
          <a:prstGeom prst="rect">
            <a:avLst/>
          </a:prstGeom>
          <a:solidFill>
            <a:srgbClr val="173F35"/>
          </a:solidFill>
          <a:ln>
            <a:noFill/>
          </a:ln>
          <a:effectLst/>
        </p:spPr>
        <p:txBody>
          <a:bodyPr rtlCol="0" anchor="ctr"/>
          <a:lstStyle/>
          <a:p>
            <a:pPr algn="ctr"/>
          </a:p>
        </p:txBody>
      </p:sp>
      <p:sp>
        <p:nvSpPr>
          <p:cNvPr id="8" name="p4-h1-node"/>
          <p:cNvSpPr txBox="1"/>
          <p:nvPr/>
        </p:nvSpPr>
        <p:spPr>
          <a:xfrm>
            <a:off x="863600" y="3175000"/>
            <a:ext cx="2794000" cy="4445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2200" b="1" i="0">
                <a:solidFill>
                  <a:srgbClr val="173F35"/>
                </a:solidFill>
                <a:latin typeface="Arial Unicode MS"/>
                <a:ea typeface="Arial Unicode MS"/>
                <a:cs typeface="Arial Unicode MS"/>
              </a:defRPr>
            </a:pPr>
            <a:r>
              <a:rPr sz="2200" b="1" i="0" spc="0">
                <a:solidFill>
                  <a:srgbClr val="173F35"/>
                </a:solidFill>
                <a:latin typeface="Arial Unicode MS"/>
                <a:ea typeface="Arial Unicode MS"/>
                <a:cs typeface="Arial Unicode MS"/>
              </a:rPr>
              <a:t>起步</a:t>
            </a:r>
          </a:p>
        </p:txBody>
      </p:sp>
      <p:sp>
        <p:nvSpPr>
          <p:cNvPr id="9" name="p4-b1-node"/>
          <p:cNvSpPr txBox="1"/>
          <p:nvPr/>
        </p:nvSpPr>
        <p:spPr>
          <a:xfrm>
            <a:off x="863600" y="3759200"/>
            <a:ext cx="3022600" cy="13208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包容支持“一人公司”、</a:t>
            </a:r>
          </a:p>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超级个体等微型主体</a:t>
            </a:r>
          </a:p>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培育“智能原生”企业</a:t>
            </a:r>
          </a:p>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支持科研成果创业</a:t>
            </a:r>
          </a:p>
        </p:txBody>
      </p:sp>
      <p:sp>
        <p:nvSpPr>
          <p:cNvPr id="10" name="p4-h2-node"/>
          <p:cNvSpPr txBox="1"/>
          <p:nvPr/>
        </p:nvSpPr>
        <p:spPr>
          <a:xfrm>
            <a:off x="4622800" y="2870200"/>
            <a:ext cx="2794000" cy="4445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2200" b="1" i="0">
                <a:solidFill>
                  <a:srgbClr val="173F35"/>
                </a:solidFill>
                <a:latin typeface="Arial Unicode MS"/>
                <a:ea typeface="Arial Unicode MS"/>
                <a:cs typeface="Arial Unicode MS"/>
              </a:defRPr>
            </a:pPr>
            <a:r>
              <a:rPr sz="2200" b="1" i="0" spc="0">
                <a:solidFill>
                  <a:srgbClr val="173F35"/>
                </a:solidFill>
                <a:latin typeface="Arial Unicode MS"/>
                <a:ea typeface="Arial Unicode MS"/>
                <a:cs typeface="Arial Unicode MS"/>
              </a:rPr>
              <a:t>验证</a:t>
            </a:r>
          </a:p>
        </p:txBody>
      </p:sp>
      <p:sp>
        <p:nvSpPr>
          <p:cNvPr id="11" name="p4-b2-node"/>
          <p:cNvSpPr txBox="1"/>
          <p:nvPr/>
        </p:nvSpPr>
        <p:spPr>
          <a:xfrm>
            <a:off x="4622800" y="3505200"/>
            <a:ext cx="3022600" cy="14859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孵化器提供算力、数据、</a:t>
            </a:r>
          </a:p>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场景等核心服务</a:t>
            </a:r>
          </a:p>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专题赛事连接启动资金、</a:t>
            </a:r>
          </a:p>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创业辅导与股权投资</a:t>
            </a:r>
          </a:p>
        </p:txBody>
      </p:sp>
      <p:sp>
        <p:nvSpPr>
          <p:cNvPr id="12" name="p4-h3-node"/>
          <p:cNvSpPr txBox="1"/>
          <p:nvPr/>
        </p:nvSpPr>
        <p:spPr>
          <a:xfrm>
            <a:off x="8382000" y="2590800"/>
            <a:ext cx="2794000" cy="4445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2200" b="1" i="0">
                <a:solidFill>
                  <a:srgbClr val="DDF06F"/>
                </a:solidFill>
                <a:latin typeface="Arial Unicode MS"/>
                <a:ea typeface="Arial Unicode MS"/>
                <a:cs typeface="Arial Unicode MS"/>
              </a:defRPr>
            </a:pPr>
            <a:r>
              <a:rPr sz="2200" b="1" i="0" spc="0">
                <a:solidFill>
                  <a:srgbClr val="DDF06F"/>
                </a:solidFill>
                <a:latin typeface="Arial Unicode MS"/>
                <a:ea typeface="Arial Unicode MS"/>
                <a:cs typeface="Arial Unicode MS"/>
              </a:rPr>
              <a:t>扩张</a:t>
            </a:r>
          </a:p>
        </p:txBody>
      </p:sp>
      <p:sp>
        <p:nvSpPr>
          <p:cNvPr id="13" name="p4-b3-node"/>
          <p:cNvSpPr txBox="1"/>
          <p:nvPr/>
        </p:nvSpPr>
        <p:spPr>
          <a:xfrm>
            <a:off x="8382000" y="3238500"/>
            <a:ext cx="3035300" cy="15113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500" b="0" i="0">
                <a:solidFill>
                  <a:srgbClr val="F4F0E7"/>
                </a:solidFill>
                <a:latin typeface="Arial Unicode MS"/>
                <a:ea typeface="Arial Unicode MS"/>
                <a:cs typeface="Arial Unicode MS"/>
              </a:defRPr>
            </a:pPr>
            <a:r>
              <a:rPr sz="1500" b="0" i="0" spc="0">
                <a:solidFill>
                  <a:srgbClr val="F4F0E7"/>
                </a:solidFill>
                <a:latin typeface="Arial Unicode MS"/>
                <a:ea typeface="Arial Unicode MS"/>
                <a:cs typeface="Arial Unicode MS"/>
              </a:rPr>
              <a:t>产业集群促进资源共享</a:t>
            </a:r>
          </a:p>
          <a:p>
            <a:pPr algn="l">
              <a:lnSpc>
                <a:spcPct val="118000"/>
              </a:lnSpc>
              <a:spcBef>
                <a:spcPts val="0"/>
              </a:spcBef>
              <a:spcAft>
                <a:spcPts val="0"/>
              </a:spcAft>
              <a:defRPr sz="1500" b="0" i="0">
                <a:solidFill>
                  <a:srgbClr val="F4F0E7"/>
                </a:solidFill>
                <a:latin typeface="Arial Unicode MS"/>
                <a:ea typeface="Arial Unicode MS"/>
                <a:cs typeface="Arial Unicode MS"/>
              </a:defRPr>
            </a:pPr>
            <a:r>
              <a:rPr sz="1500" b="0" i="0" spc="0">
                <a:solidFill>
                  <a:srgbClr val="F4F0E7"/>
                </a:solidFill>
                <a:latin typeface="Arial Unicode MS"/>
                <a:ea typeface="Arial Unicode MS"/>
                <a:cs typeface="Arial Unicode MS"/>
              </a:rPr>
              <a:t>“智赋万企”开展供需对接</a:t>
            </a:r>
          </a:p>
          <a:p>
            <a:pPr algn="l">
              <a:lnSpc>
                <a:spcPct val="118000"/>
              </a:lnSpc>
              <a:spcBef>
                <a:spcPts val="0"/>
              </a:spcBef>
              <a:spcAft>
                <a:spcPts val="0"/>
              </a:spcAft>
              <a:defRPr sz="1500" b="0" i="0">
                <a:solidFill>
                  <a:srgbClr val="F4F0E7"/>
                </a:solidFill>
                <a:latin typeface="Arial Unicode MS"/>
                <a:ea typeface="Arial Unicode MS"/>
                <a:cs typeface="Arial Unicode MS"/>
              </a:defRPr>
            </a:pPr>
            <a:r>
              <a:rPr sz="1500" b="0" i="0" spc="0">
                <a:solidFill>
                  <a:srgbClr val="F4F0E7"/>
                </a:solidFill>
                <a:latin typeface="Arial Unicode MS"/>
                <a:ea typeface="Arial Unicode MS"/>
                <a:cs typeface="Arial Unicode MS"/>
              </a:rPr>
              <a:t>聚焦经营管理、生产制造、</a:t>
            </a:r>
          </a:p>
          <a:p>
            <a:pPr algn="l">
              <a:lnSpc>
                <a:spcPct val="118000"/>
              </a:lnSpc>
              <a:spcBef>
                <a:spcPts val="0"/>
              </a:spcBef>
              <a:spcAft>
                <a:spcPts val="0"/>
              </a:spcAft>
              <a:defRPr sz="1500" b="0" i="0">
                <a:solidFill>
                  <a:srgbClr val="F4F0E7"/>
                </a:solidFill>
                <a:latin typeface="Arial Unicode MS"/>
                <a:ea typeface="Arial Unicode MS"/>
                <a:cs typeface="Arial Unicode MS"/>
              </a:defRPr>
            </a:pPr>
            <a:r>
              <a:rPr sz="1500" b="0" i="0" spc="0">
                <a:solidFill>
                  <a:srgbClr val="F4F0E7"/>
                </a:solidFill>
                <a:latin typeface="Arial Unicode MS"/>
                <a:ea typeface="Arial Unicode MS"/>
                <a:cs typeface="Arial Unicode MS"/>
              </a:rPr>
              <a:t>研发设计等核心业务</a:t>
            </a:r>
          </a:p>
        </p:txBody>
      </p:sp>
      <p:sp>
        <p:nvSpPr>
          <p:cNvPr id="14" name="p4-bottom-node"/>
          <p:cNvSpPr txBox="1"/>
          <p:nvPr/>
        </p:nvSpPr>
        <p:spPr>
          <a:xfrm>
            <a:off x="609600" y="5664200"/>
            <a:ext cx="10972800" cy="4318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700" b="1" i="0">
                <a:solidFill>
                  <a:srgbClr val="173F35"/>
                </a:solidFill>
                <a:latin typeface="Arial Unicode MS"/>
                <a:ea typeface="Arial Unicode MS"/>
                <a:cs typeface="Arial Unicode MS"/>
              </a:defRPr>
            </a:pPr>
            <a:r>
              <a:rPr sz="1700" b="1" i="0" spc="0">
                <a:solidFill>
                  <a:srgbClr val="173F35"/>
                </a:solidFill>
                <a:latin typeface="Arial Unicode MS"/>
                <a:ea typeface="Arial Unicode MS"/>
                <a:cs typeface="Arial Unicode MS"/>
              </a:rPr>
              <a:t>产品方向  /  面向真实业务，形成“小快轻准”的 AI 产品解决方案</a:t>
            </a:r>
          </a:p>
        </p:txBody>
      </p:sp>
      <p:sp>
        <p:nvSpPr>
          <p:cNvPr id="15" name="p4-source-node"/>
          <p:cNvSpPr txBox="1"/>
          <p:nvPr/>
        </p:nvSpPr>
        <p:spPr>
          <a:xfrm>
            <a:off x="609600" y="6413500"/>
            <a:ext cx="10033000" cy="2286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000" b="0" i="0">
                <a:solidFill>
                  <a:srgbClr val="667569"/>
                </a:solidFill>
                <a:latin typeface="Arial Unicode MS"/>
                <a:ea typeface="Arial Unicode MS"/>
                <a:cs typeface="Arial Unicode MS"/>
              </a:defRPr>
            </a:pPr>
            <a:r>
              <a:rPr sz="1000" b="0" i="0" spc="0">
                <a:solidFill>
                  <a:srgbClr val="667569"/>
                </a:solidFill>
                <a:latin typeface="Arial Unicode MS"/>
                <a:ea typeface="Arial Unicode MS"/>
                <a:cs typeface="Arial Unicode MS"/>
              </a:rPr>
              <a:t>来源：《计划》PDF，第3—5页，第4—8项。阶段划分为作者整理，并非官方资格分档。</a:t>
            </a:r>
          </a:p>
        </p:txBody>
      </p:sp>
      <p:sp>
        <p:nvSpPr>
          <p:cNvPr id="16" name="p4-page-node"/>
          <p:cNvSpPr txBox="1"/>
          <p:nvPr/>
        </p:nvSpPr>
        <p:spPr>
          <a:xfrm>
            <a:off x="10642600" y="6413500"/>
            <a:ext cx="939800" cy="228600"/>
          </a:xfrm>
          <a:prstGeom prst="rect">
            <a:avLst/>
          </a:prstGeom>
          <a:noFill/>
          <a:ln>
            <a:noFill/>
          </a:ln>
          <a:effectLst/>
        </p:spPr>
        <p:txBody>
          <a:bodyPr wrap="square" anchor="t" lIns="0" rIns="0" tIns="0" bIns="0">
            <a:noAutofit/>
          </a:bodyPr>
          <a:lstStyle/>
          <a:p>
            <a:pPr algn="r">
              <a:lnSpc>
                <a:spcPct val="115000"/>
              </a:lnSpc>
              <a:spcBef>
                <a:spcPts val="0"/>
              </a:spcBef>
              <a:spcAft>
                <a:spcPts val="0"/>
              </a:spcAft>
              <a:defRPr sz="1000" b="0" i="0">
                <a:solidFill>
                  <a:srgbClr val="667569"/>
                </a:solidFill>
                <a:latin typeface="Arial Unicode MS"/>
                <a:ea typeface="Arial Unicode MS"/>
                <a:cs typeface="Arial Unicode MS"/>
              </a:defRPr>
            </a:pPr>
            <a:r>
              <a:rPr sz="1000" b="0" i="0" spc="0">
                <a:solidFill>
                  <a:srgbClr val="667569"/>
                </a:solidFill>
                <a:latin typeface="Arial Unicode MS"/>
                <a:ea typeface="Arial Unicode MS"/>
                <a:cs typeface="Arial Unicode MS"/>
              </a:rPr>
              <a:t>04 / 06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0E7"/>
        </a:solidFill>
        <a:effectLst/>
      </p:bgPr>
    </p:bg>
    <p:spTree>
      <p:nvGrpSpPr>
        <p:cNvPr id="1" name=""/>
        <p:cNvGrpSpPr/>
        <p:nvPr/>
      </p:nvGrpSpPr>
      <p:grpSpPr/>
      <p:sp>
        <p:nvSpPr>
          <p:cNvPr id="2" name="p5-kicker-node"/>
          <p:cNvSpPr txBox="1"/>
          <p:nvPr/>
        </p:nvSpPr>
        <p:spPr>
          <a:xfrm>
            <a:off x="609600" y="431800"/>
            <a:ext cx="9652000" cy="2794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667569"/>
                </a:solidFill>
                <a:latin typeface="Arial Unicode MS"/>
                <a:ea typeface="Arial Unicode MS"/>
                <a:cs typeface="Arial Unicode MS"/>
              </a:defRPr>
            </a:pPr>
            <a:r>
              <a:rPr sz="1200" b="1" i="0" spc="0">
                <a:solidFill>
                  <a:srgbClr val="667569"/>
                </a:solidFill>
                <a:latin typeface="Arial Unicode MS"/>
                <a:ea typeface="Arial Unicode MS"/>
                <a:cs typeface="Arial Unicode MS"/>
              </a:rPr>
              <a:t>04  /  开源生态与创业保障</a:t>
            </a:r>
          </a:p>
        </p:txBody>
      </p:sp>
      <p:sp>
        <p:nvSpPr>
          <p:cNvPr id="3" name="p5-title-node"/>
          <p:cNvSpPr txBox="1"/>
          <p:nvPr/>
        </p:nvSpPr>
        <p:spPr>
          <a:xfrm>
            <a:off x="609600" y="889000"/>
            <a:ext cx="10972800" cy="635000"/>
          </a:xfrm>
          <a:prstGeom prst="rect">
            <a:avLst/>
          </a:prstGeom>
          <a:noFill/>
          <a:ln>
            <a:noFill/>
          </a:ln>
          <a:effectLst/>
        </p:spPr>
        <p:txBody>
          <a:bodyPr wrap="square" anchor="t" lIns="0" rIns="0" tIns="0" bIns="0">
            <a:noAutofit/>
          </a:bodyPr>
          <a:lstStyle/>
          <a:p>
            <a:pPr algn="l">
              <a:lnSpc>
                <a:spcPct val="110000"/>
              </a:lnSpc>
              <a:spcBef>
                <a:spcPts val="0"/>
              </a:spcBef>
              <a:spcAft>
                <a:spcPts val="0"/>
              </a:spcAft>
              <a:defRPr sz="2800" b="1" i="0">
                <a:solidFill>
                  <a:srgbClr val="173F35"/>
                </a:solidFill>
                <a:latin typeface="Arial Unicode MS"/>
                <a:ea typeface="Arial Unicode MS"/>
                <a:cs typeface="Arial Unicode MS"/>
              </a:defRPr>
            </a:pPr>
            <a:r>
              <a:rPr sz="2800" b="1" i="0" spc="0">
                <a:solidFill>
                  <a:srgbClr val="173F35"/>
                </a:solidFill>
                <a:latin typeface="Arial Unicode MS"/>
                <a:ea typeface="Arial Unicode MS"/>
                <a:cs typeface="Arial Unicode MS"/>
              </a:rPr>
              <a:t>用开源降低研发成本，用服务支撑商业化</a:t>
            </a:r>
          </a:p>
        </p:txBody>
      </p:sp>
      <p:sp>
        <p:nvSpPr>
          <p:cNvPr id="4" name="p5-left-bg"/>
          <p:cNvSpPr/>
          <p:nvPr/>
        </p:nvSpPr>
        <p:spPr>
          <a:xfrm>
            <a:off x="609600" y="1828800"/>
            <a:ext cx="4927600" cy="4178300"/>
          </a:xfrm>
          <a:prstGeom prst="rect">
            <a:avLst/>
          </a:prstGeom>
          <a:solidFill>
            <a:srgbClr val="173F35"/>
          </a:solidFill>
          <a:ln>
            <a:noFill/>
          </a:ln>
          <a:effectLst/>
        </p:spPr>
        <p:txBody>
          <a:bodyPr rtlCol="0" anchor="ctr"/>
          <a:lstStyle/>
          <a:p>
            <a:pPr algn="ctr"/>
          </a:p>
        </p:txBody>
      </p:sp>
      <p:sp>
        <p:nvSpPr>
          <p:cNvPr id="5" name="p5-left-title-node"/>
          <p:cNvSpPr txBox="1"/>
          <p:nvPr/>
        </p:nvSpPr>
        <p:spPr>
          <a:xfrm>
            <a:off x="889000" y="2133600"/>
            <a:ext cx="4356100" cy="4826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2200" b="1" i="0">
                <a:solidFill>
                  <a:srgbClr val="DDF06F"/>
                </a:solidFill>
                <a:latin typeface="Arial Unicode MS"/>
                <a:ea typeface="Arial Unicode MS"/>
                <a:cs typeface="Arial Unicode MS"/>
              </a:defRPr>
            </a:pPr>
            <a:r>
              <a:rPr sz="2200" b="1" i="0" spc="0">
                <a:solidFill>
                  <a:srgbClr val="DDF06F"/>
                </a:solidFill>
                <a:latin typeface="Arial Unicode MS"/>
                <a:ea typeface="Arial Unicode MS"/>
                <a:cs typeface="Arial Unicode MS"/>
              </a:rPr>
              <a:t>开源资源 → 行业产品</a:t>
            </a:r>
          </a:p>
        </p:txBody>
      </p:sp>
      <p:sp>
        <p:nvSpPr>
          <p:cNvPr id="6" name="p5-left-intro-node"/>
          <p:cNvSpPr txBox="1"/>
          <p:nvPr/>
        </p:nvSpPr>
        <p:spPr>
          <a:xfrm>
            <a:off x="889000" y="2819400"/>
            <a:ext cx="4356100" cy="8001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0" i="0">
                <a:solidFill>
                  <a:srgbClr val="F4F0E7"/>
                </a:solidFill>
                <a:latin typeface="Arial Unicode MS"/>
                <a:ea typeface="Arial Unicode MS"/>
                <a:cs typeface="Arial Unicode MS"/>
              </a:defRPr>
            </a:pPr>
            <a:r>
              <a:rPr sz="1600" b="0" i="0" spc="0">
                <a:solidFill>
                  <a:srgbClr val="F4F0E7"/>
                </a:solidFill>
                <a:latin typeface="Arial Unicode MS"/>
                <a:ea typeface="Arial Unicode MS"/>
                <a:cs typeface="Arial Unicode MS"/>
              </a:rPr>
              <a:t>支持 AtomGit 等开源生态，</a:t>
            </a:r>
          </a:p>
          <a:p>
            <a:pPr algn="l">
              <a:lnSpc>
                <a:spcPct val="118000"/>
              </a:lnSpc>
              <a:spcBef>
                <a:spcPts val="0"/>
              </a:spcBef>
              <a:spcAft>
                <a:spcPts val="0"/>
              </a:spcAft>
              <a:defRPr sz="1600" b="0" i="0">
                <a:solidFill>
                  <a:srgbClr val="F4F0E7"/>
                </a:solidFill>
                <a:latin typeface="Arial Unicode MS"/>
                <a:ea typeface="Arial Unicode MS"/>
                <a:cs typeface="Arial Unicode MS"/>
              </a:defRPr>
            </a:pPr>
            <a:r>
              <a:rPr sz="1600" b="0" i="0" spc="0">
                <a:solidFill>
                  <a:srgbClr val="F4F0E7"/>
                </a:solidFill>
                <a:latin typeface="Arial Unicode MS"/>
                <a:ea typeface="Arial Unicode MS"/>
                <a:cs typeface="Arial Unicode MS"/>
              </a:rPr>
              <a:t>鼓励贡献模型、工具和数据集。</a:t>
            </a:r>
          </a:p>
        </p:txBody>
      </p:sp>
      <p:sp>
        <p:nvSpPr>
          <p:cNvPr id="7" name="p5-flow-line"/>
          <p:cNvSpPr/>
          <p:nvPr/>
        </p:nvSpPr>
        <p:spPr>
          <a:xfrm>
            <a:off x="889000" y="4140200"/>
            <a:ext cx="4368800" cy="25400"/>
          </a:xfrm>
          <a:prstGeom prst="rect">
            <a:avLst/>
          </a:prstGeom>
          <a:solidFill>
            <a:srgbClr val="6D8F77"/>
          </a:solidFill>
          <a:ln>
            <a:noFill/>
          </a:ln>
          <a:effectLst/>
        </p:spPr>
        <p:txBody>
          <a:bodyPr rtlCol="0" anchor="ctr"/>
          <a:lstStyle/>
          <a:p>
            <a:pPr algn="ctr"/>
          </a:p>
        </p:txBody>
      </p:sp>
      <p:sp>
        <p:nvSpPr>
          <p:cNvPr id="8" name="p5-flow1-node"/>
          <p:cNvSpPr txBox="1"/>
          <p:nvPr/>
        </p:nvSpPr>
        <p:spPr>
          <a:xfrm>
            <a:off x="889000" y="3708400"/>
            <a:ext cx="1016000" cy="3810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1" i="0">
                <a:solidFill>
                  <a:srgbClr val="DDF06F"/>
                </a:solidFill>
                <a:latin typeface="Arial Unicode MS"/>
                <a:ea typeface="Arial Unicode MS"/>
                <a:cs typeface="Arial Unicode MS"/>
              </a:defRPr>
            </a:pPr>
            <a:r>
              <a:rPr sz="1600" b="1" i="0" spc="0">
                <a:solidFill>
                  <a:srgbClr val="DDF06F"/>
                </a:solidFill>
                <a:latin typeface="Arial Unicode MS"/>
                <a:ea typeface="Arial Unicode MS"/>
                <a:cs typeface="Arial Unicode MS"/>
              </a:rPr>
              <a:t>选型</a:t>
            </a:r>
          </a:p>
        </p:txBody>
      </p:sp>
      <p:sp>
        <p:nvSpPr>
          <p:cNvPr id="9" name="p5-flow2-node"/>
          <p:cNvSpPr txBox="1"/>
          <p:nvPr/>
        </p:nvSpPr>
        <p:spPr>
          <a:xfrm>
            <a:off x="2387600" y="3708400"/>
            <a:ext cx="1016000" cy="3810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1" i="0">
                <a:solidFill>
                  <a:srgbClr val="DDF06F"/>
                </a:solidFill>
                <a:latin typeface="Arial Unicode MS"/>
                <a:ea typeface="Arial Unicode MS"/>
                <a:cs typeface="Arial Unicode MS"/>
              </a:defRPr>
            </a:pPr>
            <a:r>
              <a:rPr sz="1600" b="1" i="0" spc="0">
                <a:solidFill>
                  <a:srgbClr val="DDF06F"/>
                </a:solidFill>
                <a:latin typeface="Arial Unicode MS"/>
                <a:ea typeface="Arial Unicode MS"/>
                <a:cs typeface="Arial Unicode MS"/>
              </a:rPr>
              <a:t>适配</a:t>
            </a:r>
          </a:p>
        </p:txBody>
      </p:sp>
      <p:sp>
        <p:nvSpPr>
          <p:cNvPr id="10" name="p5-flow3-node"/>
          <p:cNvSpPr txBox="1"/>
          <p:nvPr/>
        </p:nvSpPr>
        <p:spPr>
          <a:xfrm>
            <a:off x="3911600" y="3708400"/>
            <a:ext cx="1371600" cy="3810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1" i="0">
                <a:solidFill>
                  <a:srgbClr val="DDF06F"/>
                </a:solidFill>
                <a:latin typeface="Arial Unicode MS"/>
                <a:ea typeface="Arial Unicode MS"/>
                <a:cs typeface="Arial Unicode MS"/>
              </a:defRPr>
            </a:pPr>
            <a:r>
              <a:rPr sz="1600" b="1" i="0" spc="0">
                <a:solidFill>
                  <a:srgbClr val="DDF06F"/>
                </a:solidFill>
                <a:latin typeface="Arial Unicode MS"/>
                <a:ea typeface="Arial Unicode MS"/>
                <a:cs typeface="Arial Unicode MS"/>
              </a:rPr>
              <a:t>评测部署</a:t>
            </a:r>
          </a:p>
        </p:txBody>
      </p:sp>
      <p:sp>
        <p:nvSpPr>
          <p:cNvPr id="11" name="p5-left-out-node"/>
          <p:cNvSpPr txBox="1"/>
          <p:nvPr/>
        </p:nvSpPr>
        <p:spPr>
          <a:xfrm>
            <a:off x="889000" y="4343400"/>
            <a:ext cx="4356100" cy="8001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0" i="0">
                <a:solidFill>
                  <a:srgbClr val="F4F0E7"/>
                </a:solidFill>
                <a:latin typeface="Arial Unicode MS"/>
                <a:ea typeface="Arial Unicode MS"/>
                <a:cs typeface="Arial Unicode MS"/>
              </a:defRPr>
            </a:pPr>
            <a:r>
              <a:rPr sz="1600" b="0" i="0" spc="0">
                <a:solidFill>
                  <a:srgbClr val="F4F0E7"/>
                </a:solidFill>
                <a:latin typeface="Arial Unicode MS"/>
                <a:ea typeface="Arial Unicode MS"/>
                <a:cs typeface="Arial Unicode MS"/>
              </a:rPr>
              <a:t>面向细分行业和专业场景，</a:t>
            </a:r>
          </a:p>
          <a:p>
            <a:pPr algn="l">
              <a:lnSpc>
                <a:spcPct val="118000"/>
              </a:lnSpc>
              <a:spcBef>
                <a:spcPts val="0"/>
              </a:spcBef>
              <a:spcAft>
                <a:spcPts val="0"/>
              </a:spcAft>
              <a:defRPr sz="1600" b="0" i="0">
                <a:solidFill>
                  <a:srgbClr val="F4F0E7"/>
                </a:solidFill>
                <a:latin typeface="Arial Unicode MS"/>
                <a:ea typeface="Arial Unicode MS"/>
                <a:cs typeface="Arial Unicode MS"/>
              </a:defRPr>
            </a:pPr>
            <a:r>
              <a:rPr sz="1600" b="0" i="0" spc="0">
                <a:solidFill>
                  <a:srgbClr val="F4F0E7"/>
                </a:solidFill>
                <a:latin typeface="Arial Unicode MS"/>
                <a:ea typeface="Arial Unicode MS"/>
                <a:cs typeface="Arial Unicode MS"/>
              </a:rPr>
              <a:t>开发软件产品、垂类模型与解决方案。</a:t>
            </a:r>
          </a:p>
        </p:txBody>
      </p:sp>
      <p:sp>
        <p:nvSpPr>
          <p:cNvPr id="12" name="p5-left-call-node"/>
          <p:cNvSpPr txBox="1"/>
          <p:nvPr/>
        </p:nvSpPr>
        <p:spPr>
          <a:xfrm>
            <a:off x="889000" y="5473700"/>
            <a:ext cx="4445000" cy="3048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B9CABA"/>
                </a:solidFill>
                <a:latin typeface="Arial Unicode MS"/>
                <a:ea typeface="Arial Unicode MS"/>
                <a:cs typeface="Arial Unicode MS"/>
              </a:defRPr>
            </a:pPr>
            <a:r>
              <a:rPr sz="1200" b="1" i="0" spc="0">
                <a:solidFill>
                  <a:srgbClr val="B9CABA"/>
                </a:solidFill>
                <a:latin typeface="Arial Unicode MS"/>
                <a:ea typeface="Arial Unicode MS"/>
                <a:cs typeface="Arial Unicode MS"/>
              </a:rPr>
              <a:t>创业者关注：差异化价值与可持续交付</a:t>
            </a:r>
          </a:p>
        </p:txBody>
      </p:sp>
      <p:sp>
        <p:nvSpPr>
          <p:cNvPr id="13" name="p5-right-title-node"/>
          <p:cNvSpPr txBox="1"/>
          <p:nvPr/>
        </p:nvSpPr>
        <p:spPr>
          <a:xfrm>
            <a:off x="6032500" y="1892300"/>
            <a:ext cx="5537200" cy="4318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2000" b="1" i="0">
                <a:solidFill>
                  <a:srgbClr val="173F35"/>
                </a:solidFill>
                <a:latin typeface="Arial Unicode MS"/>
                <a:ea typeface="Arial Unicode MS"/>
                <a:cs typeface="Arial Unicode MS"/>
              </a:defRPr>
            </a:pPr>
            <a:r>
              <a:rPr sz="2000" b="1" i="0" spc="0">
                <a:solidFill>
                  <a:srgbClr val="173F35"/>
                </a:solidFill>
                <a:latin typeface="Arial Unicode MS"/>
                <a:ea typeface="Arial Unicode MS"/>
                <a:cs typeface="Arial Unicode MS"/>
              </a:rPr>
              <a:t>四类保障伴随成长</a:t>
            </a:r>
          </a:p>
        </p:txBody>
      </p:sp>
      <p:sp>
        <p:nvSpPr>
          <p:cNvPr id="14" name="p5-r1-head-node"/>
          <p:cNvSpPr txBox="1"/>
          <p:nvPr/>
        </p:nvSpPr>
        <p:spPr>
          <a:xfrm>
            <a:off x="6032500" y="2590800"/>
            <a:ext cx="660400" cy="3556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1" i="0">
                <a:solidFill>
                  <a:srgbClr val="173F35"/>
                </a:solidFill>
                <a:latin typeface="Arial Unicode MS"/>
                <a:ea typeface="Arial Unicode MS"/>
                <a:cs typeface="Arial Unicode MS"/>
              </a:defRPr>
            </a:pPr>
            <a:r>
              <a:rPr sz="1600" b="1" i="0" spc="0">
                <a:solidFill>
                  <a:srgbClr val="173F35"/>
                </a:solidFill>
                <a:latin typeface="Arial Unicode MS"/>
                <a:ea typeface="Arial Unicode MS"/>
                <a:cs typeface="Arial Unicode MS"/>
              </a:rPr>
              <a:t>人才</a:t>
            </a:r>
          </a:p>
        </p:txBody>
      </p:sp>
      <p:sp>
        <p:nvSpPr>
          <p:cNvPr id="15" name="p5-r1-body-node"/>
          <p:cNvSpPr txBox="1"/>
          <p:nvPr/>
        </p:nvSpPr>
        <p:spPr>
          <a:xfrm>
            <a:off x="6946900" y="2514600"/>
            <a:ext cx="4635500" cy="6604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复合型人才培养、创业课程、</a:t>
            </a:r>
          </a:p>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技术经理人匹配科研成果</a:t>
            </a:r>
          </a:p>
        </p:txBody>
      </p:sp>
      <p:sp>
        <p:nvSpPr>
          <p:cNvPr id="16" name="p5-rline1"/>
          <p:cNvSpPr/>
          <p:nvPr/>
        </p:nvSpPr>
        <p:spPr>
          <a:xfrm>
            <a:off x="6032500" y="3276600"/>
            <a:ext cx="5549900" cy="12700"/>
          </a:xfrm>
          <a:prstGeom prst="rect">
            <a:avLst/>
          </a:prstGeom>
          <a:solidFill>
            <a:srgbClr val="CDD5C7"/>
          </a:solidFill>
          <a:ln>
            <a:noFill/>
          </a:ln>
          <a:effectLst/>
        </p:spPr>
        <p:txBody>
          <a:bodyPr rtlCol="0" anchor="ctr"/>
          <a:lstStyle/>
          <a:p>
            <a:pPr algn="ctr"/>
          </a:p>
        </p:txBody>
      </p:sp>
      <p:sp>
        <p:nvSpPr>
          <p:cNvPr id="17" name="p5-r2-head-node"/>
          <p:cNvSpPr txBox="1"/>
          <p:nvPr/>
        </p:nvSpPr>
        <p:spPr>
          <a:xfrm>
            <a:off x="6032500" y="3517900"/>
            <a:ext cx="660400" cy="3556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1" i="0">
                <a:solidFill>
                  <a:srgbClr val="173F35"/>
                </a:solidFill>
                <a:latin typeface="Arial Unicode MS"/>
                <a:ea typeface="Arial Unicode MS"/>
                <a:cs typeface="Arial Unicode MS"/>
              </a:defRPr>
            </a:pPr>
            <a:r>
              <a:rPr sz="1600" b="1" i="0" spc="0">
                <a:solidFill>
                  <a:srgbClr val="173F35"/>
                </a:solidFill>
                <a:latin typeface="Arial Unicode MS"/>
                <a:ea typeface="Arial Unicode MS"/>
                <a:cs typeface="Arial Unicode MS"/>
              </a:rPr>
              <a:t>融资</a:t>
            </a:r>
          </a:p>
        </p:txBody>
      </p:sp>
      <p:sp>
        <p:nvSpPr>
          <p:cNvPr id="18" name="p5-r2-body-node"/>
          <p:cNvSpPr txBox="1"/>
          <p:nvPr/>
        </p:nvSpPr>
        <p:spPr>
          <a:xfrm>
            <a:off x="6946900" y="3441700"/>
            <a:ext cx="4635500" cy="6604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耐心资本、投融资专栏与线上路演；</a:t>
            </a:r>
          </a:p>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探索算力入股、数据入股、投孵联动</a:t>
            </a:r>
          </a:p>
        </p:txBody>
      </p:sp>
      <p:sp>
        <p:nvSpPr>
          <p:cNvPr id="19" name="p5-rline2"/>
          <p:cNvSpPr/>
          <p:nvPr/>
        </p:nvSpPr>
        <p:spPr>
          <a:xfrm>
            <a:off x="6032500" y="4203700"/>
            <a:ext cx="5549900" cy="12700"/>
          </a:xfrm>
          <a:prstGeom prst="rect">
            <a:avLst/>
          </a:prstGeom>
          <a:solidFill>
            <a:srgbClr val="CDD5C7"/>
          </a:solidFill>
          <a:ln>
            <a:noFill/>
          </a:ln>
          <a:effectLst/>
        </p:spPr>
        <p:txBody>
          <a:bodyPr rtlCol="0" anchor="ctr"/>
          <a:lstStyle/>
          <a:p>
            <a:pPr algn="ctr"/>
          </a:p>
        </p:txBody>
      </p:sp>
      <p:sp>
        <p:nvSpPr>
          <p:cNvPr id="20" name="p5-r3-head-node"/>
          <p:cNvSpPr txBox="1"/>
          <p:nvPr/>
        </p:nvSpPr>
        <p:spPr>
          <a:xfrm>
            <a:off x="6032500" y="4445000"/>
            <a:ext cx="660400" cy="3556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1" i="0">
                <a:solidFill>
                  <a:srgbClr val="173F35"/>
                </a:solidFill>
                <a:latin typeface="Arial Unicode MS"/>
                <a:ea typeface="Arial Unicode MS"/>
                <a:cs typeface="Arial Unicode MS"/>
              </a:defRPr>
            </a:pPr>
            <a:r>
              <a:rPr sz="1600" b="1" i="0" spc="0">
                <a:solidFill>
                  <a:srgbClr val="173F35"/>
                </a:solidFill>
                <a:latin typeface="Arial Unicode MS"/>
                <a:ea typeface="Arial Unicode MS"/>
                <a:cs typeface="Arial Unicode MS"/>
              </a:rPr>
              <a:t>合规</a:t>
            </a:r>
          </a:p>
        </p:txBody>
      </p:sp>
      <p:sp>
        <p:nvSpPr>
          <p:cNvPr id="21" name="p5-r3-body-node"/>
          <p:cNvSpPr txBox="1"/>
          <p:nvPr/>
        </p:nvSpPr>
        <p:spPr>
          <a:xfrm>
            <a:off x="6946900" y="4368800"/>
            <a:ext cx="4635500" cy="6604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知识产权布局；算法备案、伦理审查、</a:t>
            </a:r>
          </a:p>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安全测试评估等咨询与技术服务</a:t>
            </a:r>
          </a:p>
        </p:txBody>
      </p:sp>
      <p:sp>
        <p:nvSpPr>
          <p:cNvPr id="22" name="p5-rline3"/>
          <p:cNvSpPr/>
          <p:nvPr/>
        </p:nvSpPr>
        <p:spPr>
          <a:xfrm>
            <a:off x="6032500" y="5130800"/>
            <a:ext cx="5549900" cy="12700"/>
          </a:xfrm>
          <a:prstGeom prst="rect">
            <a:avLst/>
          </a:prstGeom>
          <a:solidFill>
            <a:srgbClr val="CDD5C7"/>
          </a:solidFill>
          <a:ln>
            <a:noFill/>
          </a:ln>
          <a:effectLst/>
        </p:spPr>
        <p:txBody>
          <a:bodyPr rtlCol="0" anchor="ctr"/>
          <a:lstStyle/>
          <a:p>
            <a:pPr algn="ctr"/>
          </a:p>
        </p:txBody>
      </p:sp>
      <p:sp>
        <p:nvSpPr>
          <p:cNvPr id="23" name="p5-r4-head-node"/>
          <p:cNvSpPr txBox="1"/>
          <p:nvPr/>
        </p:nvSpPr>
        <p:spPr>
          <a:xfrm>
            <a:off x="6032500" y="5372100"/>
            <a:ext cx="660400" cy="3556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600" b="1" i="0">
                <a:solidFill>
                  <a:srgbClr val="173F35"/>
                </a:solidFill>
                <a:latin typeface="Arial Unicode MS"/>
                <a:ea typeface="Arial Unicode MS"/>
                <a:cs typeface="Arial Unicode MS"/>
              </a:defRPr>
            </a:pPr>
            <a:r>
              <a:rPr sz="1600" b="1" i="0" spc="0">
                <a:solidFill>
                  <a:srgbClr val="173F35"/>
                </a:solidFill>
                <a:latin typeface="Arial Unicode MS"/>
                <a:ea typeface="Arial Unicode MS"/>
                <a:cs typeface="Arial Unicode MS"/>
              </a:rPr>
              <a:t>国际</a:t>
            </a:r>
          </a:p>
        </p:txBody>
      </p:sp>
      <p:sp>
        <p:nvSpPr>
          <p:cNvPr id="24" name="p5-r4-body-node"/>
          <p:cNvSpPr txBox="1"/>
          <p:nvPr/>
        </p:nvSpPr>
        <p:spPr>
          <a:xfrm>
            <a:off x="6946900" y="5295900"/>
            <a:ext cx="4635500" cy="6604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技术交流、项目协作，</a:t>
            </a:r>
          </a:p>
          <a:p>
            <a:pPr algn="l">
              <a:lnSpc>
                <a:spcPct val="118000"/>
              </a:lnSpc>
              <a:spcBef>
                <a:spcPts val="0"/>
              </a:spcBef>
              <a:spcAft>
                <a:spcPts val="0"/>
              </a:spcAft>
              <a:defRPr sz="1400" b="0" i="0">
                <a:solidFill>
                  <a:srgbClr val="173F35"/>
                </a:solidFill>
                <a:latin typeface="Arial Unicode MS"/>
                <a:ea typeface="Arial Unicode MS"/>
                <a:cs typeface="Arial Unicode MS"/>
              </a:defRPr>
            </a:pPr>
            <a:r>
              <a:rPr sz="1400" b="0" i="0" spc="0">
                <a:solidFill>
                  <a:srgbClr val="173F35"/>
                </a:solidFill>
                <a:latin typeface="Arial Unicode MS"/>
                <a:ea typeface="Arial Unicode MS"/>
                <a:cs typeface="Arial Unicode MS"/>
              </a:rPr>
              <a:t>国际展会与专业论坛对接</a:t>
            </a:r>
          </a:p>
        </p:txBody>
      </p:sp>
      <p:sp>
        <p:nvSpPr>
          <p:cNvPr id="25" name="p5-source-node"/>
          <p:cNvSpPr txBox="1"/>
          <p:nvPr/>
        </p:nvSpPr>
        <p:spPr>
          <a:xfrm>
            <a:off x="609600" y="6413500"/>
            <a:ext cx="10033000" cy="2286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000" b="0" i="0">
                <a:solidFill>
                  <a:srgbClr val="667569"/>
                </a:solidFill>
                <a:latin typeface="Arial Unicode MS"/>
                <a:ea typeface="Arial Unicode MS"/>
                <a:cs typeface="Arial Unicode MS"/>
              </a:defRPr>
            </a:pPr>
            <a:r>
              <a:rPr sz="1000" b="0" i="0" spc="0">
                <a:solidFill>
                  <a:srgbClr val="667569"/>
                </a:solidFill>
                <a:latin typeface="Arial Unicode MS"/>
                <a:ea typeface="Arial Unicode MS"/>
                <a:cs typeface="Arial Unicode MS"/>
              </a:rPr>
              <a:t>来源：《计划》PDF，第5—7页，第9—15项。具体支持方式包含鼓励、引导及探索安排。</a:t>
            </a:r>
          </a:p>
        </p:txBody>
      </p:sp>
      <p:sp>
        <p:nvSpPr>
          <p:cNvPr id="26" name="p5-page-node"/>
          <p:cNvSpPr txBox="1"/>
          <p:nvPr/>
        </p:nvSpPr>
        <p:spPr>
          <a:xfrm>
            <a:off x="10642600" y="6413500"/>
            <a:ext cx="939800" cy="228600"/>
          </a:xfrm>
          <a:prstGeom prst="rect">
            <a:avLst/>
          </a:prstGeom>
          <a:noFill/>
          <a:ln>
            <a:noFill/>
          </a:ln>
          <a:effectLst/>
        </p:spPr>
        <p:txBody>
          <a:bodyPr wrap="square" anchor="t" lIns="0" rIns="0" tIns="0" bIns="0">
            <a:noAutofit/>
          </a:bodyPr>
          <a:lstStyle/>
          <a:p>
            <a:pPr algn="r">
              <a:lnSpc>
                <a:spcPct val="115000"/>
              </a:lnSpc>
              <a:spcBef>
                <a:spcPts val="0"/>
              </a:spcBef>
              <a:spcAft>
                <a:spcPts val="0"/>
              </a:spcAft>
              <a:defRPr sz="1000" b="0" i="0">
                <a:solidFill>
                  <a:srgbClr val="667569"/>
                </a:solidFill>
                <a:latin typeface="Arial Unicode MS"/>
                <a:ea typeface="Arial Unicode MS"/>
                <a:cs typeface="Arial Unicode MS"/>
              </a:defRPr>
            </a:pPr>
            <a:r>
              <a:rPr sz="1000" b="0" i="0" spc="0">
                <a:solidFill>
                  <a:srgbClr val="667569"/>
                </a:solidFill>
                <a:latin typeface="Arial Unicode MS"/>
                <a:ea typeface="Arial Unicode MS"/>
                <a:cs typeface="Arial Unicode MS"/>
              </a:rPr>
              <a:t>05 / 06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0E7"/>
        </a:solidFill>
        <a:effectLst/>
      </p:bgPr>
    </p:bg>
    <p:spTree>
      <p:nvGrpSpPr>
        <p:cNvPr id="1" name=""/>
        <p:cNvGrpSpPr/>
        <p:nvPr/>
      </p:nvGrpSpPr>
      <p:grpSpPr/>
      <p:sp>
        <p:nvSpPr>
          <p:cNvPr id="2" name="p6-kicker-node"/>
          <p:cNvSpPr txBox="1"/>
          <p:nvPr/>
        </p:nvSpPr>
        <p:spPr>
          <a:xfrm>
            <a:off x="609600" y="431800"/>
            <a:ext cx="9652000" cy="2794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667569"/>
                </a:solidFill>
                <a:latin typeface="Arial Unicode MS"/>
                <a:ea typeface="Arial Unicode MS"/>
                <a:cs typeface="Arial Unicode MS"/>
              </a:defRPr>
            </a:pPr>
            <a:r>
              <a:rPr sz="1200" b="1" i="0" spc="0">
                <a:solidFill>
                  <a:srgbClr val="667569"/>
                </a:solidFill>
                <a:latin typeface="Arial Unicode MS"/>
                <a:ea typeface="Arial Unicode MS"/>
                <a:cs typeface="Arial Unicode MS"/>
              </a:rPr>
              <a:t>05  /  作者行动建议 · 非官方申报流程</a:t>
            </a:r>
          </a:p>
        </p:txBody>
      </p:sp>
      <p:sp>
        <p:nvSpPr>
          <p:cNvPr id="3" name="p6-title-node"/>
          <p:cNvSpPr txBox="1"/>
          <p:nvPr/>
        </p:nvSpPr>
        <p:spPr>
          <a:xfrm>
            <a:off x="609600" y="889000"/>
            <a:ext cx="10972800" cy="635000"/>
          </a:xfrm>
          <a:prstGeom prst="rect">
            <a:avLst/>
          </a:prstGeom>
          <a:noFill/>
          <a:ln>
            <a:noFill/>
          </a:ln>
          <a:effectLst/>
        </p:spPr>
        <p:txBody>
          <a:bodyPr wrap="square" anchor="t" lIns="0" rIns="0" tIns="0" bIns="0">
            <a:noAutofit/>
          </a:bodyPr>
          <a:lstStyle/>
          <a:p>
            <a:pPr algn="l">
              <a:lnSpc>
                <a:spcPct val="110000"/>
              </a:lnSpc>
              <a:spcBef>
                <a:spcPts val="0"/>
              </a:spcBef>
              <a:spcAft>
                <a:spcPts val="0"/>
              </a:spcAft>
              <a:defRPr sz="2700" b="1" i="0">
                <a:solidFill>
                  <a:srgbClr val="173F35"/>
                </a:solidFill>
                <a:latin typeface="Arial Unicode MS"/>
                <a:ea typeface="Arial Unicode MS"/>
                <a:cs typeface="Arial Unicode MS"/>
              </a:defRPr>
            </a:pPr>
            <a:r>
              <a:rPr sz="2700" b="1" i="0" spc="0">
                <a:solidFill>
                  <a:srgbClr val="173F35"/>
                </a:solidFill>
                <a:latin typeface="Arial Unicode MS"/>
                <a:ea typeface="Arial Unicode MS"/>
                <a:cs typeface="Arial Unicode MS"/>
              </a:rPr>
              <a:t>未来90天，把政策入口转成一个可验证试点</a:t>
            </a:r>
          </a:p>
        </p:txBody>
      </p:sp>
      <p:sp>
        <p:nvSpPr>
          <p:cNvPr id="4" name="p6-time-line"/>
          <p:cNvSpPr/>
          <p:nvPr/>
        </p:nvSpPr>
        <p:spPr>
          <a:xfrm>
            <a:off x="609600" y="1955800"/>
            <a:ext cx="10972800" cy="38100"/>
          </a:xfrm>
          <a:prstGeom prst="rect">
            <a:avLst/>
          </a:prstGeom>
          <a:solidFill>
            <a:srgbClr val="173F35"/>
          </a:solidFill>
          <a:ln>
            <a:noFill/>
          </a:ln>
          <a:effectLst/>
        </p:spPr>
        <p:txBody>
          <a:bodyPr rtlCol="0" anchor="ctr"/>
          <a:lstStyle/>
          <a:p>
            <a:pPr algn="ctr"/>
          </a:p>
        </p:txBody>
      </p:sp>
      <p:sp>
        <p:nvSpPr>
          <p:cNvPr id="5" name="p6-dot1"/>
          <p:cNvSpPr/>
          <p:nvPr/>
        </p:nvSpPr>
        <p:spPr>
          <a:xfrm>
            <a:off x="609600" y="1879600"/>
            <a:ext cx="190500" cy="190500"/>
          </a:xfrm>
          <a:prstGeom prst="ellipse">
            <a:avLst/>
          </a:prstGeom>
          <a:solidFill>
            <a:srgbClr val="173F35"/>
          </a:solidFill>
          <a:ln>
            <a:noFill/>
          </a:ln>
          <a:effectLst/>
        </p:spPr>
        <p:txBody>
          <a:bodyPr rtlCol="0" anchor="ctr"/>
          <a:lstStyle/>
          <a:p>
            <a:pPr algn="ctr"/>
          </a:p>
        </p:txBody>
      </p:sp>
      <p:sp>
        <p:nvSpPr>
          <p:cNvPr id="6" name="p6-dot2"/>
          <p:cNvSpPr/>
          <p:nvPr/>
        </p:nvSpPr>
        <p:spPr>
          <a:xfrm>
            <a:off x="4368800" y="1879600"/>
            <a:ext cx="190500" cy="190500"/>
          </a:xfrm>
          <a:prstGeom prst="ellipse">
            <a:avLst/>
          </a:prstGeom>
          <a:solidFill>
            <a:srgbClr val="173F35"/>
          </a:solidFill>
          <a:ln>
            <a:noFill/>
          </a:ln>
          <a:effectLst/>
        </p:spPr>
        <p:txBody>
          <a:bodyPr rtlCol="0" anchor="ctr"/>
          <a:lstStyle/>
          <a:p>
            <a:pPr algn="ctr"/>
          </a:p>
        </p:txBody>
      </p:sp>
      <p:sp>
        <p:nvSpPr>
          <p:cNvPr id="7" name="p6-dot3"/>
          <p:cNvSpPr/>
          <p:nvPr/>
        </p:nvSpPr>
        <p:spPr>
          <a:xfrm>
            <a:off x="8128000" y="1879600"/>
            <a:ext cx="190500" cy="190500"/>
          </a:xfrm>
          <a:prstGeom prst="ellipse">
            <a:avLst/>
          </a:prstGeom>
          <a:solidFill>
            <a:srgbClr val="173F35"/>
          </a:solidFill>
          <a:ln>
            <a:noFill/>
          </a:ln>
          <a:effectLst/>
        </p:spPr>
        <p:txBody>
          <a:bodyPr rtlCol="0" anchor="ctr"/>
          <a:lstStyle/>
          <a:p>
            <a:pPr algn="ctr"/>
          </a:p>
        </p:txBody>
      </p:sp>
      <p:sp>
        <p:nvSpPr>
          <p:cNvPr id="8" name="p6-d1-node"/>
          <p:cNvSpPr txBox="1"/>
          <p:nvPr/>
        </p:nvSpPr>
        <p:spPr>
          <a:xfrm>
            <a:off x="609600" y="2273300"/>
            <a:ext cx="3340100" cy="3683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500" b="1" i="0">
                <a:solidFill>
                  <a:srgbClr val="667569"/>
                </a:solidFill>
                <a:latin typeface="Arial Unicode MS"/>
                <a:ea typeface="Arial Unicode MS"/>
                <a:cs typeface="Arial Unicode MS"/>
              </a:defRPr>
            </a:pPr>
            <a:r>
              <a:rPr sz="1500" b="1" i="0" spc="0">
                <a:solidFill>
                  <a:srgbClr val="667569"/>
                </a:solidFill>
                <a:latin typeface="Arial Unicode MS"/>
                <a:ea typeface="Arial Unicode MS"/>
                <a:cs typeface="Arial Unicode MS"/>
              </a:rPr>
              <a:t>0—30天</a:t>
            </a:r>
          </a:p>
        </p:txBody>
      </p:sp>
      <p:sp>
        <p:nvSpPr>
          <p:cNvPr id="9" name="p6-h1-node"/>
          <p:cNvSpPr txBox="1"/>
          <p:nvPr/>
        </p:nvSpPr>
        <p:spPr>
          <a:xfrm>
            <a:off x="609600" y="2819400"/>
            <a:ext cx="3390900" cy="4699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2100" b="1" i="0">
                <a:solidFill>
                  <a:srgbClr val="173F35"/>
                </a:solidFill>
                <a:latin typeface="Arial Unicode MS"/>
                <a:ea typeface="Arial Unicode MS"/>
                <a:cs typeface="Arial Unicode MS"/>
              </a:defRPr>
            </a:pPr>
            <a:r>
              <a:rPr sz="2100" b="1" i="0" spc="0">
                <a:solidFill>
                  <a:srgbClr val="173F35"/>
                </a:solidFill>
                <a:latin typeface="Arial Unicode MS"/>
                <a:ea typeface="Arial Unicode MS"/>
                <a:cs typeface="Arial Unicode MS"/>
              </a:rPr>
              <a:t>锁定问题与资源</a:t>
            </a:r>
          </a:p>
        </p:txBody>
      </p:sp>
      <p:sp>
        <p:nvSpPr>
          <p:cNvPr id="10" name="p6-b1-node"/>
          <p:cNvSpPr txBox="1"/>
          <p:nvPr/>
        </p:nvSpPr>
        <p:spPr>
          <a:xfrm>
            <a:off x="609600" y="3492500"/>
            <a:ext cx="3390900" cy="11303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选择一个细分行业场景</a:t>
            </a:r>
          </a:p>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访谈潜在客户，定义验证指标</a:t>
            </a:r>
          </a:p>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梳理算力、数据及合规需求</a:t>
            </a:r>
          </a:p>
        </p:txBody>
      </p:sp>
      <p:sp>
        <p:nvSpPr>
          <p:cNvPr id="11" name="p6-o1-node"/>
          <p:cNvSpPr txBox="1"/>
          <p:nvPr/>
        </p:nvSpPr>
        <p:spPr>
          <a:xfrm>
            <a:off x="609600" y="4660900"/>
            <a:ext cx="3390900" cy="3429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300" b="1" i="0">
                <a:solidFill>
                  <a:srgbClr val="173F35"/>
                </a:solidFill>
                <a:latin typeface="Arial Unicode MS"/>
                <a:ea typeface="Arial Unicode MS"/>
                <a:cs typeface="Arial Unicode MS"/>
              </a:defRPr>
            </a:pPr>
            <a:r>
              <a:rPr sz="1300" b="1" i="0" spc="0">
                <a:solidFill>
                  <a:srgbClr val="173F35"/>
                </a:solidFill>
                <a:latin typeface="Arial Unicode MS"/>
                <a:ea typeface="Arial Unicode MS"/>
                <a:cs typeface="Arial Unicode MS"/>
              </a:rPr>
              <a:t>产出：一页场景需求书</a:t>
            </a:r>
          </a:p>
        </p:txBody>
      </p:sp>
      <p:sp>
        <p:nvSpPr>
          <p:cNvPr id="12" name="p6-d2-node"/>
          <p:cNvSpPr txBox="1"/>
          <p:nvPr/>
        </p:nvSpPr>
        <p:spPr>
          <a:xfrm>
            <a:off x="4368800" y="2273300"/>
            <a:ext cx="3340100" cy="3683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500" b="1" i="0">
                <a:solidFill>
                  <a:srgbClr val="667569"/>
                </a:solidFill>
                <a:latin typeface="Arial Unicode MS"/>
                <a:ea typeface="Arial Unicode MS"/>
                <a:cs typeface="Arial Unicode MS"/>
              </a:defRPr>
            </a:pPr>
            <a:r>
              <a:rPr sz="1500" b="1" i="0" spc="0">
                <a:solidFill>
                  <a:srgbClr val="667569"/>
                </a:solidFill>
                <a:latin typeface="Arial Unicode MS"/>
                <a:ea typeface="Arial Unicode MS"/>
                <a:cs typeface="Arial Unicode MS"/>
              </a:rPr>
              <a:t>31—60天</a:t>
            </a:r>
          </a:p>
        </p:txBody>
      </p:sp>
      <p:sp>
        <p:nvSpPr>
          <p:cNvPr id="13" name="p6-h2-node"/>
          <p:cNvSpPr txBox="1"/>
          <p:nvPr/>
        </p:nvSpPr>
        <p:spPr>
          <a:xfrm>
            <a:off x="4368800" y="2819400"/>
            <a:ext cx="3390900" cy="4699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2100" b="1" i="0">
                <a:solidFill>
                  <a:srgbClr val="173F35"/>
                </a:solidFill>
                <a:latin typeface="Arial Unicode MS"/>
                <a:ea typeface="Arial Unicode MS"/>
                <a:cs typeface="Arial Unicode MS"/>
              </a:defRPr>
            </a:pPr>
            <a:r>
              <a:rPr sz="2100" b="1" i="0" spc="0">
                <a:solidFill>
                  <a:srgbClr val="173F35"/>
                </a:solidFill>
                <a:latin typeface="Arial Unicode MS"/>
                <a:ea typeface="Arial Unicode MS"/>
                <a:cs typeface="Arial Unicode MS"/>
              </a:rPr>
              <a:t>完成小范围验证</a:t>
            </a:r>
          </a:p>
        </p:txBody>
      </p:sp>
      <p:sp>
        <p:nvSpPr>
          <p:cNvPr id="14" name="p6-b2-node"/>
          <p:cNvSpPr txBox="1"/>
          <p:nvPr/>
        </p:nvSpPr>
        <p:spPr>
          <a:xfrm>
            <a:off x="4368800" y="3492500"/>
            <a:ext cx="3390900" cy="11303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联系孵化器或场景合伙人</a:t>
            </a:r>
          </a:p>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选用开源工具完成最小原型</a:t>
            </a:r>
          </a:p>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验证效果、成本与数据授权</a:t>
            </a:r>
          </a:p>
        </p:txBody>
      </p:sp>
      <p:sp>
        <p:nvSpPr>
          <p:cNvPr id="15" name="p6-o2-node"/>
          <p:cNvSpPr txBox="1"/>
          <p:nvPr/>
        </p:nvSpPr>
        <p:spPr>
          <a:xfrm>
            <a:off x="4368800" y="4660900"/>
            <a:ext cx="3517900" cy="3429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300" b="1" i="0">
                <a:solidFill>
                  <a:srgbClr val="173F35"/>
                </a:solidFill>
                <a:latin typeface="Arial Unicode MS"/>
                <a:ea typeface="Arial Unicode MS"/>
                <a:cs typeface="Arial Unicode MS"/>
              </a:defRPr>
            </a:pPr>
            <a:r>
              <a:rPr sz="1300" b="1" i="0" spc="0">
                <a:solidFill>
                  <a:srgbClr val="173F35"/>
                </a:solidFill>
                <a:latin typeface="Arial Unicode MS"/>
                <a:ea typeface="Arial Unicode MS"/>
                <a:cs typeface="Arial Unicode MS"/>
              </a:rPr>
              <a:t>产出：可演示原型与验证记录</a:t>
            </a:r>
          </a:p>
        </p:txBody>
      </p:sp>
      <p:sp>
        <p:nvSpPr>
          <p:cNvPr id="16" name="p6-d3-node"/>
          <p:cNvSpPr txBox="1"/>
          <p:nvPr/>
        </p:nvSpPr>
        <p:spPr>
          <a:xfrm>
            <a:off x="8128000" y="2273300"/>
            <a:ext cx="3340100" cy="3683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500" b="1" i="0">
                <a:solidFill>
                  <a:srgbClr val="667569"/>
                </a:solidFill>
                <a:latin typeface="Arial Unicode MS"/>
                <a:ea typeface="Arial Unicode MS"/>
                <a:cs typeface="Arial Unicode MS"/>
              </a:defRPr>
            </a:pPr>
            <a:r>
              <a:rPr sz="1500" b="1" i="0" spc="0">
                <a:solidFill>
                  <a:srgbClr val="667569"/>
                </a:solidFill>
                <a:latin typeface="Arial Unicode MS"/>
                <a:ea typeface="Arial Unicode MS"/>
                <a:cs typeface="Arial Unicode MS"/>
              </a:rPr>
              <a:t>61—90天</a:t>
            </a:r>
          </a:p>
        </p:txBody>
      </p:sp>
      <p:sp>
        <p:nvSpPr>
          <p:cNvPr id="17" name="p6-h3-node"/>
          <p:cNvSpPr txBox="1"/>
          <p:nvPr/>
        </p:nvSpPr>
        <p:spPr>
          <a:xfrm>
            <a:off x="8128000" y="2819400"/>
            <a:ext cx="3390900" cy="4699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2100" b="1" i="0">
                <a:solidFill>
                  <a:srgbClr val="173F35"/>
                </a:solidFill>
                <a:latin typeface="Arial Unicode MS"/>
                <a:ea typeface="Arial Unicode MS"/>
                <a:cs typeface="Arial Unicode MS"/>
              </a:defRPr>
            </a:pPr>
            <a:r>
              <a:rPr sz="2100" b="1" i="0" spc="0">
                <a:solidFill>
                  <a:srgbClr val="173F35"/>
                </a:solidFill>
                <a:latin typeface="Arial Unicode MS"/>
                <a:ea typeface="Arial Unicode MS"/>
                <a:cs typeface="Arial Unicode MS"/>
              </a:rPr>
              <a:t>形成商业化证据</a:t>
            </a:r>
          </a:p>
        </p:txBody>
      </p:sp>
      <p:sp>
        <p:nvSpPr>
          <p:cNvPr id="18" name="p6-b3-node"/>
          <p:cNvSpPr txBox="1"/>
          <p:nvPr/>
        </p:nvSpPr>
        <p:spPr>
          <a:xfrm>
            <a:off x="8128000" y="3492500"/>
            <a:ext cx="3390900" cy="1130300"/>
          </a:xfrm>
          <a:prstGeom prst="rect">
            <a:avLst/>
          </a:prstGeom>
          <a:noFill/>
          <a:ln>
            <a:noFill/>
          </a:ln>
          <a:effectLst/>
        </p:spPr>
        <p:txBody>
          <a:bodyPr wrap="square" anchor="t" lIns="0" rIns="0" tIns="0" bIns="0">
            <a:noAutofit/>
          </a:bodyPr>
          <a:lstStyle/>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复盘指标，完善交付与定价</a:t>
            </a:r>
          </a:p>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整理知识产权和合规材料</a:t>
            </a:r>
          </a:p>
          <a:p>
            <a:pPr algn="l">
              <a:lnSpc>
                <a:spcPct val="118000"/>
              </a:lnSpc>
              <a:spcBef>
                <a:spcPts val="0"/>
              </a:spcBef>
              <a:spcAft>
                <a:spcPts val="0"/>
              </a:spcAft>
              <a:defRPr sz="1500" b="0" i="0">
                <a:solidFill>
                  <a:srgbClr val="173F35"/>
                </a:solidFill>
                <a:latin typeface="Arial Unicode MS"/>
                <a:ea typeface="Arial Unicode MS"/>
                <a:cs typeface="Arial Unicode MS"/>
              </a:defRPr>
            </a:pPr>
            <a:r>
              <a:rPr sz="1500" b="0" i="0" spc="0">
                <a:solidFill>
                  <a:srgbClr val="173F35"/>
                </a:solidFill>
                <a:latin typeface="Arial Unicode MS"/>
                <a:ea typeface="Arial Unicode MS"/>
                <a:cs typeface="Arial Unicode MS"/>
              </a:rPr>
              <a:t>对接路演、赛事及试点客户</a:t>
            </a:r>
          </a:p>
        </p:txBody>
      </p:sp>
      <p:sp>
        <p:nvSpPr>
          <p:cNvPr id="19" name="p6-o3-node"/>
          <p:cNvSpPr txBox="1"/>
          <p:nvPr/>
        </p:nvSpPr>
        <p:spPr>
          <a:xfrm>
            <a:off x="8128000" y="4660900"/>
            <a:ext cx="3517900" cy="3429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300" b="1" i="0">
                <a:solidFill>
                  <a:srgbClr val="173F35"/>
                </a:solidFill>
                <a:latin typeface="Arial Unicode MS"/>
                <a:ea typeface="Arial Unicode MS"/>
                <a:cs typeface="Arial Unicode MS"/>
              </a:defRPr>
            </a:pPr>
            <a:r>
              <a:rPr sz="1300" b="1" i="0" spc="0">
                <a:solidFill>
                  <a:srgbClr val="173F35"/>
                </a:solidFill>
                <a:latin typeface="Arial Unicode MS"/>
                <a:ea typeface="Arial Unicode MS"/>
                <a:cs typeface="Arial Unicode MS"/>
              </a:rPr>
              <a:t>产出：试点复盘与项目材料包</a:t>
            </a:r>
          </a:p>
        </p:txBody>
      </p:sp>
      <p:sp>
        <p:nvSpPr>
          <p:cNvPr id="20" name="p6-bottom-bg"/>
          <p:cNvSpPr/>
          <p:nvPr/>
        </p:nvSpPr>
        <p:spPr>
          <a:xfrm>
            <a:off x="609600" y="5372100"/>
            <a:ext cx="10972800" cy="762000"/>
          </a:xfrm>
          <a:prstGeom prst="rect">
            <a:avLst/>
          </a:prstGeom>
          <a:solidFill>
            <a:srgbClr val="E4E9DB"/>
          </a:solidFill>
          <a:ln>
            <a:noFill/>
          </a:ln>
          <a:effectLst/>
        </p:spPr>
        <p:txBody>
          <a:bodyPr rtlCol="0" anchor="ctr"/>
          <a:lstStyle/>
          <a:p>
            <a:pPr algn="ctr"/>
          </a:p>
        </p:txBody>
      </p:sp>
      <p:sp>
        <p:nvSpPr>
          <p:cNvPr id="21" name="p6-entrance-node"/>
          <p:cNvSpPr txBox="1"/>
          <p:nvPr/>
        </p:nvSpPr>
        <p:spPr>
          <a:xfrm>
            <a:off x="762000" y="5486400"/>
            <a:ext cx="10706100" cy="2794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173F35"/>
                </a:solidFill>
                <a:latin typeface="Arial Unicode MS"/>
                <a:ea typeface="Arial Unicode MS"/>
                <a:cs typeface="Arial Unicode MS"/>
              </a:defRPr>
            </a:pPr>
            <a:r>
              <a:rPr sz="1200" b="1" i="0" spc="0">
                <a:solidFill>
                  <a:srgbClr val="173F35"/>
                </a:solidFill>
                <a:latin typeface="Arial Unicode MS"/>
                <a:ea typeface="Arial Unicode MS"/>
                <a:cs typeface="Arial Unicode MS"/>
              </a:rPr>
              <a:t>跟进入口  /  当地中小企业主管部门 · 中国中小企业服务网 · 优质中小企业梯度培育平台</a:t>
            </a:r>
          </a:p>
        </p:txBody>
      </p:sp>
      <p:sp>
        <p:nvSpPr>
          <p:cNvPr id="22" name="p6-caution-node"/>
          <p:cNvSpPr txBox="1"/>
          <p:nvPr/>
        </p:nvSpPr>
        <p:spPr>
          <a:xfrm>
            <a:off x="762000" y="5803900"/>
            <a:ext cx="10706100" cy="2794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200" b="1" i="0">
                <a:solidFill>
                  <a:srgbClr val="667569"/>
                </a:solidFill>
                <a:latin typeface="Arial Unicode MS"/>
                <a:ea typeface="Arial Unicode MS"/>
                <a:cs typeface="Arial Unicode MS"/>
              </a:defRPr>
            </a:pPr>
            <a:r>
              <a:rPr sz="1200" b="1" i="0" spc="0">
                <a:solidFill>
                  <a:srgbClr val="667569"/>
                </a:solidFill>
                <a:latin typeface="Arial Unicode MS"/>
                <a:ea typeface="Arial Unicode MS"/>
                <a:cs typeface="Arial Unicode MS"/>
              </a:rPr>
              <a:t>具体条件、申报安排和支持额度，以主管部门及相关平台后续公布为准。</a:t>
            </a:r>
          </a:p>
        </p:txBody>
      </p:sp>
      <p:sp>
        <p:nvSpPr>
          <p:cNvPr id="23" name="p6-source-node"/>
          <p:cNvSpPr txBox="1"/>
          <p:nvPr/>
        </p:nvSpPr>
        <p:spPr>
          <a:xfrm>
            <a:off x="609600" y="6413500"/>
            <a:ext cx="10033000" cy="228600"/>
          </a:xfrm>
          <a:prstGeom prst="rect">
            <a:avLst/>
          </a:prstGeom>
          <a:noFill/>
          <a:ln>
            <a:noFill/>
          </a:ln>
          <a:effectLst/>
        </p:spPr>
        <p:txBody>
          <a:bodyPr wrap="square" anchor="t" lIns="0" rIns="0" tIns="0" bIns="0">
            <a:noAutofit/>
          </a:bodyPr>
          <a:lstStyle/>
          <a:p>
            <a:pPr algn="l">
              <a:lnSpc>
                <a:spcPct val="115000"/>
              </a:lnSpc>
              <a:spcBef>
                <a:spcPts val="0"/>
              </a:spcBef>
              <a:spcAft>
                <a:spcPts val="0"/>
              </a:spcAft>
              <a:defRPr sz="1000" b="0" i="0">
                <a:solidFill>
                  <a:srgbClr val="667569"/>
                </a:solidFill>
                <a:latin typeface="Arial Unicode MS"/>
                <a:ea typeface="Arial Unicode MS"/>
                <a:cs typeface="Arial Unicode MS"/>
              </a:defRPr>
            </a:pPr>
            <a:r>
              <a:rPr sz="1000" b="0" i="0" spc="0">
                <a:solidFill>
                  <a:srgbClr val="667569"/>
                </a:solidFill>
                <a:latin typeface="Arial Unicode MS"/>
                <a:ea typeface="Arial Unicode MS"/>
                <a:cs typeface="Arial Unicode MS"/>
              </a:rPr>
              <a:t>依据：《计划》PDF，第2—7页。90天节奏、步骤和产出均为作者建议；详见演讲者备注。</a:t>
            </a:r>
          </a:p>
        </p:txBody>
      </p:sp>
      <p:sp>
        <p:nvSpPr>
          <p:cNvPr id="24" name="p6-page-node"/>
          <p:cNvSpPr txBox="1"/>
          <p:nvPr/>
        </p:nvSpPr>
        <p:spPr>
          <a:xfrm>
            <a:off x="10642600" y="6413500"/>
            <a:ext cx="939800" cy="228600"/>
          </a:xfrm>
          <a:prstGeom prst="rect">
            <a:avLst/>
          </a:prstGeom>
          <a:noFill/>
          <a:ln>
            <a:noFill/>
          </a:ln>
          <a:effectLst/>
        </p:spPr>
        <p:txBody>
          <a:bodyPr wrap="square" anchor="t" lIns="0" rIns="0" tIns="0" bIns="0">
            <a:noAutofit/>
          </a:bodyPr>
          <a:lstStyle/>
          <a:p>
            <a:pPr algn="r">
              <a:lnSpc>
                <a:spcPct val="115000"/>
              </a:lnSpc>
              <a:spcBef>
                <a:spcPts val="0"/>
              </a:spcBef>
              <a:spcAft>
                <a:spcPts val="0"/>
              </a:spcAft>
              <a:defRPr sz="1000" b="0" i="0">
                <a:solidFill>
                  <a:srgbClr val="667569"/>
                </a:solidFill>
                <a:latin typeface="Arial Unicode MS"/>
                <a:ea typeface="Arial Unicode MS"/>
                <a:cs typeface="Arial Unicode MS"/>
              </a:defRPr>
            </a:pPr>
            <a:r>
              <a:rPr sz="1000" b="0" i="0" spc="0">
                <a:solidFill>
                  <a:srgbClr val="667569"/>
                </a:solidFill>
                <a:latin typeface="Arial Unicode MS"/>
                <a:ea typeface="Arial Unicode MS"/>
                <a:cs typeface="Arial Unicode MS"/>
              </a:rPr>
              <a:t>06 / 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v51-forward-no-image</dc:title>
  <dc:subject/>
  <dc:creator>PPT Smith declarative renderer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