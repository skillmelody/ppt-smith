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占比（%）</c:v>
                </c:pt>
              </c:strCache>
            </c:strRef>
          </c:tx>
          <c:dPt>
            <c:idx val="0"/>
            <c:spPr>
              <a:solidFill>
                <a:srgbClr val="B71D29"/>
              </a:solidFill>
              <a:ln>
                <a:solidFill>
                  <a:srgbClr val="B71D29"/>
                </a:solidFill>
              </a:ln>
            </c:spPr>
          </c:dPt>
          <c:dPt>
            <c:idx val="1"/>
            <c:spPr>
              <a:solidFill>
                <a:srgbClr val="D9424F"/>
              </a:solidFill>
              <a:ln>
                <a:solidFill>
                  <a:srgbClr val="D9424F"/>
                </a:solidFill>
              </a:ln>
            </c:spPr>
          </c:dPt>
          <c:dPt>
            <c:idx val="2"/>
            <c:spPr>
              <a:solidFill>
                <a:srgbClr val="45576D"/>
              </a:solidFill>
              <a:ln>
                <a:solidFill>
                  <a:srgbClr val="45576D"/>
                </a:solidFill>
              </a:ln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600" b="0" i="0">
                      <a:solidFill>
                        <a:srgbClr val="FFFFFF"/>
                      </a:solidFill>
                      <a:latin typeface="Arial Unicode MS"/>
                      <a:ea typeface="Arial Unicode MS"/>
                      <a:cs typeface="Arial Unicode M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600" b="0" i="0">
                      <a:solidFill>
                        <a:srgbClr val="FFFFFF"/>
                      </a:solidFill>
                      <a:latin typeface="Arial Unicode MS"/>
                      <a:ea typeface="Arial Unicode MS"/>
                      <a:cs typeface="Arial Unicode M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600" b="0" i="0">
                      <a:solidFill>
                        <a:srgbClr val="FFFFFF"/>
                      </a:solidFill>
                      <a:latin typeface="Arial Unicode MS"/>
                      <a:ea typeface="Arial Unicode MS"/>
                      <a:cs typeface="Arial Unicode M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智能体</c:v>
                </c:pt>
                <c:pt idx="1">
                  <c:v>机器人</c:v>
                </c:pt>
                <c:pt idx="2">
                  <c:v>当前不可自动化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18</c:v>
                </c:pt>
                <c:pt idx="2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0" i="0">
                  <a:solidFill>
                    <a:srgbClr val="45576D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4"/>
      </c:doughnutChart>
    </c:plotArea>
    <c:plotVisOnly val="1"/>
    <c:dispBlanksAs val="gap"/>
    <c:showDLblsOverMax val="0"/>
  </c:chart>
  <c:txPr>
    <a:bodyPr/>
    <a:lstStyle/>
    <a:p>
      <a:pPr>
        <a:defRPr sz="1600" b="0" i="0">
          <a:solidFill>
            <a:srgbClr val="45576D"/>
          </a:solidFill>
          <a:latin typeface="Arial Unicode MS"/>
          <a:ea typeface="Arial Unicode MS"/>
          <a:cs typeface="Arial Unicode MS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占比（%）</c:v>
                </c:pt>
              </c:strCache>
            </c:strRef>
          </c:tx>
          <c:dPt>
            <c:idx val="0"/>
            <c:spPr>
              <a:solidFill>
                <a:srgbClr val="B71D29"/>
              </a:solidFill>
              <a:ln>
                <a:solidFill>
                  <a:srgbClr val="B71D29"/>
                </a:solidFill>
              </a:ln>
            </c:spPr>
          </c:dPt>
          <c:dPt>
            <c:idx val="1"/>
            <c:spPr>
              <a:solidFill>
                <a:srgbClr val="45576D"/>
              </a:solidFill>
              <a:ln>
                <a:solidFill>
                  <a:srgbClr val="45576D"/>
                </a:solidFill>
              </a:ln>
            </c:spPr>
          </c:dPt>
          <c:dPt>
            <c:idx val="2"/>
            <c:spPr>
              <a:solidFill>
                <a:srgbClr val="D5D9DD"/>
              </a:solidFill>
              <a:ln>
                <a:solidFill>
                  <a:srgbClr val="D5D9DD"/>
                </a:solidFill>
              </a:ln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600" b="0" i="0">
                      <a:solidFill>
                        <a:srgbClr val="FFFFFF"/>
                      </a:solidFill>
                      <a:latin typeface="Arial Unicode MS"/>
                      <a:ea typeface="Arial Unicode MS"/>
                      <a:cs typeface="Arial Unicode M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600" b="0" i="0">
                      <a:solidFill>
                        <a:srgbClr val="FFFFFF"/>
                      </a:solidFill>
                      <a:latin typeface="Arial Unicode MS"/>
                      <a:ea typeface="Arial Unicode MS"/>
                      <a:cs typeface="Arial Unicode M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600" b="0" i="0">
                      <a:solidFill>
                        <a:srgbClr val="45576D"/>
                      </a:solidFill>
                      <a:latin typeface="Arial Unicode MS"/>
                      <a:ea typeface="Arial Unicode MS"/>
                      <a:cs typeface="Arial Unicode M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共享技能</c:v>
                </c:pt>
                <c:pt idx="1">
                  <c:v>主要用于可自动化活动</c:v>
                </c:pt>
                <c:pt idx="2">
                  <c:v>主要用于不可自动化活动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</c:v>
                </c:pt>
                <c:pt idx="1">
                  <c:v>21</c:v>
                </c:pt>
                <c:pt idx="2">
                  <c:v>13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0" i="0">
                  <a:solidFill>
                    <a:srgbClr val="45576D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4"/>
      </c:doughnutChart>
    </c:plotArea>
    <c:legend>
      <c:legendPos/>
      <c:layout/>
      <c:overlay val="0"/>
      <c:txPr>
        <a:bodyPr/>
        <a:lstStyle/>
        <a:p>
          <a:pPr>
            <a:defRPr sz="1600" b="0" i="0">
              <a:solidFill>
                <a:srgbClr val="45576D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600" b="0" i="0">
          <a:solidFill>
            <a:srgbClr val="45576D"/>
          </a:solidFill>
          <a:latin typeface="Arial Unicode MS"/>
          <a:ea typeface="Arial Unicode MS"/>
          <a:cs typeface="Arial Unicode MS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本页概括报告主题。原文封面与PDF第7页。三项观察分别讨论现有技术潜力、不同经济结构下的采用路径和技能应用，不把技术暴露直接解释为就业减少。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PDF第9—10页。15国2024年工时技术潜力：智能体39%、机器人18%，合计57%；剩余43%由100%-57%得出。技术潜力基于现有技术，实际采用受成本、工资和组织准备影响，不是岗位裁撤预测。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PDF第17页。三类路径为报告叙述归类。70%以上与约40%的分母均为可自动化工时，不是全部工时。三类国家列表完整保留，类别不代表发展水平排序。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PDF第24—25页。招聘分析覆盖阿根廷、巴西、智利、哥伦比亚、墨西哥五国。图示约7000项技能，方法段筛选后约7100项；本页沿用图示约数。66/21/13为技能分类，不是工时占比或失业率。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-node-1"/>
          <p:cNvSpPr/>
          <p:nvPr/>
        </p:nvSpPr>
        <p:spPr>
          <a:xfrm>
            <a:off x="381000" y="635000"/>
            <a:ext cx="11430000" cy="254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-node-2"/>
          <p:cNvSpPr/>
          <p:nvPr/>
        </p:nvSpPr>
        <p:spPr>
          <a:xfrm>
            <a:off x="0" y="6616700"/>
            <a:ext cx="12192000" cy="2413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-node-3"/>
          <p:cNvSpPr txBox="1"/>
          <p:nvPr/>
        </p:nvSpPr>
        <p:spPr>
          <a:xfrm>
            <a:off x="584200" y="1041400"/>
            <a:ext cx="5867400" cy="2070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2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2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智能体、机器人与我们</a:t>
            </a:r>
          </a:p>
        </p:txBody>
      </p:sp>
      <p:sp>
        <p:nvSpPr>
          <p:cNvPr id="5" name="p1-node-4"/>
          <p:cNvSpPr txBox="1"/>
          <p:nvPr/>
        </p:nvSpPr>
        <p:spPr>
          <a:xfrm>
            <a:off x="609600" y="3162300"/>
            <a:ext cx="5816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AI 如何重塑拉美的工作与技能</a:t>
            </a:r>
          </a:p>
        </p:txBody>
      </p:sp>
      <p:sp>
        <p:nvSpPr>
          <p:cNvPr id="6" name="p1-node-5"/>
          <p:cNvSpPr/>
          <p:nvPr/>
        </p:nvSpPr>
        <p:spPr>
          <a:xfrm>
            <a:off x="609600" y="4076700"/>
            <a:ext cx="736600" cy="381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1-node-6"/>
          <p:cNvSpPr/>
          <p:nvPr/>
        </p:nvSpPr>
        <p:spPr>
          <a:xfrm>
            <a:off x="609600" y="4419600"/>
            <a:ext cx="431800" cy="431800"/>
          </a:xfrm>
          <a:prstGeom prst="ellipse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-node-7"/>
          <p:cNvSpPr/>
          <p:nvPr/>
        </p:nvSpPr>
        <p:spPr>
          <a:xfrm>
            <a:off x="769366" y="4505960"/>
            <a:ext cx="116586" cy="1165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1-node-8"/>
          <p:cNvSpPr/>
          <p:nvPr/>
        </p:nvSpPr>
        <p:spPr>
          <a:xfrm>
            <a:off x="717550" y="4639818"/>
            <a:ext cx="224536" cy="1295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1-node-9"/>
          <p:cNvSpPr txBox="1"/>
          <p:nvPr/>
        </p:nvSpPr>
        <p:spPr>
          <a:xfrm>
            <a:off x="1257300" y="4419600"/>
            <a:ext cx="53340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研究范围：15 个经济体</a:t>
            </a:r>
          </a:p>
        </p:txBody>
      </p:sp>
      <p:sp>
        <p:nvSpPr>
          <p:cNvPr id="11" name="p1-node-10"/>
          <p:cNvSpPr/>
          <p:nvPr/>
        </p:nvSpPr>
        <p:spPr>
          <a:xfrm>
            <a:off x="609600" y="5092700"/>
            <a:ext cx="431800" cy="431800"/>
          </a:xfrm>
          <a:prstGeom prst="ellipse">
            <a:avLst/>
          </a:prstGeom>
          <a:solidFill>
            <a:srgbClr val="455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1-node-11"/>
          <p:cNvSpPr/>
          <p:nvPr/>
        </p:nvSpPr>
        <p:spPr>
          <a:xfrm>
            <a:off x="734822" y="5217922"/>
            <a:ext cx="181356" cy="181356"/>
          </a:xfrm>
          <a:prstGeom prst="roundRect">
            <a:avLst/>
          </a:prstGeom>
          <a:noFill/>
          <a:ln w="12954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1-node-12"/>
          <p:cNvSpPr/>
          <p:nvPr/>
        </p:nvSpPr>
        <p:spPr>
          <a:xfrm>
            <a:off x="765048" y="5170424"/>
            <a:ext cx="12954" cy="51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1-node-13"/>
          <p:cNvSpPr/>
          <p:nvPr/>
        </p:nvSpPr>
        <p:spPr>
          <a:xfrm>
            <a:off x="765048" y="5394960"/>
            <a:ext cx="12954" cy="51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1-node-14"/>
          <p:cNvSpPr/>
          <p:nvPr/>
        </p:nvSpPr>
        <p:spPr>
          <a:xfrm>
            <a:off x="687324" y="5248148"/>
            <a:ext cx="51816" cy="129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1-node-15"/>
          <p:cNvSpPr/>
          <p:nvPr/>
        </p:nvSpPr>
        <p:spPr>
          <a:xfrm>
            <a:off x="911860" y="5248148"/>
            <a:ext cx="51816" cy="129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1-node-16"/>
          <p:cNvSpPr/>
          <p:nvPr/>
        </p:nvSpPr>
        <p:spPr>
          <a:xfrm>
            <a:off x="821182" y="5170424"/>
            <a:ext cx="12954" cy="51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1-node-17"/>
          <p:cNvSpPr/>
          <p:nvPr/>
        </p:nvSpPr>
        <p:spPr>
          <a:xfrm>
            <a:off x="821182" y="5394960"/>
            <a:ext cx="12954" cy="51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1-node-18"/>
          <p:cNvSpPr/>
          <p:nvPr/>
        </p:nvSpPr>
        <p:spPr>
          <a:xfrm>
            <a:off x="687324" y="5304282"/>
            <a:ext cx="51816" cy="129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1-node-19"/>
          <p:cNvSpPr/>
          <p:nvPr/>
        </p:nvSpPr>
        <p:spPr>
          <a:xfrm>
            <a:off x="911860" y="5304282"/>
            <a:ext cx="51816" cy="129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1-node-20"/>
          <p:cNvSpPr/>
          <p:nvPr/>
        </p:nvSpPr>
        <p:spPr>
          <a:xfrm>
            <a:off x="877316" y="5170424"/>
            <a:ext cx="12954" cy="51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1-node-21"/>
          <p:cNvSpPr/>
          <p:nvPr/>
        </p:nvSpPr>
        <p:spPr>
          <a:xfrm>
            <a:off x="877316" y="5394960"/>
            <a:ext cx="12954" cy="51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1-node-22"/>
          <p:cNvSpPr/>
          <p:nvPr/>
        </p:nvSpPr>
        <p:spPr>
          <a:xfrm>
            <a:off x="687324" y="5360416"/>
            <a:ext cx="51816" cy="129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1-node-23"/>
          <p:cNvSpPr/>
          <p:nvPr/>
        </p:nvSpPr>
        <p:spPr>
          <a:xfrm>
            <a:off x="911860" y="5360416"/>
            <a:ext cx="51816" cy="129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1-node-24"/>
          <p:cNvSpPr/>
          <p:nvPr/>
        </p:nvSpPr>
        <p:spPr>
          <a:xfrm>
            <a:off x="782320" y="5265420"/>
            <a:ext cx="86360" cy="86360"/>
          </a:xfrm>
          <a:prstGeom prst="rect">
            <a:avLst/>
          </a:prstGeom>
          <a:noFill/>
          <a:ln w="8636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1-node-25"/>
          <p:cNvSpPr txBox="1"/>
          <p:nvPr/>
        </p:nvSpPr>
        <p:spPr>
          <a:xfrm>
            <a:off x="1257300" y="5092700"/>
            <a:ext cx="53340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技术潜力 · 采用路径 · 技能变化</a:t>
            </a:r>
          </a:p>
        </p:txBody>
      </p:sp>
      <p:sp>
        <p:nvSpPr>
          <p:cNvPr id="27" name="p1-node-26"/>
          <p:cNvSpPr/>
          <p:nvPr/>
        </p:nvSpPr>
        <p:spPr>
          <a:xfrm>
            <a:off x="609600" y="5778500"/>
            <a:ext cx="431800" cy="431800"/>
          </a:xfrm>
          <a:prstGeom prst="ellipse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1-node-27"/>
          <p:cNvSpPr/>
          <p:nvPr/>
        </p:nvSpPr>
        <p:spPr>
          <a:xfrm>
            <a:off x="713232" y="5908040"/>
            <a:ext cx="224536" cy="1640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1-node-28"/>
          <p:cNvSpPr/>
          <p:nvPr/>
        </p:nvSpPr>
        <p:spPr>
          <a:xfrm>
            <a:off x="739140" y="5938266"/>
            <a:ext cx="172720" cy="103632"/>
          </a:xfrm>
          <a:prstGeom prst="round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1-node-29"/>
          <p:cNvSpPr/>
          <p:nvPr/>
        </p:nvSpPr>
        <p:spPr>
          <a:xfrm>
            <a:off x="765048" y="5964174"/>
            <a:ext cx="34544" cy="345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1-node-30"/>
          <p:cNvSpPr/>
          <p:nvPr/>
        </p:nvSpPr>
        <p:spPr>
          <a:xfrm>
            <a:off x="851408" y="5964174"/>
            <a:ext cx="34544" cy="345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1-node-31"/>
          <p:cNvSpPr/>
          <p:nvPr/>
        </p:nvSpPr>
        <p:spPr>
          <a:xfrm>
            <a:off x="816863" y="5864860"/>
            <a:ext cx="17272" cy="51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1-node-32"/>
          <p:cNvSpPr/>
          <p:nvPr/>
        </p:nvSpPr>
        <p:spPr>
          <a:xfrm>
            <a:off x="803910" y="5843270"/>
            <a:ext cx="43180" cy="431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1-node-33"/>
          <p:cNvSpPr/>
          <p:nvPr/>
        </p:nvSpPr>
        <p:spPr>
          <a:xfrm>
            <a:off x="700278" y="6085078"/>
            <a:ext cx="250444" cy="604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1-node-34"/>
          <p:cNvSpPr/>
          <p:nvPr/>
        </p:nvSpPr>
        <p:spPr>
          <a:xfrm>
            <a:off x="683006" y="5964174"/>
            <a:ext cx="21590" cy="734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1-node-35"/>
          <p:cNvSpPr/>
          <p:nvPr/>
        </p:nvSpPr>
        <p:spPr>
          <a:xfrm>
            <a:off x="946404" y="5964174"/>
            <a:ext cx="21590" cy="734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1-node-36"/>
          <p:cNvSpPr txBox="1"/>
          <p:nvPr/>
        </p:nvSpPr>
        <p:spPr>
          <a:xfrm>
            <a:off x="1257300" y="5778500"/>
            <a:ext cx="53340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拉美工作与技能研究｜2026 年 7 月</a:t>
            </a:r>
          </a:p>
        </p:txBody>
      </p:sp>
      <p:sp>
        <p:nvSpPr>
          <p:cNvPr id="38" name="p1-node-37"/>
          <p:cNvSpPr/>
          <p:nvPr/>
        </p:nvSpPr>
        <p:spPr>
          <a:xfrm>
            <a:off x="7048500" y="1955800"/>
            <a:ext cx="4432300" cy="3556000"/>
          </a:xfrm>
          <a:prstGeom prst="ellipse">
            <a:avLst/>
          </a:prstGeom>
          <a:noFill/>
          <a:ln w="38100">
            <a:solidFill>
              <a:srgbClr val="455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1-node-38"/>
          <p:cNvSpPr/>
          <p:nvPr/>
        </p:nvSpPr>
        <p:spPr>
          <a:xfrm>
            <a:off x="8140700" y="1206500"/>
            <a:ext cx="2146300" cy="2146300"/>
          </a:xfrm>
          <a:prstGeom prst="ellipse">
            <a:avLst/>
          </a:prstGeom>
          <a:solidFill>
            <a:srgbClr val="455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1-node-39"/>
          <p:cNvSpPr/>
          <p:nvPr/>
        </p:nvSpPr>
        <p:spPr>
          <a:xfrm>
            <a:off x="8763127" y="1828927"/>
            <a:ext cx="901446" cy="901446"/>
          </a:xfrm>
          <a:prstGeom prst="roundRect">
            <a:avLst/>
          </a:prstGeom>
          <a:noFill/>
          <a:ln w="64389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1-node-40"/>
          <p:cNvSpPr/>
          <p:nvPr/>
        </p:nvSpPr>
        <p:spPr>
          <a:xfrm>
            <a:off x="8913368" y="1592834"/>
            <a:ext cx="64389" cy="2575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1-node-41"/>
          <p:cNvSpPr/>
          <p:nvPr/>
        </p:nvSpPr>
        <p:spPr>
          <a:xfrm>
            <a:off x="8913368" y="2708910"/>
            <a:ext cx="64389" cy="2575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1-node-42"/>
          <p:cNvSpPr/>
          <p:nvPr/>
        </p:nvSpPr>
        <p:spPr>
          <a:xfrm>
            <a:off x="8527034" y="1979168"/>
            <a:ext cx="257556" cy="643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1-node-43"/>
          <p:cNvSpPr/>
          <p:nvPr/>
        </p:nvSpPr>
        <p:spPr>
          <a:xfrm>
            <a:off x="9643110" y="1979168"/>
            <a:ext cx="257556" cy="643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1-node-44"/>
          <p:cNvSpPr/>
          <p:nvPr/>
        </p:nvSpPr>
        <p:spPr>
          <a:xfrm>
            <a:off x="9192387" y="1592834"/>
            <a:ext cx="64389" cy="2575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1-node-45"/>
          <p:cNvSpPr/>
          <p:nvPr/>
        </p:nvSpPr>
        <p:spPr>
          <a:xfrm>
            <a:off x="9192387" y="2708910"/>
            <a:ext cx="64389" cy="2575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1-node-46"/>
          <p:cNvSpPr/>
          <p:nvPr/>
        </p:nvSpPr>
        <p:spPr>
          <a:xfrm>
            <a:off x="8527034" y="2258187"/>
            <a:ext cx="257556" cy="643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1-node-47"/>
          <p:cNvSpPr/>
          <p:nvPr/>
        </p:nvSpPr>
        <p:spPr>
          <a:xfrm>
            <a:off x="9643110" y="2258187"/>
            <a:ext cx="257556" cy="643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1-node-48"/>
          <p:cNvSpPr/>
          <p:nvPr/>
        </p:nvSpPr>
        <p:spPr>
          <a:xfrm>
            <a:off x="9471406" y="1592834"/>
            <a:ext cx="64389" cy="2575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1-node-49"/>
          <p:cNvSpPr/>
          <p:nvPr/>
        </p:nvSpPr>
        <p:spPr>
          <a:xfrm>
            <a:off x="9471406" y="2708910"/>
            <a:ext cx="64389" cy="2575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1-node-50"/>
          <p:cNvSpPr/>
          <p:nvPr/>
        </p:nvSpPr>
        <p:spPr>
          <a:xfrm>
            <a:off x="8527034" y="2537206"/>
            <a:ext cx="257556" cy="643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1-node-51"/>
          <p:cNvSpPr/>
          <p:nvPr/>
        </p:nvSpPr>
        <p:spPr>
          <a:xfrm>
            <a:off x="9643110" y="2537206"/>
            <a:ext cx="257556" cy="643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1-node-52"/>
          <p:cNvSpPr/>
          <p:nvPr/>
        </p:nvSpPr>
        <p:spPr>
          <a:xfrm>
            <a:off x="8999220" y="2065020"/>
            <a:ext cx="429259" cy="429259"/>
          </a:xfrm>
          <a:prstGeom prst="rect">
            <a:avLst/>
          </a:prstGeom>
          <a:noFill/>
          <a:ln w="42926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1-node-53"/>
          <p:cNvSpPr/>
          <p:nvPr/>
        </p:nvSpPr>
        <p:spPr>
          <a:xfrm>
            <a:off x="6654800" y="3670300"/>
            <a:ext cx="2057400" cy="2057400"/>
          </a:xfrm>
          <a:prstGeom prst="ellipse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1-node-54"/>
          <p:cNvSpPr/>
          <p:nvPr/>
        </p:nvSpPr>
        <p:spPr>
          <a:xfrm>
            <a:off x="7416038" y="4081779"/>
            <a:ext cx="555498" cy="5554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1-node-55"/>
          <p:cNvSpPr/>
          <p:nvPr/>
        </p:nvSpPr>
        <p:spPr>
          <a:xfrm>
            <a:off x="7169150" y="4719574"/>
            <a:ext cx="1069848" cy="6172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1-node-56"/>
          <p:cNvSpPr/>
          <p:nvPr/>
        </p:nvSpPr>
        <p:spPr>
          <a:xfrm>
            <a:off x="9563100" y="3670300"/>
            <a:ext cx="2057400" cy="2057400"/>
          </a:xfrm>
          <a:prstGeom prst="ellipse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1-node-57"/>
          <p:cNvSpPr/>
          <p:nvPr/>
        </p:nvSpPr>
        <p:spPr>
          <a:xfrm>
            <a:off x="10056876" y="4287520"/>
            <a:ext cx="1069848" cy="7818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1-node-58"/>
          <p:cNvSpPr/>
          <p:nvPr/>
        </p:nvSpPr>
        <p:spPr>
          <a:xfrm>
            <a:off x="10180320" y="4431538"/>
            <a:ext cx="822960" cy="493776"/>
          </a:xfrm>
          <a:prstGeom prst="round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1-node-59"/>
          <p:cNvSpPr/>
          <p:nvPr/>
        </p:nvSpPr>
        <p:spPr>
          <a:xfrm>
            <a:off x="10303764" y="4554982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1-node-60"/>
          <p:cNvSpPr/>
          <p:nvPr/>
        </p:nvSpPr>
        <p:spPr>
          <a:xfrm>
            <a:off x="10715244" y="4554982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1-node-61"/>
          <p:cNvSpPr/>
          <p:nvPr/>
        </p:nvSpPr>
        <p:spPr>
          <a:xfrm>
            <a:off x="10550652" y="4081779"/>
            <a:ext cx="8229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1-node-62"/>
          <p:cNvSpPr/>
          <p:nvPr/>
        </p:nvSpPr>
        <p:spPr>
          <a:xfrm>
            <a:off x="10488930" y="3978910"/>
            <a:ext cx="205740" cy="2057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1-node-63"/>
          <p:cNvSpPr/>
          <p:nvPr/>
        </p:nvSpPr>
        <p:spPr>
          <a:xfrm>
            <a:off x="9995154" y="5131054"/>
            <a:ext cx="1193292" cy="2880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1-node-64"/>
          <p:cNvSpPr/>
          <p:nvPr/>
        </p:nvSpPr>
        <p:spPr>
          <a:xfrm>
            <a:off x="9912858" y="4554982"/>
            <a:ext cx="102870" cy="349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p1-node-65"/>
          <p:cNvSpPr/>
          <p:nvPr/>
        </p:nvSpPr>
        <p:spPr>
          <a:xfrm>
            <a:off x="11167872" y="4554982"/>
            <a:ext cx="102870" cy="349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1-node-66"/>
          <p:cNvSpPr txBox="1"/>
          <p:nvPr/>
        </p:nvSpPr>
        <p:spPr>
          <a:xfrm>
            <a:off x="5842000" y="6324600"/>
            <a:ext cx="6032500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来源：拉美工作与技能研究，PDF 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2-node-1"/>
          <p:cNvSpPr/>
          <p:nvPr/>
        </p:nvSpPr>
        <p:spPr>
          <a:xfrm>
            <a:off x="279400" y="762000"/>
            <a:ext cx="11633200" cy="254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2-node-2"/>
          <p:cNvSpPr/>
          <p:nvPr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2-node-3"/>
          <p:cNvSpPr txBox="1"/>
          <p:nvPr/>
        </p:nvSpPr>
        <p:spPr>
          <a:xfrm>
            <a:off x="381000" y="127000"/>
            <a:ext cx="114300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57% 的工时具备自动化技术潜力</a:t>
            </a:r>
          </a:p>
        </p:txBody>
      </p:sp>
      <p:sp>
        <p:nvSpPr>
          <p:cNvPr id="5" name="p2-node-4"/>
          <p:cNvSpPr txBox="1"/>
          <p:nvPr/>
        </p:nvSpPr>
        <p:spPr>
          <a:xfrm>
            <a:off x="381000" y="838200"/>
            <a:ext cx="1143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现有技术能力口径｜2024 年工时结构</a:t>
            </a:r>
          </a:p>
        </p:txBody>
      </p:sp>
      <p:sp>
        <p:nvSpPr>
          <p:cNvPr id="6" name="p2-node-5"/>
          <p:cNvSpPr txBox="1"/>
          <p:nvPr/>
        </p:nvSpPr>
        <p:spPr>
          <a:xfrm>
            <a:off x="381000" y="6350000"/>
            <a:ext cx="11430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来源：拉美工作与技能研究，PDF 第 9 页</a:t>
            </a:r>
          </a:p>
        </p:txBody>
      </p:sp>
      <p:graphicFrame>
        <p:nvGraphicFramePr>
          <p:cNvPr id="7" name="p2-node-6"/>
          <p:cNvGraphicFramePr>
            <a:graphicFrameLocks noGrp="1"/>
          </p:cNvGraphicFramePr>
          <p:nvPr/>
        </p:nvGraphicFramePr>
        <p:xfrm>
          <a:off x="812800" y="1231900"/>
          <a:ext cx="4851400" cy="436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2-node-7"/>
          <p:cNvSpPr txBox="1"/>
          <p:nvPr/>
        </p:nvSpPr>
        <p:spPr>
          <a:xfrm>
            <a:off x="2057400" y="2730500"/>
            <a:ext cx="2336800" cy="952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4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4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57%</a:t>
            </a:r>
          </a:p>
        </p:txBody>
      </p:sp>
      <p:sp>
        <p:nvSpPr>
          <p:cNvPr id="9" name="p2-node-8"/>
          <p:cNvSpPr txBox="1"/>
          <p:nvPr/>
        </p:nvSpPr>
        <p:spPr>
          <a:xfrm>
            <a:off x="1993900" y="3581400"/>
            <a:ext cx="2463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可自动化工时</a:t>
            </a:r>
          </a:p>
        </p:txBody>
      </p:sp>
      <p:sp>
        <p:nvSpPr>
          <p:cNvPr id="10" name="p2-node-9"/>
          <p:cNvSpPr/>
          <p:nvPr/>
        </p:nvSpPr>
        <p:spPr>
          <a:xfrm>
            <a:off x="6273800" y="1524000"/>
            <a:ext cx="850900" cy="850900"/>
          </a:xfrm>
          <a:prstGeom prst="ellipse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2-node-10"/>
          <p:cNvSpPr/>
          <p:nvPr/>
        </p:nvSpPr>
        <p:spPr>
          <a:xfrm>
            <a:off x="6478016" y="1779270"/>
            <a:ext cx="442468" cy="32334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2-node-11"/>
          <p:cNvSpPr/>
          <p:nvPr/>
        </p:nvSpPr>
        <p:spPr>
          <a:xfrm>
            <a:off x="6529070" y="1838833"/>
            <a:ext cx="340360" cy="204216"/>
          </a:xfrm>
          <a:prstGeom prst="round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2-node-12"/>
          <p:cNvSpPr/>
          <p:nvPr/>
        </p:nvSpPr>
        <p:spPr>
          <a:xfrm>
            <a:off x="6580124" y="1889887"/>
            <a:ext cx="68072" cy="680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2-node-13"/>
          <p:cNvSpPr/>
          <p:nvPr/>
        </p:nvSpPr>
        <p:spPr>
          <a:xfrm>
            <a:off x="6750304" y="1889887"/>
            <a:ext cx="68072" cy="680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2-node-14"/>
          <p:cNvSpPr/>
          <p:nvPr/>
        </p:nvSpPr>
        <p:spPr>
          <a:xfrm>
            <a:off x="6682232" y="1694180"/>
            <a:ext cx="34036" cy="1021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2-node-15"/>
          <p:cNvSpPr/>
          <p:nvPr/>
        </p:nvSpPr>
        <p:spPr>
          <a:xfrm>
            <a:off x="6656705" y="1651635"/>
            <a:ext cx="85090" cy="8509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2-node-16"/>
          <p:cNvSpPr/>
          <p:nvPr/>
        </p:nvSpPr>
        <p:spPr>
          <a:xfrm>
            <a:off x="6452489" y="2128139"/>
            <a:ext cx="493522" cy="11912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2-node-17"/>
          <p:cNvSpPr/>
          <p:nvPr/>
        </p:nvSpPr>
        <p:spPr>
          <a:xfrm>
            <a:off x="6418453" y="1889887"/>
            <a:ext cx="42545" cy="1446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2-node-18"/>
          <p:cNvSpPr/>
          <p:nvPr/>
        </p:nvSpPr>
        <p:spPr>
          <a:xfrm>
            <a:off x="6937502" y="1889887"/>
            <a:ext cx="42545" cy="1446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2-node-19"/>
          <p:cNvSpPr/>
          <p:nvPr/>
        </p:nvSpPr>
        <p:spPr>
          <a:xfrm>
            <a:off x="7391400" y="1485900"/>
            <a:ext cx="12700" cy="9144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2-node-20"/>
          <p:cNvSpPr txBox="1"/>
          <p:nvPr/>
        </p:nvSpPr>
        <p:spPr>
          <a:xfrm>
            <a:off x="7683500" y="1651000"/>
            <a:ext cx="408940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智能体：39%</a:t>
            </a:r>
          </a:p>
        </p:txBody>
      </p:sp>
      <p:sp>
        <p:nvSpPr>
          <p:cNvPr id="22" name="p2-node-21"/>
          <p:cNvSpPr/>
          <p:nvPr/>
        </p:nvSpPr>
        <p:spPr>
          <a:xfrm>
            <a:off x="6273800" y="2959100"/>
            <a:ext cx="850900" cy="850900"/>
          </a:xfrm>
          <a:prstGeom prst="ellipse">
            <a:avLst/>
          </a:prstGeom>
          <a:solidFill>
            <a:srgbClr val="D94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2-node-22"/>
          <p:cNvSpPr/>
          <p:nvPr/>
        </p:nvSpPr>
        <p:spPr>
          <a:xfrm>
            <a:off x="6460998" y="3180334"/>
            <a:ext cx="485013" cy="408432"/>
          </a:xfrm>
          <a:custGeom>
            <a:avLst/>
            <a:gdLst/>
            <a:ahLst/>
            <a:cxnLst/>
            <a:rect l="0" t="0" r="r" b="b"/>
            <a:pathLst>
              <a:path w="38190" h="32160">
                <a:moveTo>
                  <a:pt x="0" y="32160"/>
                </a:moveTo>
                <a:lnTo>
                  <a:pt x="0" y="13400"/>
                </a:lnTo>
                <a:lnTo>
                  <a:pt x="12060" y="20100"/>
                </a:lnTo>
                <a:lnTo>
                  <a:pt x="12060" y="13400"/>
                </a:lnTo>
                <a:lnTo>
                  <a:pt x="23450" y="20100"/>
                </a:lnTo>
                <a:lnTo>
                  <a:pt x="26800" y="0"/>
                </a:lnTo>
                <a:lnTo>
                  <a:pt x="33500" y="0"/>
                </a:lnTo>
                <a:lnTo>
                  <a:pt x="38190" y="321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2-node-23"/>
          <p:cNvSpPr/>
          <p:nvPr/>
        </p:nvSpPr>
        <p:spPr>
          <a:xfrm>
            <a:off x="6520560" y="3478149"/>
            <a:ext cx="59563" cy="59563"/>
          </a:xfrm>
          <a:prstGeom prst="rect">
            <a:avLst/>
          </a:prstGeom>
          <a:solidFill>
            <a:srgbClr val="D94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2-node-24"/>
          <p:cNvSpPr/>
          <p:nvPr/>
        </p:nvSpPr>
        <p:spPr>
          <a:xfrm>
            <a:off x="6648196" y="3478149"/>
            <a:ext cx="59563" cy="59563"/>
          </a:xfrm>
          <a:prstGeom prst="rect">
            <a:avLst/>
          </a:prstGeom>
          <a:solidFill>
            <a:srgbClr val="D94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2-node-25"/>
          <p:cNvSpPr/>
          <p:nvPr/>
        </p:nvSpPr>
        <p:spPr>
          <a:xfrm>
            <a:off x="6775831" y="3478149"/>
            <a:ext cx="59563" cy="59563"/>
          </a:xfrm>
          <a:prstGeom prst="rect">
            <a:avLst/>
          </a:prstGeom>
          <a:solidFill>
            <a:srgbClr val="D94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2-node-26"/>
          <p:cNvSpPr/>
          <p:nvPr/>
        </p:nvSpPr>
        <p:spPr>
          <a:xfrm>
            <a:off x="7391400" y="2921000"/>
            <a:ext cx="12700" cy="914400"/>
          </a:xfrm>
          <a:prstGeom prst="rect">
            <a:avLst/>
          </a:prstGeom>
          <a:solidFill>
            <a:srgbClr val="D94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2-node-27"/>
          <p:cNvSpPr txBox="1"/>
          <p:nvPr/>
        </p:nvSpPr>
        <p:spPr>
          <a:xfrm>
            <a:off x="7683500" y="3086100"/>
            <a:ext cx="408940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D9424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00" b="1" i="0" spc="0">
                <a:solidFill>
                  <a:srgbClr val="D9424F"/>
                </a:solidFill>
                <a:latin typeface="Arial Unicode MS"/>
                <a:ea typeface="Arial Unicode MS"/>
                <a:cs typeface="Arial Unicode MS"/>
              </a:rPr>
              <a:t>机器人：18%</a:t>
            </a:r>
          </a:p>
        </p:txBody>
      </p:sp>
      <p:sp>
        <p:nvSpPr>
          <p:cNvPr id="29" name="p2-node-28"/>
          <p:cNvSpPr/>
          <p:nvPr/>
        </p:nvSpPr>
        <p:spPr>
          <a:xfrm>
            <a:off x="6273800" y="4368800"/>
            <a:ext cx="850900" cy="850900"/>
          </a:xfrm>
          <a:prstGeom prst="ellipse">
            <a:avLst/>
          </a:prstGeom>
          <a:solidFill>
            <a:srgbClr val="455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2-node-29"/>
          <p:cNvSpPr/>
          <p:nvPr/>
        </p:nvSpPr>
        <p:spPr>
          <a:xfrm>
            <a:off x="6588633" y="4538980"/>
            <a:ext cx="229743" cy="2297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2-node-30"/>
          <p:cNvSpPr/>
          <p:nvPr/>
        </p:nvSpPr>
        <p:spPr>
          <a:xfrm>
            <a:off x="6486525" y="4802759"/>
            <a:ext cx="442468" cy="2552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2-node-31"/>
          <p:cNvSpPr/>
          <p:nvPr/>
        </p:nvSpPr>
        <p:spPr>
          <a:xfrm>
            <a:off x="7391400" y="4330700"/>
            <a:ext cx="12700" cy="914400"/>
          </a:xfrm>
          <a:prstGeom prst="rect">
            <a:avLst/>
          </a:prstGeom>
          <a:solidFill>
            <a:srgbClr val="455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2-node-32"/>
          <p:cNvSpPr txBox="1"/>
          <p:nvPr/>
        </p:nvSpPr>
        <p:spPr>
          <a:xfrm>
            <a:off x="7683500" y="4495800"/>
            <a:ext cx="408940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当前不可自动化：43%</a:t>
            </a:r>
          </a:p>
        </p:txBody>
      </p:sp>
      <p:sp>
        <p:nvSpPr>
          <p:cNvPr id="34" name="p2-node-33"/>
          <p:cNvSpPr/>
          <p:nvPr/>
        </p:nvSpPr>
        <p:spPr>
          <a:xfrm>
            <a:off x="279400" y="5651500"/>
            <a:ext cx="11633200" cy="647700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2-node-34"/>
          <p:cNvSpPr txBox="1"/>
          <p:nvPr/>
        </p:nvSpPr>
        <p:spPr>
          <a:xfrm>
            <a:off x="508000" y="5715000"/>
            <a:ext cx="60579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技术潜力不等于实际采用率，也不等于岗位减少比例</a:t>
            </a:r>
          </a:p>
        </p:txBody>
      </p:sp>
      <p:sp>
        <p:nvSpPr>
          <p:cNvPr id="36" name="p2-node-35"/>
          <p:cNvSpPr/>
          <p:nvPr/>
        </p:nvSpPr>
        <p:spPr>
          <a:xfrm>
            <a:off x="6705600" y="5740400"/>
            <a:ext cx="12700" cy="431800"/>
          </a:xfrm>
          <a:prstGeom prst="rect">
            <a:avLst/>
          </a:prstGeom>
          <a:solidFill>
            <a:srgbClr val="A0A8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2-node-36"/>
          <p:cNvSpPr txBox="1"/>
          <p:nvPr/>
        </p:nvSpPr>
        <p:spPr>
          <a:xfrm>
            <a:off x="6985000" y="5715000"/>
            <a:ext cx="47117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人仍承担情境判断、关系管理与结果责任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3-node-1"/>
          <p:cNvSpPr/>
          <p:nvPr/>
        </p:nvSpPr>
        <p:spPr>
          <a:xfrm>
            <a:off x="279400" y="762000"/>
            <a:ext cx="11633200" cy="254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3-node-2"/>
          <p:cNvSpPr/>
          <p:nvPr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3-node-3"/>
          <p:cNvSpPr txBox="1"/>
          <p:nvPr/>
        </p:nvSpPr>
        <p:spPr>
          <a:xfrm>
            <a:off x="381000" y="127000"/>
            <a:ext cx="114300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经济结构决定三类自动化路径</a:t>
            </a:r>
          </a:p>
        </p:txBody>
      </p:sp>
      <p:sp>
        <p:nvSpPr>
          <p:cNvPr id="5" name="p3-node-4"/>
          <p:cNvSpPr txBox="1"/>
          <p:nvPr/>
        </p:nvSpPr>
        <p:spPr>
          <a:xfrm>
            <a:off x="381000" y="838200"/>
            <a:ext cx="1143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相近的技术潜力，对应不同的工作结构</a:t>
            </a:r>
          </a:p>
        </p:txBody>
      </p:sp>
      <p:sp>
        <p:nvSpPr>
          <p:cNvPr id="6" name="p3-node-5"/>
          <p:cNvSpPr txBox="1"/>
          <p:nvPr/>
        </p:nvSpPr>
        <p:spPr>
          <a:xfrm>
            <a:off x="381000" y="6350000"/>
            <a:ext cx="11430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来源：拉美工作与技能研究，PDF 第 17 页</a:t>
            </a:r>
          </a:p>
        </p:txBody>
      </p:sp>
      <p:sp>
        <p:nvSpPr>
          <p:cNvPr id="7" name="p3-node-6"/>
          <p:cNvSpPr/>
          <p:nvPr/>
        </p:nvSpPr>
        <p:spPr>
          <a:xfrm>
            <a:off x="279400" y="1409700"/>
            <a:ext cx="11633200" cy="1320800"/>
          </a:xfrm>
          <a:prstGeom prst="rect">
            <a:avLst/>
          </a:prstGeom>
          <a:solidFill>
            <a:srgbClr val="F1E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3-node-7"/>
          <p:cNvSpPr/>
          <p:nvPr/>
        </p:nvSpPr>
        <p:spPr>
          <a:xfrm>
            <a:off x="393700" y="1536700"/>
            <a:ext cx="1066800" cy="1066800"/>
          </a:xfrm>
          <a:prstGeom prst="ellipse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3-node-8"/>
          <p:cNvSpPr/>
          <p:nvPr/>
        </p:nvSpPr>
        <p:spPr>
          <a:xfrm>
            <a:off x="649732" y="1856739"/>
            <a:ext cx="554736" cy="4053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3-node-9"/>
          <p:cNvSpPr/>
          <p:nvPr/>
        </p:nvSpPr>
        <p:spPr>
          <a:xfrm>
            <a:off x="713740" y="1931415"/>
            <a:ext cx="426720" cy="256032"/>
          </a:xfrm>
          <a:prstGeom prst="round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3-node-10"/>
          <p:cNvSpPr/>
          <p:nvPr/>
        </p:nvSpPr>
        <p:spPr>
          <a:xfrm>
            <a:off x="777747" y="1995424"/>
            <a:ext cx="85344" cy="853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3-node-11"/>
          <p:cNvSpPr/>
          <p:nvPr/>
        </p:nvSpPr>
        <p:spPr>
          <a:xfrm>
            <a:off x="991107" y="1995424"/>
            <a:ext cx="85344" cy="853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3-node-12"/>
          <p:cNvSpPr/>
          <p:nvPr/>
        </p:nvSpPr>
        <p:spPr>
          <a:xfrm>
            <a:off x="905763" y="1750060"/>
            <a:ext cx="42672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3-node-13"/>
          <p:cNvSpPr/>
          <p:nvPr/>
        </p:nvSpPr>
        <p:spPr>
          <a:xfrm>
            <a:off x="873760" y="1696720"/>
            <a:ext cx="106680" cy="106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3-node-14"/>
          <p:cNvSpPr/>
          <p:nvPr/>
        </p:nvSpPr>
        <p:spPr>
          <a:xfrm>
            <a:off x="617728" y="2294128"/>
            <a:ext cx="618744" cy="149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3-node-15"/>
          <p:cNvSpPr/>
          <p:nvPr/>
        </p:nvSpPr>
        <p:spPr>
          <a:xfrm>
            <a:off x="575056" y="1995424"/>
            <a:ext cx="53340" cy="181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3-node-16"/>
          <p:cNvSpPr/>
          <p:nvPr/>
        </p:nvSpPr>
        <p:spPr>
          <a:xfrm>
            <a:off x="1225804" y="1995424"/>
            <a:ext cx="53340" cy="181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3-node-17"/>
          <p:cNvSpPr txBox="1"/>
          <p:nvPr/>
        </p:nvSpPr>
        <p:spPr>
          <a:xfrm>
            <a:off x="1879600" y="1536700"/>
            <a:ext cx="558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智能体优先</a:t>
            </a:r>
          </a:p>
        </p:txBody>
      </p:sp>
      <p:sp>
        <p:nvSpPr>
          <p:cNvPr id="19" name="p3-node-18"/>
          <p:cNvSpPr/>
          <p:nvPr/>
        </p:nvSpPr>
        <p:spPr>
          <a:xfrm>
            <a:off x="1879600" y="2070100"/>
            <a:ext cx="5575300" cy="7620"/>
          </a:xfrm>
          <a:prstGeom prst="rect">
            <a:avLst/>
          </a:prstGeom>
          <a:solidFill>
            <a:srgbClr val="AEB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3-node-19"/>
          <p:cNvSpPr txBox="1"/>
          <p:nvPr/>
        </p:nvSpPr>
        <p:spPr>
          <a:xfrm>
            <a:off x="1879600" y="2133600"/>
            <a:ext cx="55880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阿根廷、智利、哥斯达黎加、乌拉圭</a:t>
            </a:r>
          </a:p>
        </p:txBody>
      </p:sp>
      <p:sp>
        <p:nvSpPr>
          <p:cNvPr id="21" name="p3-node-20"/>
          <p:cNvSpPr/>
          <p:nvPr/>
        </p:nvSpPr>
        <p:spPr>
          <a:xfrm>
            <a:off x="7734300" y="1524000"/>
            <a:ext cx="12700" cy="1104900"/>
          </a:xfrm>
          <a:prstGeom prst="rect">
            <a:avLst/>
          </a:prstGeom>
          <a:solidFill>
            <a:srgbClr val="AEB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3-node-21"/>
          <p:cNvSpPr/>
          <p:nvPr/>
        </p:nvSpPr>
        <p:spPr>
          <a:xfrm>
            <a:off x="7962900" y="1892300"/>
            <a:ext cx="317500" cy="317500"/>
          </a:xfrm>
          <a:prstGeom prst="rightArrow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3-node-22"/>
          <p:cNvSpPr txBox="1"/>
          <p:nvPr/>
        </p:nvSpPr>
        <p:spPr>
          <a:xfrm>
            <a:off x="8547100" y="1536700"/>
            <a:ext cx="3149600" cy="1066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非物理工作占可自动化工时 70% 以上</a:t>
            </a:r>
          </a:p>
        </p:txBody>
      </p:sp>
      <p:sp>
        <p:nvSpPr>
          <p:cNvPr id="24" name="p3-node-23"/>
          <p:cNvSpPr/>
          <p:nvPr/>
        </p:nvSpPr>
        <p:spPr>
          <a:xfrm>
            <a:off x="279400" y="2870200"/>
            <a:ext cx="11633200" cy="1320800"/>
          </a:xfrm>
          <a:prstGeom prst="rect">
            <a:avLst/>
          </a:prstGeom>
          <a:solidFill>
            <a:srgbClr val="E7EC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3-node-24"/>
          <p:cNvSpPr/>
          <p:nvPr/>
        </p:nvSpPr>
        <p:spPr>
          <a:xfrm>
            <a:off x="393700" y="2997200"/>
            <a:ext cx="1066800" cy="1066800"/>
          </a:xfrm>
          <a:prstGeom prst="ellipse">
            <a:avLst/>
          </a:prstGeom>
          <a:solidFill>
            <a:srgbClr val="455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3-node-25"/>
          <p:cNvSpPr/>
          <p:nvPr/>
        </p:nvSpPr>
        <p:spPr>
          <a:xfrm>
            <a:off x="703072" y="3306572"/>
            <a:ext cx="448056" cy="448056"/>
          </a:xfrm>
          <a:prstGeom prst="roundRect">
            <a:avLst/>
          </a:prstGeom>
          <a:noFill/>
          <a:ln w="32004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3-node-26"/>
          <p:cNvSpPr/>
          <p:nvPr/>
        </p:nvSpPr>
        <p:spPr>
          <a:xfrm>
            <a:off x="777747" y="3189224"/>
            <a:ext cx="32004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3-node-27"/>
          <p:cNvSpPr/>
          <p:nvPr/>
        </p:nvSpPr>
        <p:spPr>
          <a:xfrm>
            <a:off x="777747" y="3743960"/>
            <a:ext cx="32004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3-node-28"/>
          <p:cNvSpPr/>
          <p:nvPr/>
        </p:nvSpPr>
        <p:spPr>
          <a:xfrm>
            <a:off x="585724" y="3381248"/>
            <a:ext cx="128016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3-node-29"/>
          <p:cNvSpPr/>
          <p:nvPr/>
        </p:nvSpPr>
        <p:spPr>
          <a:xfrm>
            <a:off x="1140460" y="3381248"/>
            <a:ext cx="128016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3-node-30"/>
          <p:cNvSpPr/>
          <p:nvPr/>
        </p:nvSpPr>
        <p:spPr>
          <a:xfrm>
            <a:off x="916432" y="3189224"/>
            <a:ext cx="32004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3-node-31"/>
          <p:cNvSpPr/>
          <p:nvPr/>
        </p:nvSpPr>
        <p:spPr>
          <a:xfrm>
            <a:off x="916432" y="3743960"/>
            <a:ext cx="32004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3-node-32"/>
          <p:cNvSpPr/>
          <p:nvPr/>
        </p:nvSpPr>
        <p:spPr>
          <a:xfrm>
            <a:off x="585724" y="3519931"/>
            <a:ext cx="128016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3-node-33"/>
          <p:cNvSpPr/>
          <p:nvPr/>
        </p:nvSpPr>
        <p:spPr>
          <a:xfrm>
            <a:off x="1140460" y="3519931"/>
            <a:ext cx="128016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3-node-34"/>
          <p:cNvSpPr/>
          <p:nvPr/>
        </p:nvSpPr>
        <p:spPr>
          <a:xfrm>
            <a:off x="1055116" y="3189224"/>
            <a:ext cx="32004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3-node-35"/>
          <p:cNvSpPr/>
          <p:nvPr/>
        </p:nvSpPr>
        <p:spPr>
          <a:xfrm>
            <a:off x="1055116" y="3743960"/>
            <a:ext cx="32004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3-node-36"/>
          <p:cNvSpPr/>
          <p:nvPr/>
        </p:nvSpPr>
        <p:spPr>
          <a:xfrm>
            <a:off x="585724" y="3658616"/>
            <a:ext cx="128016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3-node-37"/>
          <p:cNvSpPr/>
          <p:nvPr/>
        </p:nvSpPr>
        <p:spPr>
          <a:xfrm>
            <a:off x="1140460" y="3658616"/>
            <a:ext cx="128016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3-node-38"/>
          <p:cNvSpPr/>
          <p:nvPr/>
        </p:nvSpPr>
        <p:spPr>
          <a:xfrm>
            <a:off x="820419" y="3423920"/>
            <a:ext cx="213360" cy="213360"/>
          </a:xfrm>
          <a:prstGeom prst="rect">
            <a:avLst/>
          </a:prstGeom>
          <a:noFill/>
          <a:ln w="21336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3-node-39"/>
          <p:cNvSpPr txBox="1"/>
          <p:nvPr/>
        </p:nvSpPr>
        <p:spPr>
          <a:xfrm>
            <a:off x="1879600" y="2997200"/>
            <a:ext cx="558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智能体与机器人并进</a:t>
            </a:r>
          </a:p>
        </p:txBody>
      </p:sp>
      <p:sp>
        <p:nvSpPr>
          <p:cNvPr id="41" name="p3-node-40"/>
          <p:cNvSpPr/>
          <p:nvPr/>
        </p:nvSpPr>
        <p:spPr>
          <a:xfrm>
            <a:off x="1879600" y="3530600"/>
            <a:ext cx="5575300" cy="7620"/>
          </a:xfrm>
          <a:prstGeom prst="rect">
            <a:avLst/>
          </a:prstGeom>
          <a:solidFill>
            <a:srgbClr val="AEB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3-node-41"/>
          <p:cNvSpPr txBox="1"/>
          <p:nvPr/>
        </p:nvSpPr>
        <p:spPr>
          <a:xfrm>
            <a:off x="1879600" y="3594100"/>
            <a:ext cx="55880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巴西、哥伦比亚、多米尼加、墨西哥、巴拿马</a:t>
            </a:r>
          </a:p>
        </p:txBody>
      </p:sp>
      <p:sp>
        <p:nvSpPr>
          <p:cNvPr id="43" name="p3-node-42"/>
          <p:cNvSpPr/>
          <p:nvPr/>
        </p:nvSpPr>
        <p:spPr>
          <a:xfrm>
            <a:off x="7734300" y="2984500"/>
            <a:ext cx="12700" cy="1104900"/>
          </a:xfrm>
          <a:prstGeom prst="rect">
            <a:avLst/>
          </a:prstGeom>
          <a:solidFill>
            <a:srgbClr val="AEB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3-node-43"/>
          <p:cNvSpPr/>
          <p:nvPr/>
        </p:nvSpPr>
        <p:spPr>
          <a:xfrm>
            <a:off x="7962900" y="3352800"/>
            <a:ext cx="317500" cy="317500"/>
          </a:xfrm>
          <a:prstGeom prst="rightArrow">
            <a:avLst/>
          </a:prstGeom>
          <a:solidFill>
            <a:srgbClr val="455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3-node-44"/>
          <p:cNvSpPr txBox="1"/>
          <p:nvPr/>
        </p:nvSpPr>
        <p:spPr>
          <a:xfrm>
            <a:off x="8547100" y="2997200"/>
            <a:ext cx="3149600" cy="1066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物理与非物理工作的组合更均衡</a:t>
            </a:r>
          </a:p>
        </p:txBody>
      </p:sp>
      <p:sp>
        <p:nvSpPr>
          <p:cNvPr id="46" name="p3-node-45"/>
          <p:cNvSpPr/>
          <p:nvPr/>
        </p:nvSpPr>
        <p:spPr>
          <a:xfrm>
            <a:off x="279400" y="4330700"/>
            <a:ext cx="11633200" cy="1320800"/>
          </a:xfrm>
          <a:prstGeom prst="rect">
            <a:avLst/>
          </a:prstGeom>
          <a:solidFill>
            <a:srgbClr val="F1E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3-node-46"/>
          <p:cNvSpPr/>
          <p:nvPr/>
        </p:nvSpPr>
        <p:spPr>
          <a:xfrm>
            <a:off x="393700" y="4457700"/>
            <a:ext cx="1066800" cy="1066800"/>
          </a:xfrm>
          <a:prstGeom prst="ellipse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3-node-47"/>
          <p:cNvSpPr/>
          <p:nvPr/>
        </p:nvSpPr>
        <p:spPr>
          <a:xfrm>
            <a:off x="628396" y="4735068"/>
            <a:ext cx="608076" cy="512064"/>
          </a:xfrm>
          <a:custGeom>
            <a:avLst/>
            <a:gdLst/>
            <a:ahLst/>
            <a:cxnLst/>
            <a:rect l="0" t="0" r="r" b="b"/>
            <a:pathLst>
              <a:path w="47880" h="40320">
                <a:moveTo>
                  <a:pt x="0" y="40320"/>
                </a:moveTo>
                <a:lnTo>
                  <a:pt x="0" y="16800"/>
                </a:lnTo>
                <a:lnTo>
                  <a:pt x="15120" y="25200"/>
                </a:lnTo>
                <a:lnTo>
                  <a:pt x="15120" y="16800"/>
                </a:lnTo>
                <a:lnTo>
                  <a:pt x="29400" y="25200"/>
                </a:lnTo>
                <a:lnTo>
                  <a:pt x="33600" y="0"/>
                </a:lnTo>
                <a:lnTo>
                  <a:pt x="42000" y="0"/>
                </a:lnTo>
                <a:lnTo>
                  <a:pt x="47880" y="403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3-node-48"/>
          <p:cNvSpPr/>
          <p:nvPr/>
        </p:nvSpPr>
        <p:spPr>
          <a:xfrm>
            <a:off x="703072" y="5108448"/>
            <a:ext cx="74676" cy="74676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3-node-49"/>
          <p:cNvSpPr/>
          <p:nvPr/>
        </p:nvSpPr>
        <p:spPr>
          <a:xfrm>
            <a:off x="863092" y="5108448"/>
            <a:ext cx="74676" cy="74676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3-node-50"/>
          <p:cNvSpPr/>
          <p:nvPr/>
        </p:nvSpPr>
        <p:spPr>
          <a:xfrm>
            <a:off x="1023112" y="5108448"/>
            <a:ext cx="74676" cy="74676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3-node-51"/>
          <p:cNvSpPr txBox="1"/>
          <p:nvPr/>
        </p:nvSpPr>
        <p:spPr>
          <a:xfrm>
            <a:off x="1879600" y="4457700"/>
            <a:ext cx="558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物理自动化更关键</a:t>
            </a:r>
          </a:p>
        </p:txBody>
      </p:sp>
      <p:sp>
        <p:nvSpPr>
          <p:cNvPr id="53" name="p3-node-52"/>
          <p:cNvSpPr/>
          <p:nvPr/>
        </p:nvSpPr>
        <p:spPr>
          <a:xfrm>
            <a:off x="1879600" y="4991100"/>
            <a:ext cx="5575300" cy="7620"/>
          </a:xfrm>
          <a:prstGeom prst="rect">
            <a:avLst/>
          </a:prstGeom>
          <a:solidFill>
            <a:srgbClr val="AEB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3-node-53"/>
          <p:cNvSpPr txBox="1"/>
          <p:nvPr/>
        </p:nvSpPr>
        <p:spPr>
          <a:xfrm>
            <a:off x="1879600" y="5054600"/>
            <a:ext cx="55880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玻利维亚、厄瓜多尔、萨尔瓦多、危地马拉、洪都拉斯、秘鲁</a:t>
            </a:r>
          </a:p>
        </p:txBody>
      </p:sp>
      <p:sp>
        <p:nvSpPr>
          <p:cNvPr id="55" name="p3-node-54"/>
          <p:cNvSpPr/>
          <p:nvPr/>
        </p:nvSpPr>
        <p:spPr>
          <a:xfrm>
            <a:off x="7734300" y="4445000"/>
            <a:ext cx="12700" cy="1104900"/>
          </a:xfrm>
          <a:prstGeom prst="rect">
            <a:avLst/>
          </a:prstGeom>
          <a:solidFill>
            <a:srgbClr val="AEB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3-node-55"/>
          <p:cNvSpPr/>
          <p:nvPr/>
        </p:nvSpPr>
        <p:spPr>
          <a:xfrm>
            <a:off x="7962900" y="4813300"/>
            <a:ext cx="317500" cy="317500"/>
          </a:xfrm>
          <a:prstGeom prst="rightArrow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3-node-56"/>
          <p:cNvSpPr txBox="1"/>
          <p:nvPr/>
        </p:nvSpPr>
        <p:spPr>
          <a:xfrm>
            <a:off x="8547100" y="4457700"/>
            <a:ext cx="3149600" cy="1066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约 40% 的可自动化工时属于物理工作</a:t>
            </a:r>
          </a:p>
        </p:txBody>
      </p:sp>
      <p:sp>
        <p:nvSpPr>
          <p:cNvPr id="58" name="p3-node-57"/>
          <p:cNvSpPr/>
          <p:nvPr/>
        </p:nvSpPr>
        <p:spPr>
          <a:xfrm>
            <a:off x="279400" y="5778500"/>
            <a:ext cx="11633200" cy="558800"/>
          </a:xfrm>
          <a:prstGeom prst="roundRect">
            <a:avLst/>
          </a:prstGeom>
          <a:solidFill>
            <a:srgbClr val="455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3-node-58"/>
          <p:cNvSpPr txBox="1"/>
          <p:nvPr/>
        </p:nvSpPr>
        <p:spPr>
          <a:xfrm>
            <a:off x="698500" y="5803900"/>
            <a:ext cx="10782300" cy="520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00" b="1" i="0" spc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按本国工作结构配置技术、人才与基础设施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4-node-1"/>
          <p:cNvSpPr/>
          <p:nvPr/>
        </p:nvSpPr>
        <p:spPr>
          <a:xfrm>
            <a:off x="279400" y="762000"/>
            <a:ext cx="11633200" cy="254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4-node-2"/>
          <p:cNvSpPr/>
          <p:nvPr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4-node-3"/>
          <p:cNvSpPr txBox="1"/>
          <p:nvPr/>
        </p:nvSpPr>
        <p:spPr>
          <a:xfrm>
            <a:off x="381000" y="127000"/>
            <a:ext cx="114300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66% 的技能将在人与 AI 之间共享应用</a:t>
            </a:r>
          </a:p>
        </p:txBody>
      </p:sp>
      <p:sp>
        <p:nvSpPr>
          <p:cNvPr id="5" name="p4-node-4"/>
          <p:cNvSpPr txBox="1"/>
          <p:nvPr/>
        </p:nvSpPr>
        <p:spPr>
          <a:xfrm>
            <a:off x="381000" y="838200"/>
            <a:ext cx="1143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约 7000 项技能｜五国招聘数据分析</a:t>
            </a:r>
          </a:p>
        </p:txBody>
      </p:sp>
      <p:sp>
        <p:nvSpPr>
          <p:cNvPr id="6" name="p4-node-5"/>
          <p:cNvSpPr txBox="1"/>
          <p:nvPr/>
        </p:nvSpPr>
        <p:spPr>
          <a:xfrm>
            <a:off x="381000" y="6350000"/>
            <a:ext cx="11430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来源：拉美工作与技能研究，PDF 第 24 页</a:t>
            </a:r>
          </a:p>
        </p:txBody>
      </p:sp>
      <p:sp>
        <p:nvSpPr>
          <p:cNvPr id="7" name="p4-node-6"/>
          <p:cNvSpPr txBox="1"/>
          <p:nvPr/>
        </p:nvSpPr>
        <p:spPr>
          <a:xfrm>
            <a:off x="558800" y="1384300"/>
            <a:ext cx="4851400" cy="1600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200" b="1" i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00" b="1" i="0" spc="0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66%</a:t>
            </a:r>
          </a:p>
        </p:txBody>
      </p:sp>
      <p:sp>
        <p:nvSpPr>
          <p:cNvPr id="8" name="p4-node-7"/>
          <p:cNvSpPr txBox="1"/>
          <p:nvPr/>
        </p:nvSpPr>
        <p:spPr>
          <a:xfrm>
            <a:off x="571500" y="3098800"/>
            <a:ext cx="4902200" cy="55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用于可自动化与不可自动化活动</a:t>
            </a:r>
          </a:p>
        </p:txBody>
      </p:sp>
      <p:sp>
        <p:nvSpPr>
          <p:cNvPr id="9" name="p4-node-8"/>
          <p:cNvSpPr/>
          <p:nvPr/>
        </p:nvSpPr>
        <p:spPr>
          <a:xfrm>
            <a:off x="571500" y="3708400"/>
            <a:ext cx="4889500" cy="12700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4-node-9"/>
          <p:cNvSpPr/>
          <p:nvPr/>
        </p:nvSpPr>
        <p:spPr>
          <a:xfrm>
            <a:off x="5778500" y="1422400"/>
            <a:ext cx="12700" cy="3784600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4-node-10"/>
          <p:cNvSpPr txBox="1"/>
          <p:nvPr/>
        </p:nvSpPr>
        <p:spPr>
          <a:xfrm>
            <a:off x="571500" y="3886200"/>
            <a:ext cx="23622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6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21%</a:t>
            </a:r>
          </a:p>
        </p:txBody>
      </p:sp>
      <p:sp>
        <p:nvSpPr>
          <p:cNvPr id="12" name="p4-node-11"/>
          <p:cNvSpPr txBox="1"/>
          <p:nvPr/>
        </p:nvSpPr>
        <p:spPr>
          <a:xfrm>
            <a:off x="571500" y="4699000"/>
            <a:ext cx="23495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主要用于可自动化活动</a:t>
            </a:r>
          </a:p>
        </p:txBody>
      </p:sp>
      <p:sp>
        <p:nvSpPr>
          <p:cNvPr id="13" name="p4-node-12"/>
          <p:cNvSpPr/>
          <p:nvPr/>
        </p:nvSpPr>
        <p:spPr>
          <a:xfrm>
            <a:off x="2946400" y="4038600"/>
            <a:ext cx="12700" cy="914400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4-node-13"/>
          <p:cNvSpPr txBox="1"/>
          <p:nvPr/>
        </p:nvSpPr>
        <p:spPr>
          <a:xfrm>
            <a:off x="3238500" y="3886200"/>
            <a:ext cx="241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rgbClr val="7983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600" b="1" i="0" spc="0">
                <a:solidFill>
                  <a:srgbClr val="79838E"/>
                </a:solidFill>
                <a:latin typeface="Arial Unicode MS"/>
                <a:ea typeface="Arial Unicode MS"/>
                <a:cs typeface="Arial Unicode MS"/>
              </a:rPr>
              <a:t>13%</a:t>
            </a:r>
          </a:p>
        </p:txBody>
      </p:sp>
      <p:sp>
        <p:nvSpPr>
          <p:cNvPr id="15" name="p4-node-14"/>
          <p:cNvSpPr txBox="1"/>
          <p:nvPr/>
        </p:nvSpPr>
        <p:spPr>
          <a:xfrm>
            <a:off x="3238500" y="4699000"/>
            <a:ext cx="23495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00" b="0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主要用于不可自动化活动</a:t>
            </a:r>
          </a:p>
        </p:txBody>
      </p:sp>
      <p:graphicFrame>
        <p:nvGraphicFramePr>
          <p:cNvPr id="16" name="p4-node-15"/>
          <p:cNvGraphicFramePr>
            <a:graphicFrameLocks noGrp="1"/>
          </p:cNvGraphicFramePr>
          <p:nvPr/>
        </p:nvGraphicFramePr>
        <p:xfrm>
          <a:off x="5930900" y="1371600"/>
          <a:ext cx="5969000" cy="3860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4-node-16"/>
          <p:cNvSpPr/>
          <p:nvPr/>
        </p:nvSpPr>
        <p:spPr>
          <a:xfrm>
            <a:off x="279400" y="5410200"/>
            <a:ext cx="6946900" cy="889000"/>
          </a:xfrm>
          <a:prstGeom prst="roundRect">
            <a:avLst/>
          </a:prstGeom>
          <a:solidFill>
            <a:srgbClr val="B71D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4-node-17"/>
          <p:cNvSpPr txBox="1"/>
          <p:nvPr/>
        </p:nvSpPr>
        <p:spPr>
          <a:xfrm>
            <a:off x="571500" y="5511800"/>
            <a:ext cx="64262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00" b="1" i="0" spc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技能更多是改变应用方式，而非被整体替代</a:t>
            </a:r>
          </a:p>
        </p:txBody>
      </p:sp>
      <p:sp>
        <p:nvSpPr>
          <p:cNvPr id="19" name="p4-node-18"/>
          <p:cNvSpPr/>
          <p:nvPr/>
        </p:nvSpPr>
        <p:spPr>
          <a:xfrm>
            <a:off x="7327900" y="5410200"/>
            <a:ext cx="4584700" cy="889000"/>
          </a:xfrm>
          <a:prstGeom prst="roundRect">
            <a:avLst/>
          </a:prstGeom>
          <a:solidFill>
            <a:srgbClr val="E6E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4-node-19"/>
          <p:cNvSpPr txBox="1"/>
          <p:nvPr/>
        </p:nvSpPr>
        <p:spPr>
          <a:xfrm>
            <a:off x="7620000" y="5511800"/>
            <a:ext cx="4038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00" b="1" i="0" spc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判断 · 情境理解 · 责任承担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template-image-guided</dc:title>
  <dc:subject/>
  <dc:creator>PPT Smith declarative renderer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