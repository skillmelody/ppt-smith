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6-templatecopy-2.xml" ContentType="application/vnd.openxmlformats-officedocument.drawingml.chart+xml"/>
  <Override PartName="/ppt/charts/chart6-templatecopy-3.xml" ContentType="application/vnd.openxmlformats-officedocument.drawingml.chart+xml"/>
  <Override PartName="/ppt/charts/colors6-templatecopy-2.xml" ContentType="application/vnd.ms-office.chartcolorstyle+xml"/>
  <Override PartName="/ppt/charts/colors6-templatecopy-3.xml" ContentType="application/vnd.ms-office.chartcolorstyle+xml"/>
  <Override PartName="/ppt/charts/style6-templatecopy-2.xml" ContentType="application/vnd.ms-office.chartstyle+xml"/>
  <Override PartName="/ppt/charts/style6-templatecopy-3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2"/>
    <p:sldMasterId id="2147483674" r:id="rId3"/>
    <p:sldMasterId id="2147483676" r:id="rId4"/>
  </p:sldMasterIdLst>
  <p:notesMasterIdLst>
    <p:notesMasterId r:id="rId47"/>
  </p:notesMasterIdLst>
  <p:handoutMasterIdLst>
    <p:handoutMasterId r:id="rId48"/>
  </p:handoutMasterIdLst>
  <p:sldIdLst>
    <p:sldId id="5955" r:id="rId49"/>
    <p:sldId id="5956" r:id="rId50"/>
    <p:sldId id="5957" r:id="rId51"/>
    <p:sldId id="5958" r:id="rId52"/>
  </p:sldIdLst>
  <p:sldSz cx="12192000" cy="6858000"/>
  <p:notesSz cx="6858000" cy="9144000"/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67">
          <p15:clr>
            <a:srgbClr val="A4A3A4"/>
          </p15:clr>
        </p15:guide>
        <p15:guide id="2" pos="7433">
          <p15:clr>
            <a:srgbClr val="A4A3A4"/>
          </p15:clr>
        </p15:guide>
        <p15:guide id="3" orient="horz" pos="701">
          <p15:clr>
            <a:srgbClr val="A4A3A4"/>
          </p15:clr>
        </p15:guide>
        <p15:guide id="4" orient="horz" pos="39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1D24"/>
    <a:srgbClr val="44546A"/>
    <a:srgbClr val="C4C4C4"/>
    <a:srgbClr val="E6646B"/>
    <a:srgbClr val="5B0E13"/>
    <a:srgbClr val="88161C"/>
    <a:srgbClr val="ECEBEB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7398" autoAdjust="0"/>
    <p:restoredTop sz="94660"/>
  </p:normalViewPr>
  <p:slideViewPr>
    <p:cSldViewPr snapToGrid="0" showGuides="1">
      <p:cViewPr varScale="1">
        <p:scale>
          <a:sx n="123" d="100"/>
          <a:sy n="123" d="100"/>
        </p:scale>
        <p:origin x="232" y="200"/>
      </p:cViewPr>
      <p:guideLst>
        <p:guide pos="167"/>
        <p:guide pos="7433"/>
        <p:guide orient="horz" pos="701"/>
        <p:guide orient="horz" pos="39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47" Type="http://schemas.openxmlformats.org/officeDocument/2006/relationships/notesMaster" Target="notesMasters/notesMaster1.xml"/><Relationship Id="rId48" Type="http://schemas.openxmlformats.org/officeDocument/2006/relationships/handoutMaster" Target="handoutMasters/handoutMaster1.xml"/><Relationship Id="rId49" Type="http://schemas.openxmlformats.org/officeDocument/2006/relationships/slide" Target="slides/slide1.xml"/><Relationship Id="rId50" Type="http://schemas.openxmlformats.org/officeDocument/2006/relationships/slide" Target="slides/slide2.xml"/><Relationship Id="rId51" Type="http://schemas.openxmlformats.org/officeDocument/2006/relationships/slide" Target="slides/slide3.xml"/><Relationship Id="rId52" Type="http://schemas.openxmlformats.org/officeDocument/2006/relationships/slide" Target="slides/slide4.xml"/><Relationship Id="rId53" Type="http://schemas.openxmlformats.org/officeDocument/2006/relationships/tags" Target="tags/tag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charts/_rels/chart6-templatecopy-2.xml.rels><?xml version='1.0' encoding='UTF-8' standalone='yes'?>
<Relationships xmlns="http://schemas.openxmlformats.org/package/2006/relationships"><Relationship Id="rId1" Type="http://schemas.microsoft.com/office/2011/relationships/chartStyle" Target="style6-templatecopy-2.xml"/><Relationship Id="rId2" Type="http://schemas.microsoft.com/office/2011/relationships/chartColorStyle" Target="colors6-templatecopy-2.xml"/><Relationship Id="rId3" Type="http://schemas.openxmlformats.org/officeDocument/2006/relationships/package" Target="../embeddings/Microsoft_Excel____5-templatecopy-2.xlsx"/></Relationships>
</file>

<file path=ppt/charts/_rels/chart6-templatecopy-3.xml.rels><?xml version='1.0' encoding='UTF-8' standalone='yes'?>
<Relationships xmlns="http://schemas.openxmlformats.org/package/2006/relationships"><Relationship Id="rId1" Type="http://schemas.microsoft.com/office/2011/relationships/chartStyle" Target="style6-templatecopy-3.xml"/><Relationship Id="rId2" Type="http://schemas.microsoft.com/office/2011/relationships/chartColorStyle" Target="colors6-templatecopy-3.xml"/><Relationship Id="rId3" Type="http://schemas.openxmlformats.org/officeDocument/2006/relationships/package" Target="../embeddings/Microsoft_Excel____5-templatecopy-3.xlsx"/></Relationships>
</file>

<file path=ppt/charts/chart6-templatecopy-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占比（%）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rgbClr val="B71D2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464-1641-B1EA-51D939CE79B6}"/>
              </c:ext>
            </c:extLst>
          </c:dPt>
          <c:dPt>
            <c:idx val="1"/>
            <c:bubble3D val="0"/>
            <c:spPr>
              <a:solidFill>
                <a:srgbClr val="D9424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464-1641-B1EA-51D939CE79B6}"/>
              </c:ext>
            </c:extLst>
          </c:dPt>
          <c:dPt>
            <c:idx val="2"/>
            <c:bubble3D val="0"/>
            <c:spPr>
              <a:solidFill>
                <a:srgbClr val="45576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464-1641-B1EA-51D939CE79B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464-1641-B1EA-51D939CE79B6}"/>
              </c:ext>
            </c:extLst>
          </c:dPt>
          <c:cat>
            <c:strRef>
              <c:f>Sheet1!$A$2:$A$4</c:f>
              <c:strCache>
                <c:ptCount val="3"/>
                <c:pt idx="0">
                  <c:v>智能体</c:v>
                </c:pt>
                <c:pt idx="1">
                  <c:v>机器人</c:v>
                </c:pt>
                <c:pt idx="2">
                  <c:v>当前不可自动化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</c:v>
                </c:pt>
                <c:pt idx="1">
                  <c:v>18</c:v>
                </c:pt>
                <c:pt idx="2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464-1641-B1EA-51D939CE79B6}"/>
            </c:ext>
          </c:extLst>
        </c:ser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Arial Unicode MS"/>
        </a:defRPr>
      </a:pPr>
      <a:endParaRPr lang="zh-CN"/>
    </a:p>
  </c:txPr>
  <c:externalData r:id="rId3">
    <c:autoUpdate val="0"/>
  </c:externalData>
</c:chartSpace>
</file>

<file path=ppt/charts/chart6-templatecopy-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占比（%）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rgbClr val="B71D2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464-1641-B1EA-51D939CE79B6}"/>
              </c:ext>
            </c:extLst>
          </c:dPt>
          <c:dPt>
            <c:idx val="1"/>
            <c:bubble3D val="0"/>
            <c:spPr>
              <a:solidFill>
                <a:srgbClr val="45576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464-1641-B1EA-51D939CE79B6}"/>
              </c:ext>
            </c:extLst>
          </c:dPt>
          <c:dPt>
            <c:idx val="2"/>
            <c:bubble3D val="0"/>
            <c:spPr>
              <a:solidFill>
                <a:srgbClr val="C8CFD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464-1641-B1EA-51D939CE79B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464-1641-B1EA-51D939CE79B6}"/>
              </c:ext>
            </c:extLst>
          </c:dPt>
          <c:cat>
            <c:strRef>
              <c:f>Sheet1!$A$2:$A$4</c:f>
              <c:strCache>
                <c:ptCount val="3"/>
                <c:pt idx="0">
                  <c:v>共享技能</c:v>
                </c:pt>
                <c:pt idx="1">
                  <c:v>主要用于可自动化活动</c:v>
                </c:pt>
                <c:pt idx="2">
                  <c:v>主要用于不可自动化活动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</c:v>
                </c:pt>
                <c:pt idx="1">
                  <c:v>21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464-1641-B1EA-51D939CE79B6}"/>
            </c:ext>
          </c:extLst>
        </c:ser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Arial Unicode MS"/>
        </a:defRPr>
      </a:pPr>
      <a:endParaRPr lang="zh-CN"/>
    </a:p>
  </c:txPr>
  <c:externalData r:id="rId3">
    <c:autoUpdate val="0"/>
  </c:externalData>
</c:chartSpace>
</file>

<file path=ppt/charts/colors6-templatecopy-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-templatecopy-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6-templatecopy-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-templatecopy-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Bold" panose="020B0800000000000000" charset="-122"/>
              <a:cs typeface="Roboto" panose="02000000000000000000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Normal" panose="020B0400000000000000" charset="-122"/>
                <a:ea typeface="思源黑体 CN Bold" panose="020B0800000000000000" charset="-122"/>
                <a:cs typeface="Roboto" panose="02000000000000000000" charset="0"/>
              </a:rPr>
              <a:t>2026/5/27</a:t>
            </a:fld>
            <a:endParaRPr lang="zh-CN" altLang="en-US">
              <a:latin typeface="思源黑体 CN Normal" panose="020B0400000000000000" charset="-122"/>
              <a:ea typeface="思源黑体 CN Bold" panose="020B0800000000000000" charset="-122"/>
              <a:cs typeface="Roboto" panose="02000000000000000000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Bold" panose="020B0800000000000000" charset="-122"/>
              <a:cs typeface="Roboto" panose="02000000000000000000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Normal" panose="020B0400000000000000" charset="-122"/>
                <a:ea typeface="思源黑体 CN Bold" panose="020B0800000000000000" charset="-122"/>
                <a:cs typeface="Roboto" panose="02000000000000000000" charset="0"/>
              </a:rPr>
              <a:t>‹#›</a:t>
            </a:fld>
            <a:endParaRPr lang="zh-CN" altLang="en-US">
              <a:latin typeface="思源黑体 CN Normal" panose="020B0400000000000000" charset="-122"/>
              <a:ea typeface="思源黑体 CN Bold" panose="020B0800000000000000" charset="-122"/>
              <a:cs typeface="Roboto" panose="020000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E2369E73-B522-416C-8762-6779C652F648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9751EC1A-DE98-4399-B0EE-DFEB03D880B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本页概括报告主题。原文封面与PDF第7页。三项观察分别讨论现有技术潜力、不同经济结构下的采用路径和技能应用，不把技术暴露直接解释为就业减少。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PDF第9—10页。15国2024年工时技术潜力：智能体39%、机器人18%，合计57%；剩余43%由100%-57%得出。技术潜力基于现有技术，实际采用受成本、工资和组织准备影响，不是岗位裁撤预测。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PDF第17页。三类路径为报告叙述归类。70%以上与约40%的分母均为可自动化工时，不是全部工时。三类国家列表完整保留，类别不代表发展水平排序。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PDF第24—25页。招聘分析覆盖阿根廷、巴西、智利、哥伦比亚、墨西哥五国。图示约7000项技能，方法段筛选后约7100项；本页沿用图示约数。66/21/13为技能分类，不是工时占比或失业率。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fld id="{5543C3B3-0A11-4369-9A0C-64D95D3C1F3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fld id="{F077451C-4E6D-4F1B-9FF2-A014A181AF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-templatecopy-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-templatecopy-3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矩形: 圆角 1"/>
          <p:cNvSpPr/>
          <p:nvPr/>
        </p:nvSpPr>
        <p:spPr>
          <a:xfrm>
            <a:off x="355600" y="1143000"/>
            <a:ext cx="11480800" cy="4267200"/>
          </a:xfrm>
          <a:prstGeom prst="roundRect">
            <a:avLst>
              <a:gd name="adj" fmla="val 2725"/>
            </a:avLst>
          </a:prstGeom>
          <a:solidFill>
            <a:srgbClr val="EEF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" name="椭圆 1"/>
          <p:cNvSpPr/>
          <p:nvPr/>
        </p:nvSpPr>
        <p:spPr>
          <a:xfrm>
            <a:off x="8724900" y="1752600"/>
            <a:ext cx="2336800" cy="2336800"/>
          </a:xfrm>
          <a:prstGeom prst="ellipse">
            <a:avLst/>
          </a:prstGeom>
          <a:solidFill>
            <a:srgbClr val="4557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" name="椭圆 56"/>
          <p:cNvSpPr/>
          <p:nvPr/>
        </p:nvSpPr>
        <p:spPr>
          <a:xfrm>
            <a:off x="8216900" y="3835400"/>
            <a:ext cx="1206500" cy="1206500"/>
          </a:xfrm>
          <a:prstGeom prst="ellipse">
            <a:avLst/>
          </a:prstGeom>
          <a:solidFill>
            <a:srgbClr val="B71D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" name="椭圆 72"/>
          <p:cNvSpPr/>
          <p:nvPr/>
        </p:nvSpPr>
        <p:spPr>
          <a:xfrm>
            <a:off x="10299700" y="3835400"/>
            <a:ext cx="1206500" cy="1206500"/>
          </a:xfrm>
          <a:prstGeom prst="ellipse">
            <a:avLst/>
          </a:prstGeom>
          <a:solidFill>
            <a:srgbClr val="B71D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" name="p1-title"/>
          <p:cNvSpPr txBox="1"/>
          <p:nvPr/>
        </p:nvSpPr>
        <p:spPr>
          <a:xfrm>
            <a:off x="660400" y="1473200"/>
            <a:ext cx="7086600" cy="1587500"/>
          </a:xfrm>
          <a:prstGeom prst="rect">
            <a:avLst/>
          </a:prstGeom>
          <a:noFill/>
        </p:spPr>
        <p:txBody>
          <a:bodyPr wrap="square" rtlCol="0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00" b="1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rPr>
              <a:t>智能体、机器人与我们</a:t>
            </a:r>
          </a:p>
        </p:txBody>
      </p:sp>
      <p:sp>
        <p:nvSpPr>
          <p:cNvPr id="10" name="p1-subtitle"/>
          <p:cNvSpPr txBox="1"/>
          <p:nvPr/>
        </p:nvSpPr>
        <p:spPr>
          <a:xfrm>
            <a:off x="698500" y="3175000"/>
            <a:ext cx="6985000" cy="812800"/>
          </a:xfrm>
          <a:prstGeom prst="rect">
            <a:avLst/>
          </a:prstGeom>
          <a:noFill/>
        </p:spPr>
        <p:txBody>
          <a:bodyPr wrap="square" rtlCol="0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AI 如何重塑拉美的工作与技能</a:t>
            </a:r>
          </a:p>
        </p:txBody>
      </p:sp>
      <p:sp>
        <p:nvSpPr>
          <p:cNvPr id="11" name="p1-scope"/>
          <p:cNvSpPr txBox="1"/>
          <p:nvPr/>
        </p:nvSpPr>
        <p:spPr>
          <a:xfrm>
            <a:off x="698500" y="4381500"/>
            <a:ext cx="6807200" cy="482600"/>
          </a:xfrm>
          <a:prstGeom prst="rect">
            <a:avLst/>
          </a:prstGeom>
          <a:noFill/>
        </p:spPr>
        <p:txBody>
          <a:bodyPr wrap="square" rtlCol="0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研究范围：15 个经济体</a:t>
            </a:r>
          </a:p>
        </p:txBody>
      </p:sp>
      <p:sp>
        <p:nvSpPr>
          <p:cNvPr id="12" name="p1-edition"/>
          <p:cNvSpPr txBox="1"/>
          <p:nvPr/>
        </p:nvSpPr>
        <p:spPr>
          <a:xfrm>
            <a:off x="482600" y="5613400"/>
            <a:ext cx="11226800" cy="317500"/>
          </a:xfrm>
          <a:prstGeom prst="rect">
            <a:avLst/>
          </a:prstGeom>
          <a:noFill/>
        </p:spPr>
        <p:txBody>
          <a:bodyPr wrap="square" rtlCol="0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拉美工作与技能研究｜2026 年 7 月</a:t>
            </a:r>
          </a:p>
        </p:txBody>
      </p:sp>
      <p:sp>
        <p:nvSpPr>
          <p:cNvPr id="13" name="p1-lens"/>
          <p:cNvSpPr txBox="1"/>
          <p:nvPr/>
        </p:nvSpPr>
        <p:spPr>
          <a:xfrm>
            <a:off x="482600" y="6007100"/>
            <a:ext cx="11226800" cy="279400"/>
          </a:xfrm>
          <a:prstGeom prst="rect">
            <a:avLst/>
          </a:prstGeom>
          <a:noFill/>
        </p:spPr>
        <p:txBody>
          <a:bodyPr wrap="square" rtlCol="0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技术潜力 · 采用路径 · 技能变化</a:t>
            </a:r>
          </a:p>
        </p:txBody>
      </p:sp>
      <p:sp>
        <p:nvSpPr>
          <p:cNvPr id="14" name="p1-source"/>
          <p:cNvSpPr txBox="1"/>
          <p:nvPr/>
        </p:nvSpPr>
        <p:spPr>
          <a:xfrm>
            <a:off x="381000" y="6362700"/>
            <a:ext cx="11430000" cy="215900"/>
          </a:xfrm>
          <a:prstGeom prst="rect">
            <a:avLst/>
          </a:prstGeom>
          <a:noFill/>
        </p:spPr>
        <p:txBody>
          <a:bodyPr wrap="square" rtlCol="0" anchor="ctr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来源：拉美工作与技能研究，PDF 第 1 页</a:t>
            </a:r>
          </a:p>
        </p:txBody>
      </p:sp>
    </p:spTree>
  </p:cSld>
  <p:clrMapOvr>
    <a:masterClrMapping/>
  </p:clrMapOvr>
</p:sld>
</file>

<file path=ppt/slides/slide2.xml><?xml version="1.0" encoding="utf-8"?>
<p:sld xmlns:c="http://schemas.openxmlformats.org/drawingml/2006/chart" xmlns:ns1="http://schemas.openxmlformats.org/drawingml/2006/main" xmlns:p="http://schemas.openxmlformats.org/presentationml/2006/main" xmlns:r="http://schemas.openxmlformats.org/officeDocument/2006/relationships">
  <p:cSld>
    <p:bg>
      <p:bgPr>
        <ns1:solidFill>
          <ns1:srgbClr val="F7F7F7"/>
        </ns1:solidFill>
        <ns1:effectLst/>
      </p:bgPr>
    </p:bg>
    <p:spTree>
      <p:nvGrpSpPr>
        <p:cNvPr id="1" name=""/>
        <p:cNvGrpSpPr/>
        <p:nvPr/>
      </p:nvGrpSpPr>
      <p:grpSpPr/>
      <p:cxnSp>
        <p:nvCxnSpPr>
          <p:cNvPr id="3" name="直线连接符 11"/>
          <p:cNvCxnSpPr/>
          <p:nvPr/>
        </p:nvCxnSpPr>
        <p:spPr>
          <ns1:xfrm>
            <ns1:off x="288925" y="723265"/>
            <ns1:ext cx="11511280" cy="0"/>
          </ns1:xfrm>
          <ns1:prstGeom prst="line">
            <ns1:avLst/>
          </ns1:prstGeom>
          <ns1:ln w="38100" cap="rnd">
            <ns1:solidFill>
              <ns1:schemeClr val="accent1"/>
            </ns1:solidFill>
          </ns1:ln>
        </p:spPr>
        <p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p:style>
      </p:cxnSp>
      <p:sp>
        <p:nvSpPr>
          <p:cNvPr id="4" name="矩形: 圆顶角 28"/>
          <p:cNvSpPr/>
          <p:nvPr/>
        </p:nvSpPr>
        <p:spPr>
          <ns1:xfrm>
            <ns1:off x="0" y="6657474"/>
            <ns1:ext cx="12192000" cy="200526"/>
          </ns1:xfrm>
          <ns1:prstGeom prst="round2SameRect">
            <ns1:avLst>
              <ns1:gd name="adj1" fmla="val 50000"/>
              <ns1:gd name="adj2" fmla="val 0"/>
            </ns1:avLst>
          </ns1:prstGeom>
          <ns1:gradFill>
            <ns1:gsLst>
              <ns1:gs pos="0">
                <ns1:schemeClr val="accent1"/>
              </ns1:gs>
              <ns1:gs pos="100000">
                <ns1:schemeClr val="accent1">
                  <ns1:lumMod val="75000"/>
                </ns1:schemeClr>
              </ns1:gs>
            </ns1:gsLst>
            <ns1:lin ang="2700000" scaled="0"/>
          </ns1:gradFill>
          <ns1:ln>
            <ns1:noFill/>
          </ns1:ln>
        </p:spPr>
        <p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p:style>
        <p:txBody>
          <ns1:bodyPr rtlCol="0" anchor="ctr"/>
          <ns1:lstStyle/>
          <ns1:p>
            <ns1:pPr algn="ctr"/>
            <ns1:endParaRPr lang="zh-CN" altLang="en-US">
              <ns1:cs typeface="Roboto" panose="02000000000000000000" charset="0"/>
            </ns1:endParaRPr>
          </ns1:p>
        </p:txBody>
      </p:sp>
      <p:sp>
        <p:nvSpPr>
          <p:cNvPr id="5" name="矩形: 圆角 1"/>
          <p:cNvSpPr/>
          <p:nvPr/>
        </p:nvSpPr>
        <p:spPr>
          <ns1:xfrm>
            <ns1:off x="355600" y="1574800"/>
            <ns1:ext cx="5334000" cy="3937000"/>
          </ns1:xfrm>
          <ns1:prstGeom prst="roundRect">
            <ns1:avLst>
              <ns1:gd name="adj" fmla="val 2725"/>
            </ns1:avLst>
          </ns1:prstGeom>
          <ns1:solidFill>
            <ns1:srgbClr val="EEF0F2"/>
          </ns1:solidFill>
          <ns1:ln>
            <ns1:noFill/>
          </ns1:ln>
        </p:spPr>
        <p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p:style>
        <p:txBody>
          <ns1:bodyPr rtlCol="0" anchor="ctr"/>
          <ns1:lstStyle/>
          <ns1:p>
            <ns1:pPr algn="ctr"/>
            <ns1:endParaRPr lang="zh-CN" altLang="en-US">
              <ns1:cs typeface="Roboto" panose="02000000000000000000" charset="0"/>
            </ns1:endParaRPr>
          </ns1:p>
        </p:txBody>
      </p:sp>
      <p:sp>
        <p:nvSpPr>
          <p:cNvPr id="6" name="矩形: 圆角 4"/>
          <p:cNvSpPr/>
          <p:nvPr/>
        </p:nvSpPr>
        <p:spPr>
          <ns1:xfrm>
            <ns1:off x="5892800" y="1574800"/>
            <ns1:ext cx="5918200" cy="3937000"/>
          </ns1:xfrm>
          <ns1:prstGeom prst="roundRect">
            <ns1:avLst>
              <ns1:gd name="adj" fmla="val 2725"/>
            </ns1:avLst>
          </ns1:prstGeom>
          <ns1:solidFill>
            <ns1:srgbClr val="EEF0F2"/>
          </ns1:solidFill>
          <ns1:ln>
            <ns1:noFill/>
          </ns1:ln>
        </p:spPr>
        <p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p:style>
        <p:txBody>
          <ns1:bodyPr rtlCol="0" anchor="ctr"/>
          <ns1:lstStyle/>
          <ns1:p>
            <ns1:pPr algn="ctr"/>
            <ns1:endParaRPr lang="zh-CN" altLang="en-US">
              <ns1:cs typeface="Roboto" panose="02000000000000000000" charset="0"/>
            </ns1:endParaRPr>
          </ns1:p>
        </p:txBody>
      </p:sp>
      <p:graphicFrame>
        <p:nvGraphicFramePr>
          <p:cNvPr id="7" name="bind:chart:page-2:data"/>
          <p:cNvGraphicFramePr/>
          <p:nvPr/>
        </p:nvGraphicFramePr>
        <p:xfrm>
          <ns1:off x="609600" y="1739900"/>
          <ns1:ext cx="4813300" cy="3556000"/>
        </p:xfrm>
        <ns1:graphic>
          <ns1:graphicData uri="http://schemas.openxmlformats.org/drawingml/2006/chart">
            <c:chart r:id="rId2"/>
          </ns1:graphicData>
        </ns1:graphic>
      </p:graphicFrame>
      <p:sp>
        <p:nvSpPr>
          <p:cNvPr id="8" name="p2-title"/>
          <p:cNvSpPr txBox="1"/>
          <p:nvPr/>
        </p:nvSpPr>
        <p:spPr>
          <ns1:xfrm>
            <ns1:off x="381000" y="165100"/>
            <ns1:ext cx="11430000" cy="5334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2900" b="1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2900" b="1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rPr>
              <ns1:t>57% 的工时具备自动化技术潜力</ns1:t>
            </ns1:r>
          </ns1:p>
        </p:txBody>
      </p:sp>
      <p:sp>
        <p:nvSpPr>
          <p:cNvPr id="9" name="p2-subtitle"/>
          <p:cNvSpPr txBox="1"/>
          <p:nvPr/>
        </p:nvSpPr>
        <p:spPr>
          <ns1:xfrm>
            <ns1:off x="406400" y="939800"/>
            <ns1:ext cx="11315700" cy="4318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1800" b="0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1800" b="0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rPr>
              <ns1:t>现有技术能力口径｜2024 年工时结构</ns1:t>
            </ns1:r>
          </ns1:p>
        </p:txBody>
      </p:sp>
      <p:sp>
        <p:nvSpPr>
          <p:cNvPr id="10" name="p2-source"/>
          <p:cNvSpPr txBox="1"/>
          <p:nvPr/>
        </p:nvSpPr>
        <p:spPr>
          <ns1:xfrm>
            <ns1:off x="381000" y="6350000"/>
            <ns1:ext cx="11430000" cy="2286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r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1000" b="0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1000" b="0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rPr>
              <ns1:t>来源：拉美工作与技能研究，PDF 第 9 页</ns1:t>
            </ns1:r>
          </ns1:p>
        </p:txBody>
      </p:sp>
      <p:sp>
        <p:nvSpPr>
          <p:cNvPr id="11" name="p2-hero"/>
          <p:cNvSpPr txBox="1"/>
          <p:nvPr/>
        </p:nvSpPr>
        <p:spPr>
          <ns1:xfrm>
            <ns1:off x="2006600" y="2730500"/>
            <ns1:ext cx="1981200" cy="8636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ctr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5600" b="1">
                <ns1:solidFill>
                  <ns1:srgbClr val="B71D29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5600" b="1">
                <ns1:solidFill>
                  <ns1:srgbClr val="B71D29"/>
                </ns1:solidFill>
                <ns1:latin typeface="Arial Unicode MS"/>
                <ns1:ea typeface="Arial Unicode MS"/>
                <ns1:cs typeface="Arial Unicode MS"/>
              </ns1:rPr>
              <ns1:t>57%</ns1:t>
            </ns1:r>
          </ns1:p>
        </p:txBody>
      </p:sp>
      <p:sp>
        <p:nvSpPr>
          <p:cNvPr id="12" name="p2-hero-label"/>
          <p:cNvSpPr txBox="1"/>
          <p:nvPr/>
        </p:nvSpPr>
        <p:spPr>
          <ns1:xfrm>
            <ns1:off x="1803400" y="3632200"/>
            <ns1:ext cx="2425700" cy="3810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ctr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2000" b="1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2000" b="1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rPr>
              <ns1:t>可自动化工时</ns1:t>
            </ns1:r>
          </ns1:p>
        </p:txBody>
      </p:sp>
      <p:sp>
        <p:nvSpPr>
          <p:cNvPr id="13" name="p2-agents"/>
          <p:cNvSpPr txBox="1"/>
          <p:nvPr/>
        </p:nvSpPr>
        <p:spPr>
          <ns1:xfrm>
            <ns1:off x="6210300" y="1879600"/>
            <ns1:ext cx="5283200" cy="7239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3000" b="1">
                <ns1:solidFill>
                  <ns1:srgbClr val="B71D29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3000" b="1">
                <ns1:solidFill>
                  <ns1:srgbClr val="B71D29"/>
                </ns1:solidFill>
                <ns1:latin typeface="Arial Unicode MS"/>
                <ns1:ea typeface="Arial Unicode MS"/>
                <ns1:cs typeface="Arial Unicode MS"/>
              </ns1:rPr>
              <ns1:t>智能体：39%</ns1:t>
            </ns1:r>
          </ns1:p>
        </p:txBody>
      </p:sp>
      <p:sp>
        <p:nvSpPr>
          <p:cNvPr id="14" name="p2-robots"/>
          <p:cNvSpPr txBox="1"/>
          <p:nvPr/>
        </p:nvSpPr>
        <p:spPr>
          <ns1:xfrm>
            <ns1:off x="6210300" y="3136900"/>
            <ns1:ext cx="5283200" cy="7239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3000" b="1">
                <ns1:solidFill>
                  <ns1:srgbClr val="B71D29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3000" b="1">
                <ns1:solidFill>
                  <ns1:srgbClr val="B71D29"/>
                </ns1:solidFill>
                <ns1:latin typeface="Arial Unicode MS"/>
                <ns1:ea typeface="Arial Unicode MS"/>
                <ns1:cs typeface="Arial Unicode MS"/>
              </ns1:rPr>
              <ns1:t>机器人：18%</ns1:t>
            </ns1:r>
          </ns1:p>
        </p:txBody>
      </p:sp>
      <p:sp>
        <p:nvSpPr>
          <p:cNvPr id="15" name="p2-people"/>
          <p:cNvSpPr txBox="1"/>
          <p:nvPr/>
        </p:nvSpPr>
        <p:spPr>
          <ns1:xfrm>
            <ns1:off x="6210300" y="4394200"/>
            <ns1:ext cx="5283200" cy="7239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3000" b="1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3000" b="1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rPr>
              <ns1:t>当前不可自动化：43%</ns1:t>
            </ns1:r>
          </ns1:p>
        </p:txBody>
      </p:sp>
      <p:sp>
        <p:nvSpPr>
          <p:cNvPr id="16" name="p2-caveat"/>
          <p:cNvSpPr txBox="1"/>
          <p:nvPr/>
        </p:nvSpPr>
        <p:spPr>
          <ns1:xfrm>
            <ns1:off x="431800" y="5689600"/>
            <ns1:ext cx="11303000" cy="3175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1900" b="1">
                <ns1:solidFill>
                  <ns1:srgbClr val="B71D29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1900" b="1">
                <ns1:solidFill>
                  <ns1:srgbClr val="B71D29"/>
                </ns1:solidFill>
                <ns1:latin typeface="Arial Unicode MS"/>
                <ns1:ea typeface="Arial Unicode MS"/>
                <ns1:cs typeface="Arial Unicode MS"/>
              </ns1:rPr>
              <ns1:t>技术潜力不等于实际采用率，也不等于岗位减少比例</ns1:t>
            </ns1:r>
          </ns1:p>
        </p:txBody>
      </p:sp>
      <p:sp>
        <p:nvSpPr>
          <p:cNvPr id="17" name="p2-human"/>
          <p:cNvSpPr txBox="1"/>
          <p:nvPr/>
        </p:nvSpPr>
        <p:spPr>
          <ns1:xfrm>
            <ns1:off x="431800" y="6057900"/>
            <ns1:ext cx="11303000" cy="2921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1800" b="0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1800" b="0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rPr>
              <ns1:t>人仍承担情境判断、关系管理与结果责任</ns1:t>
            </ns1:r>
          </ns1:p>
        </p:txBody>
      </p:sp>
    </p:spTree>
  </p:cSld>
  <p:clrMapOvr>
    <ns1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矩形: 圆角 1"/>
          <p:cNvSpPr/>
          <p:nvPr/>
        </p:nvSpPr>
        <p:spPr>
          <a:xfrm>
            <a:off x="355600" y="1625600"/>
            <a:ext cx="3657600" cy="3886200"/>
          </a:xfrm>
          <a:prstGeom prst="roundRect">
            <a:avLst>
              <a:gd name="adj" fmla="val 2725"/>
            </a:avLst>
          </a:prstGeom>
          <a:solidFill>
            <a:srgbClr val="EEF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" name="矩形: 圆角 24"/>
          <p:cNvSpPr/>
          <p:nvPr/>
        </p:nvSpPr>
        <p:spPr>
          <a:xfrm>
            <a:off x="4267200" y="1625600"/>
            <a:ext cx="3657600" cy="3886200"/>
          </a:xfrm>
          <a:prstGeom prst="roundRect">
            <a:avLst>
              <a:gd name="adj" fmla="val 2383"/>
            </a:avLst>
          </a:prstGeom>
          <a:solidFill>
            <a:srgbClr val="EEF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" name="矩形: 圆角 25"/>
          <p:cNvSpPr/>
          <p:nvPr/>
        </p:nvSpPr>
        <p:spPr>
          <a:xfrm>
            <a:off x="8178800" y="1625600"/>
            <a:ext cx="3657600" cy="3886200"/>
          </a:xfrm>
          <a:prstGeom prst="roundRect">
            <a:avLst>
              <a:gd name="adj" fmla="val 2383"/>
            </a:avLst>
          </a:prstGeom>
          <a:solidFill>
            <a:srgbClr val="EEF0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" name="p3-title"/>
          <p:cNvSpPr txBox="1"/>
          <p:nvPr/>
        </p:nvSpPr>
        <p:spPr>
          <a:xfrm>
            <a:off x="381000" y="165100"/>
            <a:ext cx="11430000" cy="533400"/>
          </a:xfrm>
          <a:prstGeom prst="rect">
            <a:avLst/>
          </a:prstGeom>
          <a:noFill/>
        </p:spPr>
        <p:txBody>
          <a:bodyPr wrap="square" rtlCol="0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00" b="1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经济结构决定三类自动化路径</a:t>
            </a:r>
          </a:p>
        </p:txBody>
      </p:sp>
      <p:sp>
        <p:nvSpPr>
          <p:cNvPr id="9" name="p3-subtitle"/>
          <p:cNvSpPr txBox="1"/>
          <p:nvPr/>
        </p:nvSpPr>
        <p:spPr>
          <a:xfrm>
            <a:off x="406400" y="939800"/>
            <a:ext cx="11315700" cy="431800"/>
          </a:xfrm>
          <a:prstGeom prst="rect">
            <a:avLst/>
          </a:prstGeom>
          <a:noFill/>
        </p:spPr>
        <p:txBody>
          <a:bodyPr wrap="square" rtlCol="0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相近的技术潜力，对应不同的工作结构</a:t>
            </a:r>
          </a:p>
        </p:txBody>
      </p:sp>
      <p:sp>
        <p:nvSpPr>
          <p:cNvPr id="10" name="p3-source"/>
          <p:cNvSpPr txBox="1"/>
          <p:nvPr/>
        </p:nvSpPr>
        <p:spPr>
          <a:xfrm>
            <a:off x="381000" y="6350000"/>
            <a:ext cx="11430000" cy="228600"/>
          </a:xfrm>
          <a:prstGeom prst="rect">
            <a:avLst/>
          </a:prstGeom>
          <a:noFill/>
        </p:spPr>
        <p:txBody>
          <a:bodyPr wrap="square" rtlCol="0" anchor="ctr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来源：拉美工作与技能研究，PDF 第 17 页</a:t>
            </a:r>
          </a:p>
        </p:txBody>
      </p:sp>
      <p:sp>
        <p:nvSpPr>
          <p:cNvPr id="11" name="p3-a-title"/>
          <p:cNvSpPr txBox="1"/>
          <p:nvPr/>
        </p:nvSpPr>
        <p:spPr>
          <a:xfrm>
            <a:off x="571500" y="1879600"/>
            <a:ext cx="3225800" cy="787400"/>
          </a:xfrm>
          <a:prstGeom prst="rect">
            <a:avLst/>
          </a:prstGeom>
          <a:noFill/>
        </p:spPr>
        <p:txBody>
          <a:bodyPr wrap="square" rtlCol="0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00" b="1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rPr>
              <a:t>智能体优先</a:t>
            </a:r>
          </a:p>
        </p:txBody>
      </p:sp>
      <p:sp>
        <p:nvSpPr>
          <p:cNvPr id="12" name="p3-a-countries"/>
          <p:cNvSpPr txBox="1"/>
          <p:nvPr/>
        </p:nvSpPr>
        <p:spPr>
          <a:xfrm>
            <a:off x="571500" y="2933700"/>
            <a:ext cx="3225800" cy="1143000"/>
          </a:xfrm>
          <a:prstGeom prst="rect">
            <a:avLst/>
          </a:prstGeom>
          <a:noFill/>
        </p:spPr>
        <p:txBody>
          <a:bodyPr wrap="square" rtlCol="0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阿根廷、智利、</a:t>
            </a:r>
            <a:br/>
            <a:r>
              <a:rPr sz="18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哥斯达黎加、乌拉圭</a:t>
            </a:r>
          </a:p>
        </p:txBody>
      </p:sp>
      <p:sp>
        <p:nvSpPr>
          <p:cNvPr id="13" name="p3-a-value"/>
          <p:cNvSpPr txBox="1"/>
          <p:nvPr/>
        </p:nvSpPr>
        <p:spPr>
          <a:xfrm>
            <a:off x="571500" y="4254500"/>
            <a:ext cx="3225800" cy="1028700"/>
          </a:xfrm>
          <a:prstGeom prst="rect">
            <a:avLst/>
          </a:prstGeom>
          <a:noFill/>
        </p:spPr>
        <p:txBody>
          <a:bodyPr wrap="square" rtlCol="0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00" b="1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非物理工作占可自动化工时 70% 以上</a:t>
            </a:r>
          </a:p>
        </p:txBody>
      </p:sp>
      <p:sp>
        <p:nvSpPr>
          <p:cNvPr id="14" name="p3-b-title"/>
          <p:cNvSpPr txBox="1"/>
          <p:nvPr/>
        </p:nvSpPr>
        <p:spPr>
          <a:xfrm>
            <a:off x="4483100" y="1879600"/>
            <a:ext cx="3225800" cy="787400"/>
          </a:xfrm>
          <a:prstGeom prst="rect">
            <a:avLst/>
          </a:prstGeom>
          <a:noFill/>
        </p:spPr>
        <p:txBody>
          <a:bodyPr wrap="square" rtlCol="0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00" b="1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智能体与机器人并进</a:t>
            </a:r>
          </a:p>
        </p:txBody>
      </p:sp>
      <p:sp>
        <p:nvSpPr>
          <p:cNvPr id="15" name="p3-b-countries"/>
          <p:cNvSpPr txBox="1"/>
          <p:nvPr/>
        </p:nvSpPr>
        <p:spPr>
          <a:xfrm>
            <a:off x="4483100" y="2933700"/>
            <a:ext cx="3225800" cy="1143000"/>
          </a:xfrm>
          <a:prstGeom prst="rect">
            <a:avLst/>
          </a:prstGeom>
          <a:noFill/>
        </p:spPr>
        <p:txBody>
          <a:bodyPr wrap="square" rtlCol="0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巴西、哥伦比亚、</a:t>
            </a:r>
            <a:br/>
            <a:r>
              <a:rPr sz="18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多米尼加、墨西哥、巴拿马</a:t>
            </a:r>
          </a:p>
        </p:txBody>
      </p:sp>
      <p:sp>
        <p:nvSpPr>
          <p:cNvPr id="16" name="p3-b-value"/>
          <p:cNvSpPr txBox="1"/>
          <p:nvPr/>
        </p:nvSpPr>
        <p:spPr>
          <a:xfrm>
            <a:off x="4483100" y="4254500"/>
            <a:ext cx="3225800" cy="1028700"/>
          </a:xfrm>
          <a:prstGeom prst="rect">
            <a:avLst/>
          </a:prstGeom>
          <a:noFill/>
        </p:spPr>
        <p:txBody>
          <a:bodyPr wrap="square" rtlCol="0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00" b="1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物理与非物理工作的组合更均衡</a:t>
            </a:r>
          </a:p>
        </p:txBody>
      </p:sp>
      <p:sp>
        <p:nvSpPr>
          <p:cNvPr id="17" name="p3-c-title"/>
          <p:cNvSpPr txBox="1"/>
          <p:nvPr/>
        </p:nvSpPr>
        <p:spPr>
          <a:xfrm>
            <a:off x="8394700" y="1879600"/>
            <a:ext cx="3225800" cy="787400"/>
          </a:xfrm>
          <a:prstGeom prst="rect">
            <a:avLst/>
          </a:prstGeom>
          <a:noFill/>
        </p:spPr>
        <p:txBody>
          <a:bodyPr wrap="square" rtlCol="0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00" b="1">
                <a:solidFill>
                  <a:srgbClr val="B71D29"/>
                </a:solidFill>
                <a:latin typeface="Arial Unicode MS"/>
                <a:ea typeface="Arial Unicode MS"/>
                <a:cs typeface="Arial Unicode MS"/>
              </a:rPr>
              <a:t>物理自动化更关键</a:t>
            </a:r>
          </a:p>
        </p:txBody>
      </p:sp>
      <p:sp>
        <p:nvSpPr>
          <p:cNvPr id="18" name="p3-c-countries"/>
          <p:cNvSpPr txBox="1"/>
          <p:nvPr/>
        </p:nvSpPr>
        <p:spPr>
          <a:xfrm>
            <a:off x="8394700" y="2933700"/>
            <a:ext cx="3225800" cy="1143000"/>
          </a:xfrm>
          <a:prstGeom prst="rect">
            <a:avLst/>
          </a:prstGeom>
          <a:noFill/>
        </p:spPr>
        <p:txBody>
          <a:bodyPr wrap="square" rtlCol="0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玻利维亚、厄瓜多尔、</a:t>
            </a:r>
            <a:br/>
            <a:r>
              <a:rPr sz="18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萨尔瓦多、危地马拉、</a:t>
            </a:r>
            <a:br/>
            <a:r>
              <a:rPr sz="1800" b="0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洪都拉斯、秘鲁</a:t>
            </a:r>
          </a:p>
        </p:txBody>
      </p:sp>
      <p:sp>
        <p:nvSpPr>
          <p:cNvPr id="19" name="p3-c-value"/>
          <p:cNvSpPr txBox="1"/>
          <p:nvPr/>
        </p:nvSpPr>
        <p:spPr>
          <a:xfrm>
            <a:off x="8394700" y="4254500"/>
            <a:ext cx="3225800" cy="1028700"/>
          </a:xfrm>
          <a:prstGeom prst="rect">
            <a:avLst/>
          </a:prstGeom>
          <a:noFill/>
        </p:spPr>
        <p:txBody>
          <a:bodyPr wrap="square" rtlCol="0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00" b="1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约 40% 的可自动化工时属于物理工作</a:t>
            </a:r>
          </a:p>
        </p:txBody>
      </p:sp>
      <p:sp>
        <p:nvSpPr>
          <p:cNvPr id="20" name="p3-takeaway"/>
          <p:cNvSpPr txBox="1"/>
          <p:nvPr/>
        </p:nvSpPr>
        <p:spPr>
          <a:xfrm>
            <a:off x="381000" y="5715000"/>
            <a:ext cx="11430000" cy="482600"/>
          </a:xfrm>
          <a:prstGeom prst="rect">
            <a:avLst/>
          </a:prstGeom>
          <a:noFill/>
        </p:spPr>
        <p:txBody>
          <a:bodyPr wrap="square" rtlCol="0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45576D"/>
                </a:solidFill>
                <a:latin typeface="Arial Unicode MS"/>
                <a:ea typeface="Arial Unicode MS"/>
                <a:cs typeface="Arial Unicode MS"/>
              </a:rPr>
              <a:t>按本国工作结构配置技术、人才与基础设施</a:t>
            </a:r>
          </a:p>
        </p:txBody>
      </p:sp>
    </p:spTree>
  </p:cSld>
  <p:clrMapOvr>
    <a:masterClrMapping/>
  </p:clrMapOvr>
</p:sld>
</file>

<file path=ppt/slides/slide4.xml><?xml version="1.0" encoding="utf-8"?>
<p:sld xmlns:c="http://schemas.openxmlformats.org/drawingml/2006/chart" xmlns:ns1="http://schemas.openxmlformats.org/drawingml/2006/main" xmlns:p="http://schemas.openxmlformats.org/presentationml/2006/main" xmlns:r="http://schemas.openxmlformats.org/officeDocument/2006/relationships">
  <p:cSld>
    <p:bg>
      <p:bgPr>
        <ns1:solidFill>
          <ns1:srgbClr val="F7F7F7"/>
        </ns1:solidFill>
        <ns1:effectLst/>
      </p:bgPr>
    </p:bg>
    <p:spTree>
      <p:nvGrpSpPr>
        <p:cNvPr id="1" name=""/>
        <p:cNvGrpSpPr/>
        <p:nvPr/>
      </p:nvGrpSpPr>
      <p:grpSpPr/>
      <p:cxnSp>
        <p:nvCxnSpPr>
          <p:cNvPr id="3" name="直线连接符 11"/>
          <p:cNvCxnSpPr/>
          <p:nvPr/>
        </p:nvCxnSpPr>
        <p:spPr>
          <ns1:xfrm>
            <ns1:off x="288925" y="723265"/>
            <ns1:ext cx="11511280" cy="0"/>
          </ns1:xfrm>
          <ns1:prstGeom prst="line">
            <ns1:avLst/>
          </ns1:prstGeom>
          <ns1:ln w="38100" cap="rnd">
            <ns1:solidFill>
              <ns1:schemeClr val="accent1"/>
            </ns1:solidFill>
          </ns1:ln>
        </p:spPr>
        <p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p:style>
      </p:cxnSp>
      <p:sp>
        <p:nvSpPr>
          <p:cNvPr id="4" name="矩形: 圆顶角 28"/>
          <p:cNvSpPr/>
          <p:nvPr/>
        </p:nvSpPr>
        <p:spPr>
          <ns1:xfrm>
            <ns1:off x="0" y="6657474"/>
            <ns1:ext cx="12192000" cy="200526"/>
          </ns1:xfrm>
          <ns1:prstGeom prst="round2SameRect">
            <ns1:avLst>
              <ns1:gd name="adj1" fmla="val 50000"/>
              <ns1:gd name="adj2" fmla="val 0"/>
            </ns1:avLst>
          </ns1:prstGeom>
          <ns1:gradFill>
            <ns1:gsLst>
              <ns1:gs pos="0">
                <ns1:schemeClr val="accent1"/>
              </ns1:gs>
              <ns1:gs pos="100000">
                <ns1:schemeClr val="accent1">
                  <ns1:lumMod val="75000"/>
                </ns1:schemeClr>
              </ns1:gs>
            </ns1:gsLst>
            <ns1:lin ang="2700000" scaled="0"/>
          </ns1:gradFill>
          <ns1:ln>
            <ns1:noFill/>
          </ns1:ln>
        </p:spPr>
        <p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p:style>
        <p:txBody>
          <ns1:bodyPr rtlCol="0" anchor="ctr"/>
          <ns1:lstStyle/>
          <ns1:p>
            <ns1:pPr algn="ctr"/>
            <ns1:endParaRPr lang="zh-CN" altLang="en-US">
              <ns1:cs typeface="Roboto" panose="02000000000000000000" charset="0"/>
            </ns1:endParaRPr>
          </ns1:p>
        </p:txBody>
      </p:sp>
      <p:sp>
        <p:nvSpPr>
          <p:cNvPr id="5" name="矩形: 圆角 1"/>
          <p:cNvSpPr/>
          <p:nvPr/>
        </p:nvSpPr>
        <p:spPr>
          <ns1:xfrm>
            <ns1:off x="355600" y="1612900"/>
            <ns1:ext cx="6629400" cy="3860800"/>
          </ns1:xfrm>
          <ns1:prstGeom prst="roundRect">
            <ns1:avLst>
              <ns1:gd name="adj" fmla="val 2725"/>
            </ns1:avLst>
          </ns1:prstGeom>
          <ns1:solidFill>
            <ns1:srgbClr val="EEF0F2"/>
          </ns1:solidFill>
          <ns1:ln>
            <ns1:noFill/>
          </ns1:ln>
        </p:spPr>
        <p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p:style>
        <p:txBody>
          <ns1:bodyPr rtlCol="0" anchor="ctr"/>
          <ns1:lstStyle/>
          <ns1:p>
            <ns1:pPr algn="ctr"/>
            <ns1:endParaRPr lang="zh-CN" altLang="en-US">
              <ns1:cs typeface="Roboto" panose="02000000000000000000" charset="0"/>
            </ns1:endParaRPr>
          </ns1:p>
        </p:txBody>
      </p:sp>
      <p:sp>
        <p:nvSpPr>
          <p:cNvPr id="6" name="矩形: 圆角 4"/>
          <p:cNvSpPr/>
          <p:nvPr/>
        </p:nvSpPr>
        <p:spPr>
          <ns1:xfrm>
            <ns1:off x="7188200" y="1612900"/>
            <ns1:ext cx="4622800" cy="3860800"/>
          </ns1:xfrm>
          <ns1:prstGeom prst="roundRect">
            <ns1:avLst>
              <ns1:gd name="adj" fmla="val 2725"/>
            </ns1:avLst>
          </ns1:prstGeom>
          <ns1:solidFill>
            <ns1:srgbClr val="EEF0F2"/>
          </ns1:solidFill>
          <ns1:ln>
            <ns1:noFill/>
          </ns1:ln>
        </p:spPr>
        <p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p:style>
        <p:txBody>
          <ns1:bodyPr rtlCol="0" anchor="ctr"/>
          <ns1:lstStyle/>
          <ns1:p>
            <ns1:pPr algn="ctr"/>
            <ns1:endParaRPr lang="zh-CN" altLang="en-US">
              <ns1:cs typeface="Roboto" panose="02000000000000000000" charset="0"/>
            </ns1:endParaRPr>
          </ns1:p>
        </p:txBody>
      </p:sp>
      <p:graphicFrame>
        <p:nvGraphicFramePr>
          <p:cNvPr id="7" name="bind:chart:page-4:data"/>
          <p:cNvGraphicFramePr/>
          <p:nvPr/>
        </p:nvGraphicFramePr>
        <p:xfrm>
          <ns1:off x="7378700" y="1841500"/>
          <ns1:ext cx="4267200" cy="3378200"/>
        </p:xfrm>
        <ns1:graphic>
          <ns1:graphicData uri="http://schemas.openxmlformats.org/drawingml/2006/chart">
            <c:chart r:id="rId2"/>
          </ns1:graphicData>
        </ns1:graphic>
      </p:graphicFrame>
      <p:sp>
        <p:nvSpPr>
          <p:cNvPr id="8" name="p4-title"/>
          <p:cNvSpPr txBox="1"/>
          <p:nvPr/>
        </p:nvSpPr>
        <p:spPr>
          <ns1:xfrm>
            <ns1:off x="381000" y="165100"/>
            <ns1:ext cx="11430000" cy="5334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2900" b="1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2900" b="1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rPr>
              <ns1:t>66% 的技能将在人与 AI 之间共享应用</ns1:t>
            </ns1:r>
          </ns1:p>
        </p:txBody>
      </p:sp>
      <p:sp>
        <p:nvSpPr>
          <p:cNvPr id="9" name="p4-subtitle"/>
          <p:cNvSpPr txBox="1"/>
          <p:nvPr/>
        </p:nvSpPr>
        <p:spPr>
          <ns1:xfrm>
            <ns1:off x="406400" y="939800"/>
            <ns1:ext cx="11315700" cy="4318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1800" b="0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1800" b="0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rPr>
              <ns1:t>约 7000 项技能｜五国招聘数据分析</ns1:t>
            </ns1:r>
          </ns1:p>
        </p:txBody>
      </p:sp>
      <p:sp>
        <p:nvSpPr>
          <p:cNvPr id="10" name="p4-source"/>
          <p:cNvSpPr txBox="1"/>
          <p:nvPr/>
        </p:nvSpPr>
        <p:spPr>
          <ns1:xfrm>
            <ns1:off x="381000" y="6350000"/>
            <ns1:ext cx="11430000" cy="2286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r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1000" b="0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1000" b="0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rPr>
              <ns1:t>来源：拉美工作与技能研究，PDF 第 24 页</ns1:t>
            </ns1:r>
          </ns1:p>
        </p:txBody>
      </p:sp>
      <p:sp>
        <p:nvSpPr>
          <p:cNvPr id="11" name="p4-shared"/>
          <p:cNvSpPr txBox="1"/>
          <p:nvPr/>
        </p:nvSpPr>
        <p:spPr>
          <ns1:xfrm>
            <ns1:off x="609600" y="1816100"/>
            <ns1:ext cx="2921000" cy="11557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7400" b="1">
                <ns1:solidFill>
                  <ns1:srgbClr val="B71D29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7400" b="1">
                <ns1:solidFill>
                  <ns1:srgbClr val="B71D29"/>
                </ns1:solidFill>
                <ns1:latin typeface="Arial Unicode MS"/>
                <ns1:ea typeface="Arial Unicode MS"/>
                <ns1:cs typeface="Arial Unicode MS"/>
              </ns1:rPr>
              <ns1:t>66%</ns1:t>
            </ns1:r>
          </ns1:p>
        </p:txBody>
      </p:sp>
      <p:sp>
        <p:nvSpPr>
          <p:cNvPr id="12" name="p4-shared-label"/>
          <p:cNvSpPr txBox="1"/>
          <p:nvPr/>
        </p:nvSpPr>
        <p:spPr>
          <ns1:xfrm>
            <ns1:off x="622300" y="3073400"/>
            <ns1:ext cx="6057900" cy="4699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2300" b="1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2300" b="1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rPr>
              <ns1:t>用于可自动化与不可自动化活动</ns1:t>
            </ns1:r>
          </ns1:p>
        </p:txBody>
      </p:sp>
      <p:sp>
        <p:nvSpPr>
          <p:cNvPr id="13" name="p4-ai"/>
          <p:cNvSpPr txBox="1"/>
          <p:nvPr/>
        </p:nvSpPr>
        <p:spPr>
          <ns1:xfrm>
            <ns1:off x="635000" y="3873500"/>
            <ns1:ext cx="2527300" cy="8382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5100" b="1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5100" b="1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rPr>
              <ns1:t>21%</ns1:t>
            </ns1:r>
          </ns1:p>
        </p:txBody>
      </p:sp>
      <p:sp>
        <p:nvSpPr>
          <p:cNvPr id="14" name="p4-ai-label"/>
          <p:cNvSpPr txBox="1"/>
          <p:nvPr/>
        </p:nvSpPr>
        <p:spPr>
          <ns1:xfrm>
            <ns1:off x="635000" y="4800600"/>
            <ns1:ext cx="2895600" cy="4445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1600" b="0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1600" b="0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rPr>
              <ns1:t>主要用于可自动化活动</ns1:t>
            </ns1:r>
          </ns1:p>
        </p:txBody>
      </p:sp>
      <p:sp>
        <p:nvSpPr>
          <p:cNvPr id="15" name="p4-human"/>
          <p:cNvSpPr txBox="1"/>
          <p:nvPr/>
        </p:nvSpPr>
        <p:spPr>
          <ns1:xfrm>
            <ns1:off x="3835400" y="3873500"/>
            <ns1:ext cx="2527300" cy="8382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5100" b="1">
                <ns1:solidFill>
                  <ns1:srgbClr val="79838E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5100" b="1">
                <ns1:solidFill>
                  <ns1:srgbClr val="79838E"/>
                </ns1:solidFill>
                <ns1:latin typeface="Arial Unicode MS"/>
                <ns1:ea typeface="Arial Unicode MS"/>
                <ns1:cs typeface="Arial Unicode MS"/>
              </ns1:rPr>
              <ns1:t>13%</ns1:t>
            </ns1:r>
          </ns1:p>
        </p:txBody>
      </p:sp>
      <p:sp>
        <p:nvSpPr>
          <p:cNvPr id="16" name="p4-human-label"/>
          <p:cNvSpPr txBox="1"/>
          <p:nvPr/>
        </p:nvSpPr>
        <p:spPr>
          <ns1:xfrm>
            <ns1:off x="3835400" y="4800600"/>
            <ns1:ext cx="2895600" cy="4445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1600" b="0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1600" b="0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rPr>
              <ns1:t>主要用于不可自动化活动</ns1:t>
            </ns1:r>
          </ns1:p>
        </p:txBody>
      </p:sp>
      <p:sp>
        <p:nvSpPr>
          <p:cNvPr id="17" name="p4-takeaway"/>
          <p:cNvSpPr txBox="1"/>
          <p:nvPr/>
        </p:nvSpPr>
        <p:spPr>
          <ns1:xfrm>
            <ns1:off x="406400" y="5638800"/>
            <ns1:ext cx="11328400" cy="3556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2300" b="1">
                <ns1:solidFill>
                  <ns1:srgbClr val="B71D29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2300" b="1">
                <ns1:solidFill>
                  <ns1:srgbClr val="B71D29"/>
                </ns1:solidFill>
                <ns1:latin typeface="Arial Unicode MS"/>
                <ns1:ea typeface="Arial Unicode MS"/>
                <ns1:cs typeface="Arial Unicode MS"/>
              </ns1:rPr>
              <ns1:t>技能更多是改变应用方式，而非被整体替代</ns1:t>
            </ns1:r>
          </ns1:p>
        </p:txBody>
      </p:sp>
      <p:sp>
        <p:nvSpPr>
          <p:cNvPr id="18" name="p4-judgement"/>
          <p:cNvSpPr txBox="1"/>
          <p:nvPr/>
        </p:nvSpPr>
        <p:spPr>
          <ns1:xfrm>
            <ns1:off x="406400" y="6057900"/>
            <ns1:ext cx="11303000" cy="279400"/>
          </ns1:xfrm>
          <ns1:prstGeom prst="rect">
            <ns1:avLst/>
          </ns1:prstGeom>
          <ns1:noFill/>
        </p:spPr>
        <p:txBody>
          <ns1:bodyPr wrap="square" rtlCol="0" anchor="ctr" lIns="0" rIns="0" tIns="0" bIns="0">
            <ns1:noAutofit/>
          </ns1:bodyPr>
          <ns1:lstStyle/>
          <ns1:p>
            <ns1:pPr algn="l">
              <ns1:lnSpc>
                <ns1:spcPct val="110000"/>
              </ns1:lnSpc>
              <ns1:spcBef>
                <ns1:spcPts val="0"/>
              </ns1:spcBef>
              <ns1:spcAft>
                <ns1:spcPts val="0"/>
              </ns1:spcAft>
              <ns1:defRPr sz="1800" b="1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defRPr>
            </ns1:pPr>
            <ns1:r>
              <ns1:rPr sz="1800" b="1">
                <ns1:solidFill>
                  <ns1:srgbClr val="45576D"/>
                </ns1:solidFill>
                <ns1:latin typeface="Arial Unicode MS"/>
                <ns1:ea typeface="Arial Unicode MS"/>
                <ns1:cs typeface="Arial Unicode MS"/>
              </ns1:rPr>
              <ns1:t>判断 · 情境理解 · 责任承担</ns1:t>
            </ns1:r>
          </ns1:p>
        </p:txBody>
      </p:sp>
    </p:spTree>
  </p:cSld>
  <p:clrMapOvr>
    <ns1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7d200efd-690f-4b00-820c-b6d44edefcb1&quot;,&quot;Name&quot;:&quot;自定义·&quot;,&quot;Kind&quot;:1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WPS">
  <a:themeElements>
    <a:clrScheme name="模板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51D25"/>
      </a:accent1>
      <a:accent2>
        <a:srgbClr val="0563C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51D25"/>
      </a:accent1>
      <a:accent2>
        <a:srgbClr val="44546A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Office">
      <a:majorFont>
        <a:latin typeface="思源黑体 CN Bold"/>
        <a:ea typeface=""/>
        <a:cs typeface=""/>
        <a:font script="Jpan" typeface="游ゴシック Light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Bold"/>
        <a:ea typeface=""/>
        <a:cs typeface=""/>
        <a:font script="Jpan" typeface="游ゴシック"/>
        <a:font script="Hang" typeface="맑은 고딕"/>
        <a:font script="Hans" typeface="思源黑体 CN Bold"/>
        <a:font script="Hant" typeface="新細明體"/>
        <a:font script="Arab" typeface="思源黑体 CN Bold"/>
        <a:font script="Hebr" typeface="思源黑体 CN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5F57"/>
      </a:accent1>
      <a:accent2>
        <a:srgbClr val="383934"/>
      </a:accent2>
      <a:accent3>
        <a:srgbClr val="EF5F57"/>
      </a:accent3>
      <a:accent4>
        <a:srgbClr val="383934"/>
      </a:accent4>
      <a:accent5>
        <a:srgbClr val="EF5F57"/>
      </a:accent5>
      <a:accent6>
        <a:srgbClr val="383934"/>
      </a:accent6>
      <a:hlink>
        <a:srgbClr val="000000"/>
      </a:hlink>
      <a:folHlink>
        <a:srgbClr val="000000"/>
      </a:folHlink>
    </a:clrScheme>
    <a:fontScheme name="自定义 1">
      <a:majorFont>
        <a:latin typeface="思源黑体 CN Bold"/>
        <a:ea typeface="思源黑体 CN Bold"/>
        <a:cs typeface=""/>
      </a:majorFont>
      <a:minorFont>
        <a:latin typeface="思源黑体 CN Bold"/>
        <a:ea typeface="思源黑体 CN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游ゴシック"/>
        <a:font script="Hang" typeface="맑은 고딕"/>
        <a:font script="Hans" typeface="思源黑体 CN Normal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9395</Words>
  <Application>Microsoft Macintosh PowerPoint</Application>
  <PresentationFormat>宽屏</PresentationFormat>
  <Paragraphs>1406</Paragraphs>
  <Slides>42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42</vt:i4>
      </vt:variant>
    </vt:vector>
  </HeadingPairs>
  <TitlesOfParts>
    <vt:vector size="50" baseType="lpstr">
      <vt:lpstr>Arial</vt:lpstr>
      <vt:lpstr>Roboto</vt:lpstr>
      <vt:lpstr>思源黑体 CN Normal</vt:lpstr>
      <vt:lpstr>思源黑体 CN Bold</vt:lpstr>
      <vt:lpstr>WPS</vt:lpstr>
      <vt:lpstr>1_WPS</vt:lpstr>
      <vt:lpstr>2_Office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Sun guang</cp:lastModifiedBy>
  <cp:revision>1079</cp:revision>
  <dcterms:created xsi:type="dcterms:W3CDTF">2023-08-09T12:44:00Z</dcterms:created>
  <dcterms:modified xsi:type="dcterms:W3CDTF">2026-05-27T07:12:41Z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2052-11.1.0.11176</vt:lpwstr>
  </property>
</Properties>
</file>