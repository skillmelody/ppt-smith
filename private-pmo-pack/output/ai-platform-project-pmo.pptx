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真实工作流</c:v>
                </c:pt>
                <c:pt idx="1">
                  <c:v>成功率</c:v>
                </c:pt>
                <c:pt idx="2">
                  <c:v>留存</c:v>
                </c:pt>
                <c:pt idx="3">
                  <c:v>付费</c:v>
                </c:pt>
                <c:pt idx="4">
                  <c:v>范围变更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1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0233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2F6BFF"/>
                </a:solidFill>
                <a:latin typeface="Microsoft YaHei"/>
              </a:rPr>
              <a:t>PMO CONSULTING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6400800" cy="7132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900" b="1">
                <a:solidFill>
                  <a:srgbClr val="1F2937"/>
                </a:solidFill>
                <a:latin typeface="Microsoft YaHei"/>
              </a:rPr>
              <a:t>AI 内容交付平台验证项目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38528"/>
            <a:ext cx="7498079" cy="40233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Microsoft YaHei"/>
              </a:rPr>
              <a:t>项目按计划进入真实用户验证，但商业证据仍需在 6 周内补齐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24528"/>
            <a:ext cx="5486400" cy="749808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462272"/>
            <a:ext cx="5138928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批准继续 6 周验证期，暂不进入规模化建设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188720"/>
            <a:ext cx="1755648" cy="868680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7" y="1389888"/>
            <a:ext cx="153619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1691640"/>
            <a:ext cx="1536192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0">
                <a:solidFill>
                  <a:srgbClr val="667085"/>
                </a:solidFill>
                <a:latin typeface="Microsoft YaHei"/>
              </a:rPr>
              <a:t>status and risks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00032" y="1188720"/>
            <a:ext cx="1755648" cy="868680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59" y="1389888"/>
            <a:ext cx="153619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59" y="1691640"/>
            <a:ext cx="1536192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0">
                <a:solidFill>
                  <a:srgbClr val="667085"/>
                </a:solidFill>
                <a:latin typeface="Microsoft YaHei"/>
              </a:rPr>
              <a:t>phase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606040"/>
            <a:ext cx="1755648" cy="868680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2807208"/>
            <a:ext cx="153619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3108960"/>
            <a:ext cx="1536192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0">
                <a:solidFill>
                  <a:srgbClr val="667085"/>
                </a:solidFill>
                <a:latin typeface="Microsoft YaHei"/>
              </a:rPr>
              <a:t>recommended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00032" y="2606040"/>
            <a:ext cx="1755648" cy="868680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59" y="2807208"/>
            <a:ext cx="153619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</a:rPr>
              <a:t>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59" y="3108960"/>
            <a:ext cx="1536192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0">
                <a:solidFill>
                  <a:srgbClr val="667085"/>
                </a:solidFill>
                <a:latin typeface="Microsoft YaHei"/>
              </a:rPr>
              <a:t>owners and 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272784"/>
            <a:ext cx="411480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Microsoft YaHei"/>
              </a:rPr>
              <a:t>MeowClawLab / 2026 Q3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4389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457200"/>
            <a:ext cx="109270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项目总体健康度：工程按计划推进，商业证据仍需补齐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0" y="6510528"/>
            <a:ext cx="248716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PMO CONSULTING PACK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896112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工程闭环已可运行；当前管理重点是用户成功率、付费意愿和范围控制。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8360" y="1170432"/>
            <a:ext cx="1554480" cy="329184"/>
          </a:xfrm>
          <a:prstGeom prst="round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12096" y="1261872"/>
            <a:ext cx="128016" cy="128016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31552" y="1234440"/>
            <a:ext cx="100584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0" b="1">
                <a:solidFill>
                  <a:srgbClr val="1F2937"/>
                </a:solidFill>
                <a:latin typeface="Microsoft YaHei"/>
              </a:rPr>
              <a:t>Overall: YELLOW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1947672"/>
            <a:ext cx="137160" cy="1371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1920240"/>
            <a:ext cx="1344168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F2937"/>
                </a:solidFill>
                <a:latin typeface="Microsoft YaHei"/>
              </a:rPr>
              <a:t>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258568"/>
            <a:ext cx="1545336" cy="6675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60" b="0">
                <a:solidFill>
                  <a:srgbClr val="2F3744"/>
                </a:solidFill>
                <a:latin typeface="Microsoft YaHei"/>
              </a:rPr>
              <a:t>88%
P0 工作流按计划推进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6352" y="178308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62656" y="1947672"/>
            <a:ext cx="137160" cy="137160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920240"/>
            <a:ext cx="1344168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F2937"/>
                </a:solidFill>
                <a:latin typeface="Microsoft YaHei"/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258568"/>
            <a:ext cx="1545336" cy="6675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60" b="0">
                <a:solidFill>
                  <a:srgbClr val="2F3744"/>
                </a:solidFill>
                <a:latin typeface="Microsoft YaHei"/>
              </a:rPr>
              <a:t>+6%
渲染与媒体成本需监控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4" y="178308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38928" y="1947672"/>
            <a:ext cx="137160" cy="1371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6672" y="1920240"/>
            <a:ext cx="1344168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F2937"/>
                </a:solidFill>
                <a:latin typeface="Microsoft YaHei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2258568"/>
            <a:ext cx="1545336" cy="6675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60" b="0">
                <a:solidFill>
                  <a:srgbClr val="2F3744"/>
                </a:solidFill>
                <a:latin typeface="Microsoft YaHei"/>
              </a:rPr>
              <a:t>Stable
暂不扩视频与团队协作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178308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947672"/>
            <a:ext cx="137160" cy="137160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1920240"/>
            <a:ext cx="1344168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F2937"/>
                </a:solidFill>
                <a:latin typeface="Microsoft YaHei"/>
              </a:rPr>
              <a:t>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5" y="2258568"/>
            <a:ext cx="1545336" cy="6675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60" b="0">
                <a:solidFill>
                  <a:srgbClr val="2F3744"/>
                </a:solidFill>
                <a:latin typeface="Microsoft YaHei"/>
              </a:rPr>
              <a:t>Med
市场验证尚未完成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45167" y="178308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1472" y="1947672"/>
            <a:ext cx="137160" cy="1371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9215" y="1920240"/>
            <a:ext cx="1344168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F2937"/>
                </a:solidFill>
                <a:latin typeface="Microsoft YaHei"/>
              </a:rP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7" y="2258568"/>
            <a:ext cx="1545336" cy="6675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60" b="0">
                <a:solidFill>
                  <a:srgbClr val="2F3744"/>
                </a:solidFill>
                <a:latin typeface="Microsoft YaHei"/>
              </a:rPr>
              <a:t>92%
PPTX QA 与回读通过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58368" y="3438144"/>
          <a:ext cx="6473952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13232"/>
                <a:gridCol w="749808"/>
                <a:gridCol w="2788920"/>
                <a:gridCol w="713232"/>
              </a:tblGrid>
              <a:tr h="498348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Risk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Impact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Owner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Mitigation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Status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真实用户留存不足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每周 2 次真实任务回访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yellow</a:t>
                      </a:r>
                    </a:p>
                  </a:txBody>
                  <a:tcPr>
                    <a:solidFill>
                      <a:srgbClr val="F2C94C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范围扩张过快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High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Product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变更进入 Go/No-Go 会议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red</a:t>
                      </a:r>
                    </a:p>
                  </a:txBody>
                  <a:tcPr>
                    <a:solidFill>
                      <a:srgbClr val="D92D20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外部发布接口失败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保留人工交接与回执日志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yellow</a:t>
                      </a:r>
                    </a:p>
                  </a:txBody>
                  <a:tcPr>
                    <a:solidFill>
                      <a:srgbClr val="F2C94C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7699248" y="3438144"/>
            <a:ext cx="3566160" cy="1993392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36992" y="3657600"/>
            <a:ext cx="292608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Microsoft YaHei"/>
              </a:rPr>
              <a:t>Next actions</a:t>
            </a:r>
          </a:p>
        </p:txBody>
      </p:sp>
      <p:sp>
        <p:nvSpPr>
          <p:cNvPr id="33" name="Oval 32"/>
          <p:cNvSpPr/>
          <p:nvPr/>
        </p:nvSpPr>
        <p:spPr>
          <a:xfrm>
            <a:off x="7973568" y="4059935"/>
            <a:ext cx="100584" cy="100584"/>
          </a:xfrm>
          <a:prstGeom prst="ellipse">
            <a:avLst/>
          </a:prstGeom>
          <a:solidFill>
            <a:srgbClr val="98A2B3"/>
          </a:solidFill>
          <a:ln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6448" y="4041648"/>
            <a:ext cx="281635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30" b="0">
                <a:solidFill>
                  <a:srgbClr val="2F3744"/>
                </a:solidFill>
                <a:latin typeface="Microsoft YaHei"/>
              </a:rPr>
              <a:t>锁定 10 位种子用户名单</a:t>
            </a:r>
          </a:p>
        </p:txBody>
      </p:sp>
      <p:sp>
        <p:nvSpPr>
          <p:cNvPr id="35" name="Oval 34"/>
          <p:cNvSpPr/>
          <p:nvPr/>
        </p:nvSpPr>
        <p:spPr>
          <a:xfrm>
            <a:off x="7973568" y="4370831"/>
            <a:ext cx="100584" cy="100584"/>
          </a:xfrm>
          <a:prstGeom prst="ellipse">
            <a:avLst/>
          </a:prstGeom>
          <a:solidFill>
            <a:srgbClr val="98A2B3"/>
          </a:solidFill>
          <a:ln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8" y="4352544"/>
            <a:ext cx="281635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30" b="0">
                <a:solidFill>
                  <a:srgbClr val="2F3744"/>
                </a:solidFill>
                <a:latin typeface="Microsoft YaHei"/>
              </a:rPr>
              <a:t>建立每周真实交付回执表</a:t>
            </a:r>
          </a:p>
        </p:txBody>
      </p:sp>
      <p:sp>
        <p:nvSpPr>
          <p:cNvPr id="37" name="Oval 36"/>
          <p:cNvSpPr/>
          <p:nvPr/>
        </p:nvSpPr>
        <p:spPr>
          <a:xfrm>
            <a:off x="7973568" y="4681727"/>
            <a:ext cx="100584" cy="100584"/>
          </a:xfrm>
          <a:prstGeom prst="ellipse">
            <a:avLst/>
          </a:prstGeom>
          <a:solidFill>
            <a:srgbClr val="98A2B3"/>
          </a:solidFill>
          <a:ln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663440"/>
            <a:ext cx="281635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30" b="0">
                <a:solidFill>
                  <a:srgbClr val="2F3744"/>
                </a:solidFill>
                <a:latin typeface="Microsoft YaHei"/>
              </a:rPr>
              <a:t>完成付费意愿访谈脚本</a:t>
            </a:r>
          </a:p>
        </p:txBody>
      </p:sp>
      <p:sp>
        <p:nvSpPr>
          <p:cNvPr id="39" name="Oval 38"/>
          <p:cNvSpPr/>
          <p:nvPr/>
        </p:nvSpPr>
        <p:spPr>
          <a:xfrm>
            <a:off x="7973568" y="4992623"/>
            <a:ext cx="100584" cy="100584"/>
          </a:xfrm>
          <a:prstGeom prst="ellipse">
            <a:avLst/>
          </a:prstGeom>
          <a:solidFill>
            <a:srgbClr val="98A2B3"/>
          </a:solidFill>
          <a:ln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4974336"/>
            <a:ext cx="281635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30" b="0">
                <a:solidFill>
                  <a:srgbClr val="2F3744"/>
                </a:solidFill>
                <a:latin typeface="Microsoft YaHei"/>
              </a:rPr>
              <a:t>冻结 P0 以外功能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4389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PROJECT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457200"/>
            <a:ext cx="109270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路线图不是甘特图：用阶段、目标和门禁表达管理节奏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0" y="6510528"/>
            <a:ext cx="248716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PMO CONSULTING PACK /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74519"/>
            <a:ext cx="202631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2057400"/>
            <a:ext cx="118872" cy="118872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029967"/>
            <a:ext cx="156911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Microsoft YaHei"/>
              </a:rP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04872"/>
            <a:ext cx="1733702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990087"/>
            <a:ext cx="170627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19" b="0">
                <a:solidFill>
                  <a:srgbClr val="2F3744"/>
                </a:solidFill>
                <a:latin typeface="Microsoft YaHei"/>
              </a:rPr>
              <a:t>确认目标用户与核心场景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39542" y="2880360"/>
            <a:ext cx="16459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904134" y="1874519"/>
            <a:ext cx="202631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50438" y="2057400"/>
            <a:ext cx="118872" cy="118872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1606" y="2029967"/>
            <a:ext cx="156911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Microsoft YaHei"/>
              </a:rPr>
              <a:t>W2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0438" y="2404872"/>
            <a:ext cx="1733702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8726" y="2990087"/>
            <a:ext cx="170627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19" b="0">
                <a:solidFill>
                  <a:srgbClr val="2F3744"/>
                </a:solidFill>
                <a:latin typeface="Microsoft YaHei"/>
              </a:rPr>
              <a:t>冻结 PMO 工作流与验证指标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0444" y="2880360"/>
            <a:ext cx="16459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95036" y="1874519"/>
            <a:ext cx="202631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41340" y="2057400"/>
            <a:ext cx="118872" cy="118872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2508" y="2029967"/>
            <a:ext cx="156911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Microsoft YaHei"/>
              </a:rPr>
              <a:t>W3-W4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2404872"/>
            <a:ext cx="1733702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9628" y="2990087"/>
            <a:ext cx="170627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19" b="0">
                <a:solidFill>
                  <a:srgbClr val="2F3744"/>
                </a:solidFill>
                <a:latin typeface="Microsoft YaHei"/>
              </a:rPr>
              <a:t>完成可编辑交付链路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21347" y="2880360"/>
            <a:ext cx="16459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285939" y="1874519"/>
            <a:ext cx="202631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32243" y="2057400"/>
            <a:ext cx="118872" cy="118872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3411" y="2029967"/>
            <a:ext cx="156911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Microsoft YaHei"/>
              </a:rPr>
              <a:t>W5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2243" y="2404872"/>
            <a:ext cx="1733702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2990087"/>
            <a:ext cx="170627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19" b="0">
                <a:solidFill>
                  <a:srgbClr val="2F3744"/>
                </a:solidFill>
                <a:latin typeface="Microsoft YaHei"/>
              </a:rPr>
              <a:t>5 位用户完成真实任务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2249" y="2880360"/>
            <a:ext cx="16459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476841" y="1874519"/>
            <a:ext cx="202631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23145" y="2057400"/>
            <a:ext cx="118872" cy="118872"/>
          </a:xfrm>
          <a:prstGeom prst="ellipse">
            <a:avLst/>
          </a:prstGeom>
          <a:solidFill>
            <a:srgbClr val="98A2B3"/>
          </a:solidFill>
          <a:ln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4313" y="2029967"/>
            <a:ext cx="156911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Microsoft YaHei"/>
              </a:rPr>
              <a:t>W6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3145" y="2404872"/>
            <a:ext cx="1733702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Scale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1433" y="2990087"/>
            <a:ext cx="170627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19" b="0">
                <a:solidFill>
                  <a:srgbClr val="2F3744"/>
                </a:solidFill>
                <a:latin typeface="Microsoft YaHei"/>
              </a:rPr>
              <a:t>依据 3+1 付费门槛做决策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4846320"/>
            <a:ext cx="9966960" cy="658368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25296" y="5065776"/>
            <a:ext cx="952804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Management rule: every phase ends with a decision gate, not a feature-complete declaration.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4389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457200"/>
            <a:ext cx="109270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里程碑页把时间点、证据和状态压到一条水平轴上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0" y="6510528"/>
            <a:ext cx="248716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PMO CONSULTING PACK / 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880360"/>
            <a:ext cx="10104120" cy="0"/>
          </a:xfrm>
          <a:prstGeom prst="line">
            <a:avLst/>
          </a:prstGeom>
          <a:ln w="1905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95528" y="2807208"/>
            <a:ext cx="146304" cy="146304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" y="2148840"/>
            <a:ext cx="8229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1">
                <a:solidFill>
                  <a:srgbClr val="667085"/>
                </a:solidFill>
                <a:latin typeface="Microsoft YaHei"/>
              </a:rPr>
              <a:t>07/23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7" y="2432304"/>
            <a:ext cx="1243584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"/>
              </a:rPr>
              <a:t>PMO Pack v0.1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1" y="3218688"/>
            <a:ext cx="1316736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0">
                <a:solidFill>
                  <a:srgbClr val="2F3744"/>
                </a:solidFill>
                <a:latin typeface="Microsoft YaHei"/>
              </a:rPr>
              <a:t>10 类页面可生成</a:t>
            </a:r>
          </a:p>
        </p:txBody>
      </p:sp>
      <p:sp>
        <p:nvSpPr>
          <p:cNvPr id="11" name="Oval 10"/>
          <p:cNvSpPr/>
          <p:nvPr/>
        </p:nvSpPr>
        <p:spPr>
          <a:xfrm>
            <a:off x="3241548" y="2807208"/>
            <a:ext cx="146304" cy="146304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3220" y="2148840"/>
            <a:ext cx="8229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1">
                <a:solidFill>
                  <a:srgbClr val="667085"/>
                </a:solidFill>
                <a:latin typeface="Microsoft YaHei"/>
              </a:rPr>
              <a:t>07/30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2908" y="2432304"/>
            <a:ext cx="1243584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"/>
              </a:rPr>
              <a:t>Seed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6332" y="3218688"/>
            <a:ext cx="1316736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0">
                <a:solidFill>
                  <a:srgbClr val="2F3744"/>
                </a:solidFill>
                <a:latin typeface="Microsoft YaHei"/>
              </a:rPr>
              <a:t>首批用户名单与任务池</a:t>
            </a:r>
          </a:p>
        </p:txBody>
      </p:sp>
      <p:sp>
        <p:nvSpPr>
          <p:cNvPr id="15" name="Oval 14"/>
          <p:cNvSpPr/>
          <p:nvPr/>
        </p:nvSpPr>
        <p:spPr>
          <a:xfrm>
            <a:off x="5687568" y="2807208"/>
            <a:ext cx="146304" cy="146304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148840"/>
            <a:ext cx="8229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1">
                <a:solidFill>
                  <a:srgbClr val="667085"/>
                </a:solidFill>
                <a:latin typeface="Microsoft YaHei"/>
              </a:rPr>
              <a:t>08/06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432304"/>
            <a:ext cx="1243584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"/>
              </a:rPr>
              <a:t>Workflow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3218688"/>
            <a:ext cx="1316736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0">
                <a:solidFill>
                  <a:srgbClr val="2F3744"/>
                </a:solidFill>
                <a:latin typeface="Microsoft YaHei"/>
              </a:rPr>
              <a:t>真实回执与失败样本</a:t>
            </a:r>
          </a:p>
        </p:txBody>
      </p:sp>
      <p:sp>
        <p:nvSpPr>
          <p:cNvPr id="19" name="Oval 18"/>
          <p:cNvSpPr/>
          <p:nvPr/>
        </p:nvSpPr>
        <p:spPr>
          <a:xfrm>
            <a:off x="8133587" y="2807208"/>
            <a:ext cx="146304" cy="146304"/>
          </a:xfrm>
          <a:prstGeom prst="ellipse">
            <a:avLst/>
          </a:prstGeom>
          <a:solidFill>
            <a:srgbClr val="98A2B3"/>
          </a:solidFill>
          <a:ln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5259" y="2148840"/>
            <a:ext cx="8229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1">
                <a:solidFill>
                  <a:srgbClr val="667085"/>
                </a:solidFill>
                <a:latin typeface="Microsoft YaHei"/>
              </a:rPr>
              <a:t>08/13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4947" y="2432304"/>
            <a:ext cx="1243584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"/>
              </a:rPr>
              <a:t>Payment Interview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8371" y="3218688"/>
            <a:ext cx="1316736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0">
                <a:solidFill>
                  <a:srgbClr val="2F3744"/>
                </a:solidFill>
                <a:latin typeface="Microsoft YaHei"/>
              </a:rPr>
              <a:t>付费意愿访谈</a:t>
            </a:r>
          </a:p>
        </p:txBody>
      </p:sp>
      <p:sp>
        <p:nvSpPr>
          <p:cNvPr id="23" name="Oval 22"/>
          <p:cNvSpPr/>
          <p:nvPr/>
        </p:nvSpPr>
        <p:spPr>
          <a:xfrm>
            <a:off x="10579607" y="2807208"/>
            <a:ext cx="146304" cy="146304"/>
          </a:xfrm>
          <a:prstGeom prst="ellipse">
            <a:avLst/>
          </a:prstGeom>
          <a:solidFill>
            <a:srgbClr val="98A2B3"/>
          </a:solidFill>
          <a:ln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2148840"/>
            <a:ext cx="8229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1">
                <a:solidFill>
                  <a:srgbClr val="667085"/>
                </a:solidFill>
                <a:latin typeface="Microsoft YaHei"/>
              </a:rPr>
              <a:t>08/20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7" y="2432304"/>
            <a:ext cx="1243584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"/>
              </a:rPr>
              <a:t>Go / No-Go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1" y="3218688"/>
            <a:ext cx="1316736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0">
                <a:solidFill>
                  <a:srgbClr val="2F3744"/>
                </a:solidFill>
                <a:latin typeface="Microsoft YaHei"/>
              </a:rPr>
              <a:t>3+1 门槛判断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4800600"/>
            <a:ext cx="9464040" cy="713232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53312" y="5038344"/>
            <a:ext cx="90525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</a:rPr>
              <a:t>Milestone discipline: dates are only useful when paired with evidence, owner, and decision consequence.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4389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RAID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457200"/>
            <a:ext cx="109270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RAID 页优先做成可查表格，避免把风险画成装饰图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0" y="6510528"/>
            <a:ext cx="248716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PMO CONSULTING PACK / 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9921240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2331720"/>
                <a:gridCol w="822960"/>
                <a:gridCol w="914400"/>
                <a:gridCol w="4069080"/>
                <a:gridCol w="822960"/>
              </a:tblGrid>
              <a:tr h="782726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Type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Item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Impact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Owner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Mitigation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Status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782726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P0 价值不够高频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只统计真实交付回执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yellow</a:t>
                      </a:r>
                    </a:p>
                  </a:txBody>
                  <a:tcPr>
                    <a:solidFill>
                      <a:srgbClr val="F2C94C"/>
                    </a:solidFill>
                  </a:tcPr>
                </a:tc>
              </a:tr>
              <a:tr h="782726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Assumption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AI 重度创作者愿为稳定交付付费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High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Growth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第 4 周完成定价访谈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gray</a:t>
                      </a:r>
                    </a:p>
                  </a:txBody>
                  <a:tcPr>
                    <a:solidFill>
                      <a:srgbClr val="98A2B3"/>
                    </a:solidFill>
                  </a:tcPr>
                </a:tc>
              </a:tr>
              <a:tr h="782726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Issue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外部接口授权会中断自动化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建立人工接管 SOP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yellow</a:t>
                      </a:r>
                    </a:p>
                  </a:txBody>
                  <a:tcPr>
                    <a:solidFill>
                      <a:srgbClr val="F2C94C"/>
                    </a:solidFill>
                  </a:tcPr>
                </a:tc>
              </a:tr>
              <a:tr h="78272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Dependency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公众号草稿接口稳定性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Medium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Ops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用本地稿件与回执兜底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green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577840"/>
            <a:ext cx="201168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F2937"/>
                </a:solidFill>
                <a:latin typeface="Microsoft YaHei"/>
              </a:rPr>
              <a:t>RAID governance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5577840"/>
            <a:ext cx="8183879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Microsoft YaHei"/>
              </a:rPr>
              <a:t>Each row must have a type, owner, mitigation path, and current status. Empty owner or mitigation fields fail PMO QA.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4389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457200"/>
            <a:ext cx="109270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工作流页用泳道表达责任边界，而不是堆任务清单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0" y="6510528"/>
            <a:ext cx="248716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PMO CONSULTING PACK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920240" cy="822960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81912"/>
            <a:ext cx="1417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41732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80" b="0">
                <a:solidFill>
                  <a:srgbClr val="FFFFFF"/>
                </a:solidFill>
                <a:latin typeface="Microsoft YaHei"/>
              </a:rPr>
              <a:t>Owner: PM</a:t>
            </a:r>
          </a:p>
        </p:txBody>
      </p:sp>
      <p:sp>
        <p:nvSpPr>
          <p:cNvPr id="9" name="Oval 8"/>
          <p:cNvSpPr/>
          <p:nvPr/>
        </p:nvSpPr>
        <p:spPr>
          <a:xfrm>
            <a:off x="2267712" y="1719072"/>
            <a:ext cx="128016" cy="128016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490472"/>
            <a:ext cx="1737360" cy="566928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664208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30" b="0">
                <a:solidFill>
                  <a:srgbClr val="2F3744"/>
                </a:solidFill>
                <a:latin typeface="Microsoft YaHei"/>
              </a:rPr>
              <a:t>用户脚本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17720" y="1773936"/>
            <a:ext cx="365759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983479" y="1490472"/>
            <a:ext cx="1737360" cy="566928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19" y="1664208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30" b="0">
                <a:solidFill>
                  <a:srgbClr val="2F3744"/>
                </a:solidFill>
                <a:latin typeface="Microsoft YaHei"/>
              </a:rPr>
              <a:t>Go/No-Go 指标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20840" y="1773936"/>
            <a:ext cx="365759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086600" y="1490472"/>
            <a:ext cx="1737360" cy="566928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664208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30" b="0">
                <a:solidFill>
                  <a:srgbClr val="2F3744"/>
                </a:solidFill>
                <a:latin typeface="Microsoft YaHei"/>
              </a:rPr>
              <a:t>回访记录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41448"/>
            <a:ext cx="1920240" cy="822960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606040"/>
            <a:ext cx="1417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98648"/>
            <a:ext cx="141732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80" b="0">
                <a:solidFill>
                  <a:srgbClr val="FFFFFF"/>
                </a:solidFill>
                <a:latin typeface="Microsoft YaHei"/>
              </a:rPr>
              <a:t>Owner: Engineer</a:t>
            </a:r>
          </a:p>
        </p:txBody>
      </p:sp>
      <p:sp>
        <p:nvSpPr>
          <p:cNvPr id="21" name="Oval 20"/>
          <p:cNvSpPr/>
          <p:nvPr/>
        </p:nvSpPr>
        <p:spPr>
          <a:xfrm>
            <a:off x="2267712" y="2743200"/>
            <a:ext cx="128016" cy="128016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80360" y="2514600"/>
            <a:ext cx="1737360" cy="566928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688336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30" b="0">
                <a:solidFill>
                  <a:srgbClr val="2F3744"/>
                </a:solidFill>
                <a:latin typeface="Microsoft YaHei"/>
              </a:rPr>
              <a:t>PPTX renderer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17720" y="2798064"/>
            <a:ext cx="365759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983479" y="2514600"/>
            <a:ext cx="1737360" cy="566928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19" y="2688336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30" b="0">
                <a:solidFill>
                  <a:srgbClr val="2F3744"/>
                </a:solidFill>
                <a:latin typeface="Microsoft YaHei"/>
              </a:rPr>
              <a:t>QA 脚本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20840" y="2798064"/>
            <a:ext cx="365759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086600" y="2514600"/>
            <a:ext cx="1737360" cy="566928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2688336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30" b="0">
                <a:solidFill>
                  <a:srgbClr val="2F3744"/>
                </a:solidFill>
                <a:latin typeface="Microsoft YaHei"/>
              </a:rPr>
              <a:t>错误回放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465576"/>
            <a:ext cx="1920240" cy="822960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630168"/>
            <a:ext cx="1417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922776"/>
            <a:ext cx="141732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80" b="0">
                <a:solidFill>
                  <a:srgbClr val="FFFFFF"/>
                </a:solidFill>
                <a:latin typeface="Microsoft YaHei"/>
              </a:rPr>
              <a:t>Owner: Design</a:t>
            </a:r>
          </a:p>
        </p:txBody>
      </p:sp>
      <p:sp>
        <p:nvSpPr>
          <p:cNvPr id="33" name="Oval 32"/>
          <p:cNvSpPr/>
          <p:nvPr/>
        </p:nvSpPr>
        <p:spPr>
          <a:xfrm>
            <a:off x="2267712" y="3767328"/>
            <a:ext cx="128016" cy="128016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80360" y="3538728"/>
            <a:ext cx="1737360" cy="566928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71800" y="3712464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30" b="0">
                <a:solidFill>
                  <a:srgbClr val="2F3744"/>
                </a:solidFill>
                <a:latin typeface="Microsoft YaHei"/>
              </a:rPr>
              <a:t>PMO 页面母版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617720" y="3822191"/>
            <a:ext cx="365759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983479" y="3538728"/>
            <a:ext cx="1737360" cy="566928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19" y="3712464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30" b="0">
                <a:solidFill>
                  <a:srgbClr val="2F3744"/>
                </a:solidFill>
                <a:latin typeface="Microsoft YaHei"/>
              </a:rPr>
              <a:t>状态色规则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20840" y="3822191"/>
            <a:ext cx="365759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086600" y="3538728"/>
            <a:ext cx="1737360" cy="566928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3712464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30" b="0">
                <a:solidFill>
                  <a:srgbClr val="2F3744"/>
                </a:solidFill>
                <a:latin typeface="Microsoft YaHei"/>
              </a:rPr>
              <a:t>咨询风图表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89704"/>
            <a:ext cx="1920240" cy="822960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654296"/>
            <a:ext cx="1417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946904"/>
            <a:ext cx="141732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80" b="0">
                <a:solidFill>
                  <a:srgbClr val="FFFFFF"/>
                </a:solidFill>
                <a:latin typeface="Microsoft YaHei"/>
              </a:rPr>
              <a:t>Owner: Ops</a:t>
            </a:r>
          </a:p>
        </p:txBody>
      </p:sp>
      <p:sp>
        <p:nvSpPr>
          <p:cNvPr id="45" name="Oval 44"/>
          <p:cNvSpPr/>
          <p:nvPr/>
        </p:nvSpPr>
        <p:spPr>
          <a:xfrm>
            <a:off x="2267712" y="4791456"/>
            <a:ext cx="128016" cy="128016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80360" y="4562856"/>
            <a:ext cx="1737360" cy="566928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4736592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30" b="0">
                <a:solidFill>
                  <a:srgbClr val="2F3744"/>
                </a:solidFill>
                <a:latin typeface="Microsoft YaHei"/>
              </a:rPr>
              <a:t>用户名单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617720" y="4846320"/>
            <a:ext cx="365759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983479" y="4562856"/>
            <a:ext cx="1737360" cy="566928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4919" y="4736592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30" b="0">
                <a:solidFill>
                  <a:srgbClr val="2F3744"/>
                </a:solidFill>
                <a:latin typeface="Microsoft YaHei"/>
              </a:rPr>
              <a:t>任务排期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20840" y="4846320"/>
            <a:ext cx="365759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7086600" y="4562856"/>
            <a:ext cx="1737360" cy="566928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4736592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30" b="0">
                <a:solidFill>
                  <a:srgbClr val="2F3744"/>
                </a:solidFill>
                <a:latin typeface="Microsoft YaHei"/>
              </a:rPr>
              <a:t>交付回执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4389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RACI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457200"/>
            <a:ext cx="109270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RACI 是精确查阅页：角色和责任必须保持表格可编辑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0" y="6510528"/>
            <a:ext cx="248716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PMO CONSULTING PACK / 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417320"/>
          <a:ext cx="87325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43000"/>
                <a:gridCol w="1143000"/>
                <a:gridCol w="1143000"/>
                <a:gridCol w="1143000"/>
                <a:gridCol w="1143000"/>
              </a:tblGrid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Task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PM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Eng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Design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Ops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Sponsor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Define pilot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Build editable deck pack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Recruit seed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Run weekly review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Go / No-Go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5806440"/>
            <a:ext cx="292608" cy="237744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61304"/>
            <a:ext cx="292608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5833872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0" b="0">
                <a:solidFill>
                  <a:srgbClr val="667085"/>
                </a:solidFill>
                <a:latin typeface="Microsoft YaHei"/>
              </a:rPr>
              <a:t>Responsible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5806440"/>
            <a:ext cx="292608" cy="237744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5861304"/>
            <a:ext cx="292608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5833872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0" b="0">
                <a:solidFill>
                  <a:srgbClr val="667085"/>
                </a:solidFill>
                <a:latin typeface="Microsoft YaHei"/>
              </a:rPr>
              <a:t>Accountable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5806440"/>
            <a:ext cx="292608" cy="237744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5861304"/>
            <a:ext cx="292608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5833872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0" b="0">
                <a:solidFill>
                  <a:srgbClr val="667085"/>
                </a:solidFill>
                <a:latin typeface="Microsoft YaHei"/>
              </a:rPr>
              <a:t>Consulted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59" y="5806440"/>
            <a:ext cx="292608" cy="237744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59" y="5861304"/>
            <a:ext cx="292608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5833872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0" b="0">
                <a:solidFill>
                  <a:srgbClr val="667085"/>
                </a:solidFill>
                <a:latin typeface="Microsoft YaHei"/>
              </a:rPr>
              <a:t>Informed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4389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RISK HEAT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457200"/>
            <a:ext cx="109270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风险热力图是坐标页：影响和可能性必须能被复核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0" y="6510528"/>
            <a:ext cx="248716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PMO CONSULTING PACK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463040"/>
            <a:ext cx="658368" cy="658368"/>
          </a:xfrm>
          <a:prstGeom prst="rect">
            <a:avLst/>
          </a:prstGeom>
          <a:solidFill>
            <a:srgbClr val="2E7D3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92808" y="1463040"/>
            <a:ext cx="658368" cy="658368"/>
          </a:xfrm>
          <a:prstGeom prst="rect">
            <a:avLst/>
          </a:prstGeom>
          <a:solidFill>
            <a:srgbClr val="F2C94C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1176" y="1463040"/>
            <a:ext cx="658368" cy="658368"/>
          </a:xfrm>
          <a:prstGeom prst="rect">
            <a:avLst/>
          </a:prstGeom>
          <a:solidFill>
            <a:srgbClr val="D92D20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9544" y="1463040"/>
            <a:ext cx="658368" cy="658368"/>
          </a:xfrm>
          <a:prstGeom prst="rect">
            <a:avLst/>
          </a:prstGeom>
          <a:solidFill>
            <a:srgbClr val="D92D20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67912" y="1463040"/>
            <a:ext cx="658368" cy="658368"/>
          </a:xfrm>
          <a:prstGeom prst="rect">
            <a:avLst/>
          </a:prstGeom>
          <a:solidFill>
            <a:srgbClr val="D92D20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2121408"/>
            <a:ext cx="658368" cy="658368"/>
          </a:xfrm>
          <a:prstGeom prst="rect">
            <a:avLst/>
          </a:prstGeom>
          <a:solidFill>
            <a:srgbClr val="2E7D3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92808" y="2121408"/>
            <a:ext cx="658368" cy="658368"/>
          </a:xfrm>
          <a:prstGeom prst="rect">
            <a:avLst/>
          </a:prstGeom>
          <a:solidFill>
            <a:srgbClr val="F2C94C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1176" y="2121408"/>
            <a:ext cx="658368" cy="658368"/>
          </a:xfrm>
          <a:prstGeom prst="rect">
            <a:avLst/>
          </a:prstGeom>
          <a:solidFill>
            <a:srgbClr val="F2C94C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9544" y="2121408"/>
            <a:ext cx="658368" cy="658368"/>
          </a:xfrm>
          <a:prstGeom prst="rect">
            <a:avLst/>
          </a:prstGeom>
          <a:solidFill>
            <a:srgbClr val="D92D20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67912" y="2121408"/>
            <a:ext cx="658368" cy="658368"/>
          </a:xfrm>
          <a:prstGeom prst="rect">
            <a:avLst/>
          </a:prstGeom>
          <a:solidFill>
            <a:srgbClr val="D92D20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34440" y="2779776"/>
            <a:ext cx="658368" cy="658368"/>
          </a:xfrm>
          <a:prstGeom prst="rect">
            <a:avLst/>
          </a:prstGeom>
          <a:solidFill>
            <a:srgbClr val="2E7D3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92808" y="2779776"/>
            <a:ext cx="658368" cy="658368"/>
          </a:xfrm>
          <a:prstGeom prst="rect">
            <a:avLst/>
          </a:prstGeom>
          <a:solidFill>
            <a:srgbClr val="2E7D3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51176" y="2779776"/>
            <a:ext cx="658368" cy="658368"/>
          </a:xfrm>
          <a:prstGeom prst="rect">
            <a:avLst/>
          </a:prstGeom>
          <a:solidFill>
            <a:srgbClr val="F2C94C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9544" y="2779776"/>
            <a:ext cx="658368" cy="658368"/>
          </a:xfrm>
          <a:prstGeom prst="rect">
            <a:avLst/>
          </a:prstGeom>
          <a:solidFill>
            <a:srgbClr val="F2C94C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67912" y="2779776"/>
            <a:ext cx="658368" cy="658368"/>
          </a:xfrm>
          <a:prstGeom prst="rect">
            <a:avLst/>
          </a:prstGeom>
          <a:solidFill>
            <a:srgbClr val="D92D20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34440" y="3438144"/>
            <a:ext cx="658368" cy="658368"/>
          </a:xfrm>
          <a:prstGeom prst="rect">
            <a:avLst/>
          </a:prstGeom>
          <a:solidFill>
            <a:srgbClr val="2E7D3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92808" y="3438144"/>
            <a:ext cx="658368" cy="658368"/>
          </a:xfrm>
          <a:prstGeom prst="rect">
            <a:avLst/>
          </a:prstGeom>
          <a:solidFill>
            <a:srgbClr val="2E7D3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51176" y="3438144"/>
            <a:ext cx="658368" cy="658368"/>
          </a:xfrm>
          <a:prstGeom prst="rect">
            <a:avLst/>
          </a:prstGeom>
          <a:solidFill>
            <a:srgbClr val="2E7D3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9544" y="3438144"/>
            <a:ext cx="658368" cy="658368"/>
          </a:xfrm>
          <a:prstGeom prst="rect">
            <a:avLst/>
          </a:prstGeom>
          <a:solidFill>
            <a:srgbClr val="F2C94C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67912" y="3438144"/>
            <a:ext cx="658368" cy="658368"/>
          </a:xfrm>
          <a:prstGeom prst="rect">
            <a:avLst/>
          </a:prstGeom>
          <a:solidFill>
            <a:srgbClr val="F2C94C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4440" y="4096512"/>
            <a:ext cx="658368" cy="658368"/>
          </a:xfrm>
          <a:prstGeom prst="rect">
            <a:avLst/>
          </a:prstGeom>
          <a:solidFill>
            <a:srgbClr val="2E7D3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92808" y="4096512"/>
            <a:ext cx="658368" cy="658368"/>
          </a:xfrm>
          <a:prstGeom prst="rect">
            <a:avLst/>
          </a:prstGeom>
          <a:solidFill>
            <a:srgbClr val="2E7D3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51176" y="4096512"/>
            <a:ext cx="658368" cy="658368"/>
          </a:xfrm>
          <a:prstGeom prst="rect">
            <a:avLst/>
          </a:prstGeom>
          <a:solidFill>
            <a:srgbClr val="2E7D3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9544" y="4096512"/>
            <a:ext cx="658368" cy="658368"/>
          </a:xfrm>
          <a:prstGeom prst="rect">
            <a:avLst/>
          </a:prstGeom>
          <a:solidFill>
            <a:srgbClr val="2E7D3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67912" y="4096512"/>
            <a:ext cx="658368" cy="658368"/>
          </a:xfrm>
          <a:prstGeom prst="rect">
            <a:avLst/>
          </a:prstGeom>
          <a:solidFill>
            <a:srgbClr val="2E7D3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651760"/>
            <a:ext cx="4572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Microsoft YaHei"/>
              </a:rPr>
              <a:t>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919472"/>
            <a:ext cx="12801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Microsoft YaHei"/>
              </a:rPr>
              <a:t>Likelihood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74136" y="1627632"/>
            <a:ext cx="329184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1719072"/>
            <a:ext cx="329184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Microsoft YaHei"/>
              </a:rPr>
              <a:t>R1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15768" y="1627632"/>
            <a:ext cx="329184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5768" y="1719072"/>
            <a:ext cx="329184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Microsoft YaHei"/>
              </a:rPr>
              <a:t>R2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15768" y="2944368"/>
            <a:ext cx="329184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15768" y="3035808"/>
            <a:ext cx="329184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Microsoft YaHei"/>
              </a:rPr>
              <a:t>R3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57400" y="2944368"/>
            <a:ext cx="329184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3035808"/>
            <a:ext cx="329184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Microsoft YaHei"/>
              </a:rPr>
              <a:t>R4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74136" y="1627632"/>
            <a:ext cx="329184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74136" y="1719072"/>
            <a:ext cx="329184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Microsoft YaHei"/>
              </a:rPr>
              <a:t>R5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4983480" y="1481328"/>
          <a:ext cx="49377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651760"/>
                <a:gridCol w="960120"/>
                <a:gridCol w="411480"/>
                <a:gridCol w="411480"/>
              </a:tblGrid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ID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Risk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Owner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低频使用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范围失控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PM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接口失败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Eng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成本超标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Ops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付费意愿弱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5029200" y="5321808"/>
            <a:ext cx="53035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PMO QA: all risk coordinates must be 1-5 and every point must have an owner.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4389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DECISION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457200"/>
            <a:ext cx="109270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决策页必须给出选项、权衡和推荐，而不是只列利弊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0" y="6510528"/>
            <a:ext cx="248716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PMO CONSULTING PACK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960120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Microsoft YaHei"/>
              </a:rPr>
              <a:t>是否批准进入 6 周 PMO 专业包验证？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47088"/>
            <a:ext cx="3246120" cy="269748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11680"/>
            <a:ext cx="224028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Microsoft YaHei"/>
              </a:rPr>
              <a:t>A. 停止投入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029968"/>
            <a:ext cx="6400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50" b="1">
                <a:solidFill>
                  <a:srgbClr val="2F6BFF"/>
                </a:solidFill>
                <a:latin typeface="Microsoft YaHei"/>
              </a:rPr>
              <a:t>Score 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48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Microsoft YaHei"/>
              </a:rPr>
              <a:t>Pros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24912"/>
            <a:ext cx="278892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0" b="0">
                <a:solidFill>
                  <a:srgbClr val="2F3744"/>
                </a:solidFill>
                <a:latin typeface="Microsoft YaHei"/>
              </a:rPr>
              <a:t>- 节省短期资源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56432"/>
            <a:ext cx="548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D92D20"/>
                </a:solidFill>
                <a:latin typeface="Microsoft YaHei"/>
              </a:rPr>
              <a:t>Cons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694176"/>
            <a:ext cx="278892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0" b="0">
                <a:solidFill>
                  <a:srgbClr val="2F3744"/>
                </a:solidFill>
                <a:latin typeface="Microsoft YaHei"/>
              </a:rPr>
              <a:t>- 错失付费生产包窗口
- 无法验证真实客户需求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1847088"/>
            <a:ext cx="3246120" cy="269748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2011680"/>
            <a:ext cx="224028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Microsoft YaHei"/>
              </a:rPr>
              <a:t>B. 有条件验证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29968"/>
            <a:ext cx="6400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50" b="1">
                <a:solidFill>
                  <a:srgbClr val="2F6BFF"/>
                </a:solidFill>
                <a:latin typeface="Microsoft YaHei"/>
              </a:rPr>
              <a:t>Score 5/5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487168"/>
            <a:ext cx="548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Microsoft YaHei"/>
              </a:rPr>
              <a:t>Pros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724912"/>
            <a:ext cx="278892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0" b="0">
                <a:solidFill>
                  <a:srgbClr val="2F3744"/>
                </a:solidFill>
                <a:latin typeface="Microsoft YaHei"/>
              </a:rPr>
              <a:t>- 控制范围
- 获得真实数据
- 保留商业化机会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456432"/>
            <a:ext cx="548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D92D20"/>
                </a:solidFill>
                <a:latin typeface="Microsoft YaHei"/>
              </a:rPr>
              <a:t>Cons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694176"/>
            <a:ext cx="278892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0" b="0">
                <a:solidFill>
                  <a:srgbClr val="2F3744"/>
                </a:solidFill>
                <a:latin typeface="Microsoft YaHei"/>
              </a:rPr>
              <a:t>- 需要每周复盘
- 短期仍有交付成本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1" y="1847088"/>
            <a:ext cx="3246120" cy="269748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3" y="2011680"/>
            <a:ext cx="224028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Microsoft YaHei"/>
              </a:rPr>
              <a:t>C. 直接规模化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9" y="2029968"/>
            <a:ext cx="6400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50" b="1">
                <a:solidFill>
                  <a:srgbClr val="2F6BFF"/>
                </a:solidFill>
                <a:latin typeface="Microsoft YaHei"/>
              </a:rPr>
              <a:t>Score 1/5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1" y="2487168"/>
            <a:ext cx="548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Microsoft YaHei"/>
              </a:rPr>
              <a:t>Pros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1" y="2724912"/>
            <a:ext cx="278892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0" b="0">
                <a:solidFill>
                  <a:srgbClr val="2F3744"/>
                </a:solidFill>
                <a:latin typeface="Microsoft YaHei"/>
              </a:rPr>
              <a:t>- 速度最快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3456432"/>
            <a:ext cx="548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D92D20"/>
                </a:solidFill>
                <a:latin typeface="Microsoft YaHei"/>
              </a:rPr>
              <a:t>Cons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1" y="3694176"/>
            <a:ext cx="278892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0" b="0">
                <a:solidFill>
                  <a:srgbClr val="2F3744"/>
                </a:solidFill>
                <a:latin typeface="Microsoft YaHei"/>
              </a:rPr>
              <a:t>- 无留存与付费证据
- 范围和成本风险高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257800"/>
            <a:ext cx="10058400" cy="566928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5440680"/>
            <a:ext cx="958291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80" b="1">
                <a:solidFill>
                  <a:srgbClr val="FFFFFF"/>
                </a:solidFill>
                <a:latin typeface="Microsoft YaHei"/>
              </a:rPr>
              <a:t>推荐 B：批准 6 周验证期，未达门槛则停止扩张。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4389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KPI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457200"/>
            <a:ext cx="109270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KPI Dashboard 用大数字和一张原生图表支撑管理判断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0" y="6510528"/>
            <a:ext cx="248716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PMO CONSULTING PACK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600200"/>
            <a:ext cx="128016" cy="128016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128016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9" b="1">
                <a:solidFill>
                  <a:srgbClr val="667085"/>
                </a:solidFill>
                <a:latin typeface="Microsoft YaHei"/>
              </a:rPr>
              <a:t>真实工作流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15544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950" b="1">
                <a:solidFill>
                  <a:srgbClr val="1F2937"/>
                </a:solidFill>
                <a:latin typeface="Microsoft YaHe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04288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80" b="0">
                <a:solidFill>
                  <a:srgbClr val="667085"/>
                </a:solidFill>
                <a:latin typeface="Microsoft YaHei"/>
              </a:rPr>
              <a:t>6 周目标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141732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80944" y="1600200"/>
            <a:ext cx="128016" cy="128016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1" y="1572768"/>
            <a:ext cx="128016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9" b="1">
                <a:solidFill>
                  <a:srgbClr val="667085"/>
                </a:solidFill>
                <a:latin typeface="Microsoft YaHei"/>
              </a:rPr>
              <a:t>成功率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1920240"/>
            <a:ext cx="15544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950" b="1">
                <a:solidFill>
                  <a:srgbClr val="1F2937"/>
                </a:solidFill>
                <a:latin typeface="Microsoft YaHei"/>
              </a:rPr>
              <a:t>≥80%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304288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80" b="0">
                <a:solidFill>
                  <a:srgbClr val="667085"/>
                </a:solidFill>
                <a:latin typeface="Microsoft YaHei"/>
              </a:rPr>
              <a:t>核心链路无人工救火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912" y="141732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7216" y="1600200"/>
            <a:ext cx="128016" cy="128016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3" y="1572768"/>
            <a:ext cx="128016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9" b="1">
                <a:solidFill>
                  <a:srgbClr val="667085"/>
                </a:solidFill>
                <a:latin typeface="Microsoft YaHei"/>
              </a:rPr>
              <a:t>留存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3" y="1920240"/>
            <a:ext cx="15544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950" b="1">
                <a:solidFill>
                  <a:srgbClr val="1F2937"/>
                </a:solidFill>
                <a:latin typeface="Microsoft YaHei"/>
              </a:rPr>
              <a:t>≥50%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3" y="2304288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80" b="0">
                <a:solidFill>
                  <a:srgbClr val="667085"/>
                </a:solidFill>
                <a:latin typeface="Microsoft YaHei"/>
              </a:rPr>
              <a:t>第 4 周仍使用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87183" y="141732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33488" y="1600200"/>
            <a:ext cx="128016" cy="128016"/>
          </a:xfrm>
          <a:prstGeom prst="ellipse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1572768"/>
            <a:ext cx="128016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9" b="1">
                <a:solidFill>
                  <a:srgbClr val="667085"/>
                </a:solidFill>
                <a:latin typeface="Microsoft YaHei"/>
              </a:rPr>
              <a:t>付费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1775" y="1920240"/>
            <a:ext cx="15544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950" b="1">
                <a:solidFill>
                  <a:srgbClr val="1F2937"/>
                </a:solidFill>
                <a:latin typeface="Microsoft YaHei"/>
              </a:rPr>
              <a:t>3+1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5" y="2304288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80" b="0">
                <a:solidFill>
                  <a:srgbClr val="667085"/>
                </a:solidFill>
                <a:latin typeface="Microsoft YaHei"/>
              </a:rPr>
              <a:t>3 个强意向 + 1 个成交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3456" y="141732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09760" y="1600200"/>
            <a:ext cx="128016" cy="128016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1572768"/>
            <a:ext cx="128016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69" b="1">
                <a:solidFill>
                  <a:srgbClr val="667085"/>
                </a:solidFill>
                <a:latin typeface="Microsoft YaHei"/>
              </a:rPr>
              <a:t>范围变更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1920240"/>
            <a:ext cx="15544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950" b="1">
                <a:solidFill>
                  <a:srgbClr val="1F2937"/>
                </a:solidFill>
                <a:latin typeface="Microsoft YaHei"/>
              </a:rPr>
              <a:t>0 项 P0 外变更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2304288"/>
            <a:ext cx="15544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80" b="0">
                <a:solidFill>
                  <a:srgbClr val="667085"/>
                </a:solidFill>
                <a:latin typeface="Microsoft YaHei"/>
              </a:rPr>
              <a:t>冻结验证范围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960120" y="3246120"/>
          <a:ext cx="987552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4389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ACTION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457200"/>
            <a:ext cx="109270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行动项追踪页像 Excel，但必须有清晰 owner、deadline 和 status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0" y="6510528"/>
            <a:ext cx="248716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PMO CONSULTING PACK /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417320"/>
          <a:ext cx="9646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263640"/>
                <a:gridCol w="1417320"/>
                <a:gridCol w="868680"/>
              </a:tblGrid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Owner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Action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Deadline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Status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确认 10 位种子用户与任务类型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07/26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yellow</a:t>
                      </a:r>
                    </a:p>
                  </a:txBody>
                  <a:tcPr>
                    <a:solidFill>
                      <a:srgbClr val="F2C94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Eng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完成 PMO renderer v0.1 验收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07/24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green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定义 10 类页面视觉规格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07/25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yellow</a:t>
                      </a:r>
                    </a:p>
                  </a:txBody>
                  <a:tcPr>
                    <a:solidFill>
                      <a:srgbClr val="F2C94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Ops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建立真实交付回执表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07/27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gray</a:t>
                      </a:r>
                    </a:p>
                  </a:txBody>
                  <a:tcPr>
                    <a:solidFill>
                      <a:srgbClr val="98A2B3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Sponsor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确认 6 周 Go/No-Go 门槛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07/28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F3744"/>
                          </a:solidFill>
                          <a:latin typeface="Microsoft YaHei"/>
                        </a:rPr>
                        <a:t>yellow</a:t>
                      </a:r>
                    </a:p>
                  </a:txBody>
                  <a:tcPr>
                    <a:solidFill>
                      <a:srgbClr val="F2C94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51560" y="5806440"/>
            <a:ext cx="9875520" cy="457200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5961888"/>
            <a:ext cx="94640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40" b="0">
                <a:solidFill>
                  <a:srgbClr val="667085"/>
                </a:solidFill>
                <a:latin typeface="Microsoft YaHei"/>
              </a:rPr>
              <a:t>Next review: update status before the weekly PMO meeting; overdue red rows require a mitigation owner.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