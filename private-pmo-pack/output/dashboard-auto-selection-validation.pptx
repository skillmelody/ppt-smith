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AI平台</c:v>
                </c:pt>
                <c:pt idx="1">
                  <c:v>数据中台</c:v>
                </c:pt>
                <c:pt idx="2">
                  <c:v>CRM</c:v>
                </c:pt>
                <c:pt idx="3">
                  <c:v>渠道</c:v>
                </c:pt>
                <c:pt idx="4">
                  <c:v>门户</c:v>
                </c:pt>
                <c:pt idx="5">
                  <c:v>实验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8.5</c:v>
                </c:pt>
                <c:pt idx="2">
                  <c:v>5.2</c:v>
                </c:pt>
                <c:pt idx="3">
                  <c:v>4.8</c:v>
                </c:pt>
                <c:pt idx="4">
                  <c:v>2.6</c:v>
                </c:pt>
                <c:pt idx="5">
                  <c:v>3.0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22191" cy="685800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278892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PMO DASHBOARD
PAGE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2103120"/>
            <a:ext cx="26974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6AA6BF"/>
                </a:solidFill>
                <a:latin typeface="PingFang SC"/>
              </a:rPr>
              <a:t>文章证据自动选图验收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877056"/>
            <a:ext cx="269748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不是模板轮播，而是根据管理问题、数据形状与决策任务选择页面表达。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50976"/>
            <a:ext cx="1005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17324D"/>
                </a:solidFill>
                <a:latin typeface="PingFang SC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1517904"/>
            <a:ext cx="1508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50" b="1">
                <a:solidFill>
                  <a:srgbClr val="6B7A88"/>
                </a:solidFill>
                <a:latin typeface="PingFang SC"/>
              </a:rPr>
              <a:t>Dashboard 页面族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139696"/>
            <a:ext cx="420624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2D6792"/>
                </a:solidFill>
                <a:latin typeface="PingFang SC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066543"/>
            <a:ext cx="5760720" cy="438912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2176272"/>
            <a:ext cx="5303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1">
                <a:solidFill>
                  <a:srgbClr val="182632"/>
                </a:solidFill>
                <a:latin typeface="PingFang SC"/>
              </a:rPr>
              <a:t>单项目健康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834639"/>
            <a:ext cx="420624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2D6792"/>
                </a:solidFill>
                <a:latin typeface="PingFang SC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761487"/>
            <a:ext cx="5760720" cy="438912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2871215"/>
            <a:ext cx="5303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1">
                <a:solidFill>
                  <a:srgbClr val="182632"/>
                </a:solidFill>
                <a:latin typeface="PingFang SC"/>
              </a:rPr>
              <a:t>项目组合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529584"/>
            <a:ext cx="420624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2D6792"/>
                </a:solidFill>
                <a:latin typeface="PingFang SC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3456432"/>
            <a:ext cx="5760720" cy="438912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3566160"/>
            <a:ext cx="5303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1">
                <a:solidFill>
                  <a:srgbClr val="182632"/>
                </a:solidFill>
                <a:latin typeface="PingFang SC"/>
              </a:rPr>
              <a:t>时间与资源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4224528"/>
            <a:ext cx="420624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2D6792"/>
                </a:solidFill>
                <a:latin typeface="PingFang SC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4151376"/>
            <a:ext cx="5760720" cy="438912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4261104"/>
            <a:ext cx="5303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1">
                <a:solidFill>
                  <a:srgbClr val="182632"/>
                </a:solidFill>
                <a:latin typeface="PingFang SC"/>
              </a:rPr>
              <a:t>PMO 控制塔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919472"/>
            <a:ext cx="420624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2D6792"/>
                </a:solidFill>
                <a:latin typeface="PingFang SC"/>
              </a:rP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4846320"/>
            <a:ext cx="5760720" cy="438912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096" y="4956048"/>
            <a:ext cx="5303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1">
                <a:solidFill>
                  <a:srgbClr val="182632"/>
                </a:solidFill>
                <a:latin typeface="PingFang SC"/>
              </a:rPr>
              <a:t>Executive One-Pager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291072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80" b="1">
                <a:solidFill>
                  <a:srgbClr val="9AA7B2"/>
                </a:solidFill>
                <a:latin typeface="PingFang SC"/>
              </a:rPr>
              <a:t>v0.2 / PRIVATE PRODUCTION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4754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2D6792"/>
                </a:solidFill>
                <a:latin typeface="PingFang SC"/>
              </a:rPr>
              <a:t>SINGLE PROJECT HEALTH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097280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50" b="1">
                <a:solidFill>
                  <a:srgbClr val="182632"/>
                </a:solidFill>
                <a:latin typeface="PingFang SC"/>
              </a:rPr>
              <a:t>项目总体为 Amber：数据依赖导致关键路径晚 10 天，预算仍在控制范围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37392" cy="10972"/>
          </a:xfrm>
          <a:prstGeom prst="rect">
            <a:avLst/>
          </a:prstGeom>
          <a:solidFill>
            <a:srgbClr val="D2DBE2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27432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6B7A88"/>
                </a:solidFill>
                <a:latin typeface="PingFang SC"/>
              </a:rPr>
              <a:t>AUTO-SELECTION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28816"/>
            <a:ext cx="150876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720" b="1">
                <a:solidFill>
                  <a:srgbClr val="6B7A88"/>
                </a:solidFill>
                <a:latin typeface="PingFang SC"/>
              </a:rPr>
              <a:t>PMO PACK /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298448"/>
            <a:ext cx="67665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1">
                <a:solidFill>
                  <a:srgbClr val="6B7A88"/>
                </a:solidFill>
                <a:latin typeface="PingFang SC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536192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182632"/>
                </a:solidFill>
                <a:latin typeface="PingFang SC"/>
              </a:rPr>
              <a:t>企业内容平台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0904" y="1298448"/>
            <a:ext cx="67665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1">
                <a:solidFill>
                  <a:srgbClr val="6B7A88"/>
                </a:solidFill>
                <a:latin typeface="PingFang SC"/>
              </a:rPr>
              <a:t>Sponsor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4" y="1536192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182632"/>
                </a:solidFill>
                <a:latin typeface="PingFang SC"/>
              </a:rPr>
              <a:t>COO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1298448"/>
            <a:ext cx="67665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1">
                <a:solidFill>
                  <a:srgbClr val="6B7A88"/>
                </a:solidFill>
                <a:latin typeface="PingFang SC"/>
              </a:rPr>
              <a:t>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536192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182632"/>
                </a:solidFill>
                <a:latin typeface="PingFang SC"/>
              </a:rPr>
              <a:t>W1-W24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3" y="1298448"/>
            <a:ext cx="67665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1">
                <a:solidFill>
                  <a:srgbClr val="6B7A88"/>
                </a:solidFill>
                <a:latin typeface="PingFang SC"/>
              </a:rPr>
              <a:t>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3" y="1536192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182632"/>
                </a:solidFill>
                <a:latin typeface="PingFang SC"/>
              </a:rPr>
              <a:t>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19488" y="1371600"/>
            <a:ext cx="1097280" cy="246888"/>
          </a:xfrm>
          <a:prstGeom prst="rect">
            <a:avLst/>
          </a:prstGeom>
          <a:solidFill>
            <a:srgbClr val="F7E8CB"/>
          </a:solidFill>
          <a:ln>
            <a:solidFill>
              <a:srgbClr val="F7E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1408176"/>
            <a:ext cx="10972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D99325"/>
                </a:solidFill>
                <a:latin typeface="PingFang SC"/>
              </a:rPr>
              <a:t>AMBER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" y="1975104"/>
            <a:ext cx="1865376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139696"/>
            <a:ext cx="621792" cy="246888"/>
          </a:xfrm>
          <a:prstGeom prst="rect">
            <a:avLst/>
          </a:prstGeom>
          <a:solidFill>
            <a:srgbClr val="F7E8CB"/>
          </a:solidFill>
          <a:ln>
            <a:solidFill>
              <a:srgbClr val="F7E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176272"/>
            <a:ext cx="6217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D99325"/>
                </a:solidFill>
                <a:latin typeface="PingFang SC"/>
              </a:rPr>
              <a:t>进度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450592"/>
            <a:ext cx="157276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82632"/>
                </a:solidFill>
                <a:latin typeface="PingFang SC"/>
              </a:rPr>
              <a:t>62%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788920"/>
            <a:ext cx="157276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D99325"/>
                </a:solidFill>
                <a:latin typeface="PingFang SC"/>
              </a:rPr>
              <a:t>-6pp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9776" y="1975104"/>
            <a:ext cx="1865376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139696"/>
            <a:ext cx="621792" cy="246888"/>
          </a:xfrm>
          <a:prstGeom prst="rect">
            <a:avLst/>
          </a:prstGeom>
          <a:solidFill>
            <a:srgbClr val="F7E8CB"/>
          </a:solidFill>
          <a:ln>
            <a:solidFill>
              <a:srgbClr val="F7E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7792" y="2176272"/>
            <a:ext cx="6217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D99325"/>
                </a:solidFill>
                <a:latin typeface="PingFang SC"/>
              </a:rPr>
              <a:t>预算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450592"/>
            <a:ext cx="157276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82632"/>
                </a:solidFill>
                <a:latin typeface="PingFang SC"/>
              </a:rPr>
              <a:t>6.8M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788920"/>
            <a:ext cx="157276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D99325"/>
                </a:solidFill>
                <a:latin typeface="PingFang SC"/>
              </a:rPr>
              <a:t>+6%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64607" y="1975104"/>
            <a:ext cx="1865376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92623" y="2139696"/>
            <a:ext cx="621792" cy="246888"/>
          </a:xfrm>
          <a:prstGeom prst="rect">
            <a:avLst/>
          </a:prstGeom>
          <a:solidFill>
            <a:srgbClr val="F4DDDA"/>
          </a:solidFill>
          <a:ln>
            <a:solidFill>
              <a:srgbClr val="F4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92623" y="2176272"/>
            <a:ext cx="6217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C7463D"/>
                </a:solidFill>
                <a:latin typeface="PingFang SC"/>
              </a:rPr>
              <a:t>质量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2450592"/>
            <a:ext cx="157276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82632"/>
                </a:solidFill>
                <a:latin typeface="PingFang SC"/>
              </a:rPr>
              <a:t>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2788920"/>
            <a:ext cx="157276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C7463D"/>
                </a:solidFill>
                <a:latin typeface="PingFang SC"/>
              </a:rPr>
              <a:t>-12pp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1975104"/>
            <a:ext cx="1865376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77455" y="2139696"/>
            <a:ext cx="621792" cy="246888"/>
          </a:xfrm>
          <a:prstGeom prst="rect">
            <a:avLst/>
          </a:prstGeom>
          <a:solidFill>
            <a:srgbClr val="DDEDE6"/>
          </a:solidFill>
          <a:ln>
            <a:solidFill>
              <a:srgbClr val="DD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77455" y="2176272"/>
            <a:ext cx="6217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2E7D5B"/>
                </a:solidFill>
                <a:latin typeface="PingFang SC"/>
              </a:rPr>
              <a:t>价值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744" y="2450592"/>
            <a:ext cx="1572768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82632"/>
                </a:solidFill>
                <a:latin typeface="PingFang SC"/>
              </a:rPr>
              <a:t>17.4M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4" y="2788920"/>
            <a:ext cx="157276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2E7D5B"/>
                </a:solidFill>
                <a:latin typeface="PingFang SC"/>
              </a:rPr>
              <a:t>67%目标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08592" y="1975104"/>
            <a:ext cx="1920240" cy="1078992"/>
          </a:xfrm>
          <a:prstGeom prst="rect">
            <a:avLst/>
          </a:prstGeom>
          <a:solidFill>
            <a:srgbClr val="F4DDDA"/>
          </a:solidFill>
          <a:ln>
            <a:solidFill>
              <a:srgbClr val="F4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8048" y="2176272"/>
            <a:ext cx="148132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C7463D"/>
                </a:solidFill>
                <a:latin typeface="PingFang SC"/>
              </a:rPr>
              <a:t>关键例外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8048" y="2514600"/>
            <a:ext cx="148132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82632"/>
                </a:solidFill>
                <a:latin typeface="PingFang SC"/>
              </a:rPr>
              <a:t>主数据 owner 未确认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94944" y="3438144"/>
          <a:ext cx="754379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325880"/>
                <a:gridCol w="960120"/>
                <a:gridCol w="2377440"/>
                <a:gridCol w="100584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PingFang SC"/>
                        </a:rPr>
                        <a:t>管理事项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PingFang SC"/>
                        </a:rPr>
                        <a:t>影响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PingFang SC"/>
                        </a:rPr>
                        <a:t>Owner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PingFang SC"/>
                        </a:rPr>
                        <a:t>下一步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PingFang SC"/>
                        </a:rPr>
                        <a:t>截止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数据覆盖 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门禁延迟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CDO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确认 3 个数据域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07/30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采用率 64%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价值受限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COO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主管责任制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44655"/>
                          </a:solidFill>
                          <a:latin typeface="PingFang SC"/>
                        </a:rPr>
                        <a:t>08/02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8613648" y="3401568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182632"/>
                </a:solidFill>
                <a:latin typeface="PingFang SC"/>
              </a:rPr>
              <a:t>交付时间线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3803904"/>
            <a:ext cx="56692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344655"/>
                </a:solidFill>
                <a:latin typeface="PingFang SC"/>
              </a:rPr>
              <a:t>Build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90304" y="3822191"/>
            <a:ext cx="1719072" cy="164592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90304" y="3822191"/>
            <a:ext cx="1409639" cy="164592"/>
          </a:xfrm>
          <a:prstGeom prst="rect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13648" y="4242816"/>
            <a:ext cx="56692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344655"/>
                </a:solidFill>
                <a:latin typeface="PingFang SC"/>
              </a:rPr>
              <a:t>Pilot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90304" y="4261104"/>
            <a:ext cx="1719072" cy="164592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90304" y="4261104"/>
            <a:ext cx="928298" cy="164592"/>
          </a:xfrm>
          <a:prstGeom prst="rect">
            <a:avLst/>
          </a:prstGeom>
          <a:solidFill>
            <a:srgbClr val="D99325"/>
          </a:solidFill>
          <a:ln>
            <a:solidFill>
              <a:srgbClr val="D99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13648" y="4681728"/>
            <a:ext cx="56692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344655"/>
                </a:solidFill>
                <a:latin typeface="PingFang SC"/>
              </a:rPr>
              <a:t>Gate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4700016"/>
            <a:ext cx="1719072" cy="164592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90304" y="4700016"/>
            <a:ext cx="206288" cy="164592"/>
          </a:xfrm>
          <a:prstGeom prst="rect">
            <a:avLst/>
          </a:prstGeom>
          <a:solidFill>
            <a:srgbClr val="9AA7B2"/>
          </a:solidFill>
          <a:ln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4944" y="5806440"/>
            <a:ext cx="10808208" cy="43891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16168"/>
            <a:ext cx="104424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管理动作：不追加总预算；把非关键功能资源转向数据覆盖和采用率。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4754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2D6792"/>
                </a:solidFill>
                <a:latin typeface="PingFang SC"/>
              </a:rPr>
              <a:t>PORTFOLIO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097280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50" b="1">
                <a:solidFill>
                  <a:srgbClr val="182632"/>
                </a:solidFill>
                <a:latin typeface="PingFang SC"/>
              </a:rPr>
              <a:t>六个项目中两项占用 57% 预算却处于 Red/Amber，应优先重配资源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37392" cy="10972"/>
          </a:xfrm>
          <a:prstGeom prst="rect">
            <a:avLst/>
          </a:prstGeom>
          <a:solidFill>
            <a:srgbClr val="D2DBE2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27432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6B7A88"/>
                </a:solidFill>
                <a:latin typeface="PingFang SC"/>
              </a:rPr>
              <a:t>AUTO-SELECTION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28816"/>
            <a:ext cx="150876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720" b="1">
                <a:solidFill>
                  <a:srgbClr val="6B7A88"/>
                </a:solidFill>
                <a:latin typeface="PingFang SC"/>
              </a:rPr>
              <a:t>PMO PACK / 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35024"/>
          <a:ext cx="806500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/>
                <a:gridCol w="804672"/>
                <a:gridCol w="960120"/>
                <a:gridCol w="960120"/>
                <a:gridCol w="1051560"/>
                <a:gridCol w="1097280"/>
                <a:gridCol w="1252728"/>
              </a:tblGrid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PingFang SC"/>
                        </a:rPr>
                        <a:t>项目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PingFang SC"/>
                        </a:rPr>
                        <a:t>优先级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PingFang SC"/>
                        </a:rPr>
                        <a:t>健康度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PingFang SC"/>
                        </a:rPr>
                        <a:t>完成率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PingFang SC"/>
                        </a:rPr>
                        <a:t>预算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PingFang SC"/>
                        </a:rPr>
                        <a:t>已花费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PingFang SC"/>
                        </a:rPr>
                        <a:t>建议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AI 内容平台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Amber</a:t>
                      </a:r>
                    </a:p>
                  </a:txBody>
                  <a:tcPr>
                    <a:solidFill>
                      <a:srgbClr val="F7E8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12.0M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6.8M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数据中台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P0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Red</a:t>
                      </a:r>
                    </a:p>
                  </a:txBody>
                  <a:tcPr>
                    <a:solidFill>
                      <a:srgbClr val="F4D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48%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8.5M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5.2M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增配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CRM 升级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5.2M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3.4M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维持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渠道自动化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P1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Amber</a:t>
                      </a:r>
                    </a:p>
                  </a:txBody>
                  <a:tcPr>
                    <a:solidFill>
                      <a:srgbClr val="F7E8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55%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4.8M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2.9M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收窄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知识门户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2.6M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2.1M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收尾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实验项目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P2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Gray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21%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3.0M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0.8M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344655"/>
                          </a:solidFill>
                          <a:latin typeface="PingFang SC"/>
                        </a:rPr>
                        <a:t>暂停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979408" y="1389888"/>
          <a:ext cx="224028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81744" y="1280160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1">
                <a:solidFill>
                  <a:srgbClr val="182632"/>
                </a:solidFill>
                <a:latin typeface="PingFang SC"/>
              </a:rPr>
              <a:t>预算组合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2176272"/>
            <a:ext cx="87782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900" b="1">
                <a:solidFill>
                  <a:srgbClr val="17324D"/>
                </a:solidFill>
                <a:latin typeface="PingFang SC"/>
              </a:rPr>
              <a:t>57%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523744"/>
            <a:ext cx="134416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6B7A88"/>
                </a:solidFill>
                <a:latin typeface="PingFang SC"/>
              </a:rPr>
              <a:t>集中于前两项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9408" y="3611880"/>
            <a:ext cx="2240280" cy="1353312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98864" y="3822191"/>
            <a:ext cx="1783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182632"/>
                </a:solidFill>
                <a:latin typeface="PingFang SC"/>
              </a:rPr>
              <a:t>资源优先级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4187952"/>
            <a:ext cx="178308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19" b="1">
                <a:solidFill>
                  <a:srgbClr val="344655"/>
                </a:solidFill>
                <a:latin typeface="PingFang SC"/>
              </a:rPr>
              <a:t>1. 数据中台增配
2. 渠道项目收窄
3. 实验项目暂停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5806440"/>
            <a:ext cx="10808208" cy="43891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916168"/>
            <a:ext cx="104424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管理动作：从实验项目和渠道项目释放 1.4M，优先保护数据中台关键路径。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4754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2D6792"/>
                </a:solidFill>
                <a:latin typeface="PingFang SC"/>
              </a:rPr>
              <a:t>TIME AND RESOURCE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097280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50" b="1">
                <a:solidFill>
                  <a:srgbClr val="182632"/>
                </a:solidFill>
                <a:latin typeface="PingFang SC"/>
              </a:rPr>
              <a:t>数据工程负荷达到 118%，而设计资源仅 63%；当前问题是结构错配，不是总人数不足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37392" cy="10972"/>
          </a:xfrm>
          <a:prstGeom prst="rect">
            <a:avLst/>
          </a:prstGeom>
          <a:solidFill>
            <a:srgbClr val="D2DBE2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27432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6B7A88"/>
                </a:solidFill>
                <a:latin typeface="PingFang SC"/>
              </a:rPr>
              <a:t>AUTO-SELECTION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28816"/>
            <a:ext cx="150876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720" b="1">
                <a:solidFill>
                  <a:srgbClr val="6B7A88"/>
                </a:solidFill>
                <a:latin typeface="PingFang SC"/>
              </a:rPr>
              <a:t>PMO PACK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82632"/>
                </a:solidFill>
                <a:latin typeface="PingFang SC"/>
              </a:rPr>
              <a:t>团队利用率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19072"/>
            <a:ext cx="107899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344655"/>
                </a:solidFill>
                <a:latin typeface="PingFang SC"/>
              </a:rPr>
              <a:t>数据工程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1737360"/>
            <a:ext cx="3886200" cy="201168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737360"/>
            <a:ext cx="3821429" cy="201168"/>
          </a:xfrm>
          <a:prstGeom prst="rect">
            <a:avLst/>
          </a:prstGeom>
          <a:solidFill>
            <a:srgbClr val="C7463D"/>
          </a:solidFill>
          <a:ln>
            <a:solidFill>
              <a:srgbClr val="C74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709928"/>
            <a:ext cx="5669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50" b="1">
                <a:solidFill>
                  <a:srgbClr val="C7463D"/>
                </a:solidFill>
                <a:latin typeface="PingFang SC"/>
              </a:rPr>
              <a:t>118%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86000"/>
            <a:ext cx="107899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344655"/>
                </a:solidFill>
                <a:latin typeface="PingFang SC"/>
              </a:rPr>
              <a:t>平台工程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1952" y="2304288"/>
            <a:ext cx="3886200" cy="201168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01952" y="2304288"/>
            <a:ext cx="2979420" cy="201168"/>
          </a:xfrm>
          <a:prstGeom prst="rect">
            <a:avLst/>
          </a:prstGeom>
          <a:solidFill>
            <a:srgbClr val="D99325"/>
          </a:solidFill>
          <a:ln>
            <a:solidFill>
              <a:srgbClr val="D99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276856"/>
            <a:ext cx="5669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50" b="1">
                <a:solidFill>
                  <a:srgbClr val="D99325"/>
                </a:solidFill>
                <a:latin typeface="PingFang SC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52928"/>
            <a:ext cx="107899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344655"/>
                </a:solidFill>
                <a:latin typeface="PingFang SC"/>
              </a:rPr>
              <a:t>产品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1952" y="2871216"/>
            <a:ext cx="3886200" cy="201168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01952" y="2871216"/>
            <a:ext cx="2720340" cy="201168"/>
          </a:xfrm>
          <a:prstGeom prst="rect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843784"/>
            <a:ext cx="5669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50" b="1">
                <a:solidFill>
                  <a:srgbClr val="2E7D5B"/>
                </a:solidFill>
                <a:latin typeface="PingFang SC"/>
              </a:rPr>
              <a:t>84%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419856"/>
            <a:ext cx="107899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344655"/>
                </a:solidFill>
                <a:latin typeface="PingFang SC"/>
              </a:rPr>
              <a:t>运营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3438144"/>
            <a:ext cx="3886200" cy="201168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01952" y="3438144"/>
            <a:ext cx="2461260" cy="201168"/>
          </a:xfrm>
          <a:prstGeom prst="rect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410712"/>
            <a:ext cx="5669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50" b="1">
                <a:solidFill>
                  <a:srgbClr val="2E7D5B"/>
                </a:solidFill>
                <a:latin typeface="PingFang SC"/>
              </a:rPr>
              <a:t>76%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86783"/>
            <a:ext cx="107899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344655"/>
                </a:solidFill>
                <a:latin typeface="PingFang SC"/>
              </a:rPr>
              <a:t>设计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1952" y="4005071"/>
            <a:ext cx="3886200" cy="201168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1952" y="4005071"/>
            <a:ext cx="2040255" cy="201168"/>
          </a:xfrm>
          <a:prstGeom prst="rect">
            <a:avLst/>
          </a:prstGeom>
          <a:solidFill>
            <a:srgbClr val="9AA7B2"/>
          </a:solidFill>
          <a:ln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3977639"/>
            <a:ext cx="5669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50" b="1">
                <a:solidFill>
                  <a:srgbClr val="9AA7B2"/>
                </a:solidFill>
                <a:latin typeface="PingFang SC"/>
              </a:rPr>
              <a:t>63%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1325880"/>
            <a:ext cx="4315968" cy="1828800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1581912"/>
            <a:ext cx="3749039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82632"/>
                </a:solidFill>
                <a:latin typeface="PingFang SC"/>
              </a:rPr>
              <a:t>未来两周关键任务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50608" y="1993392"/>
            <a:ext cx="347472" cy="246888"/>
          </a:xfrm>
          <a:prstGeom prst="rect">
            <a:avLst/>
          </a:prstGeom>
          <a:solidFill>
            <a:srgbClr val="F4DDDA"/>
          </a:solidFill>
          <a:ln>
            <a:solidFill>
              <a:srgbClr val="F4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0608" y="2029968"/>
            <a:ext cx="34747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C7463D"/>
                </a:solidFill>
                <a:latin typeface="PingFang SC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2020824"/>
            <a:ext cx="166420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344655"/>
                </a:solidFill>
                <a:latin typeface="PingFang SC"/>
              </a:rPr>
              <a:t>主数据接入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2020824"/>
            <a:ext cx="65836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1">
                <a:solidFill>
                  <a:srgbClr val="6B7A88"/>
                </a:solidFill>
                <a:latin typeface="PingFang SC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04704" y="2020824"/>
            <a:ext cx="65836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80" b="1">
                <a:solidFill>
                  <a:srgbClr val="C7463D"/>
                </a:solidFill>
                <a:latin typeface="PingFang SC"/>
              </a:rPr>
              <a:t>07/30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2350008"/>
            <a:ext cx="347472" cy="246888"/>
          </a:xfrm>
          <a:prstGeom prst="rect">
            <a:avLst/>
          </a:prstGeom>
          <a:solidFill>
            <a:srgbClr val="F7E8CB"/>
          </a:solidFill>
          <a:ln>
            <a:solidFill>
              <a:srgbClr val="F7E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0608" y="2386584"/>
            <a:ext cx="34747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D99325"/>
                </a:solidFill>
                <a:latin typeface="PingFang SC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2377440"/>
            <a:ext cx="166420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344655"/>
                </a:solidFill>
                <a:latin typeface="PingFang SC"/>
              </a:rPr>
              <a:t>规则引擎 UAT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2377440"/>
            <a:ext cx="65836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1">
                <a:solidFill>
                  <a:srgbClr val="6B7A88"/>
                </a:solidFill>
                <a:latin typeface="PingFang SC"/>
              </a:rPr>
              <a:t>Eng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04704" y="2377440"/>
            <a:ext cx="65836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80" b="1">
                <a:solidFill>
                  <a:srgbClr val="D99325"/>
                </a:solidFill>
                <a:latin typeface="PingFang SC"/>
              </a:rPr>
              <a:t>08/05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2706624"/>
            <a:ext cx="347472" cy="246888"/>
          </a:xfrm>
          <a:prstGeom prst="rect">
            <a:avLst/>
          </a:prstGeom>
          <a:solidFill>
            <a:srgbClr val="F7E8CB"/>
          </a:solidFill>
          <a:ln>
            <a:solidFill>
              <a:srgbClr val="F7E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0608" y="2743200"/>
            <a:ext cx="34747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D99325"/>
                </a:solidFill>
                <a:latin typeface="PingFang SC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6096" y="2734056"/>
            <a:ext cx="166420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344655"/>
                </a:solidFill>
                <a:latin typeface="PingFang SC"/>
              </a:rPr>
              <a:t>主管试点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8" y="2734056"/>
            <a:ext cx="65836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1">
                <a:solidFill>
                  <a:srgbClr val="6B7A88"/>
                </a:solidFill>
                <a:latin typeface="PingFang SC"/>
              </a:rPr>
              <a:t>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04704" y="2734056"/>
            <a:ext cx="658368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80" b="1">
                <a:solidFill>
                  <a:srgbClr val="D99325"/>
                </a:solidFill>
                <a:latin typeface="PingFang SC"/>
              </a:rPr>
              <a:t>08/08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4576" y="3529584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82632"/>
                </a:solidFill>
                <a:latin typeface="PingFang SC"/>
              </a:rPr>
              <a:t>预算消耗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94576" y="3913632"/>
            <a:ext cx="4297680" cy="274320"/>
          </a:xfrm>
          <a:prstGeom prst="rect">
            <a:avLst/>
          </a:prstGeom>
          <a:solidFill>
            <a:srgbClr val="E8EDF1"/>
          </a:solidFill>
          <a:ln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94576" y="3913632"/>
            <a:ext cx="2432304" cy="274320"/>
          </a:xfrm>
          <a:prstGeom prst="rect">
            <a:avLst/>
          </a:prstGeom>
          <a:solidFill>
            <a:srgbClr val="2D6792"/>
          </a:solidFill>
          <a:ln>
            <a:solidFill>
              <a:srgbClr val="2D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94576" y="4315968"/>
            <a:ext cx="1920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2D6792"/>
                </a:solidFill>
                <a:latin typeface="PingFang SC"/>
              </a:rPr>
              <a:t>56.7% 已花费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6" y="4315968"/>
            <a:ext cx="1920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50" b="1">
                <a:solidFill>
                  <a:srgbClr val="6B7A88"/>
                </a:solidFill>
                <a:latin typeface="PingFang SC"/>
              </a:rPr>
              <a:t>43.3% 剩余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" y="4919472"/>
            <a:ext cx="10479024" cy="438912"/>
          </a:xfrm>
          <a:prstGeom prst="rect">
            <a:avLst/>
          </a:prstGeom>
          <a:solidFill>
            <a:srgbClr val="F4DDDA"/>
          </a:solidFill>
          <a:ln>
            <a:solidFill>
              <a:srgbClr val="F4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5038344"/>
            <a:ext cx="1004011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C7463D"/>
                </a:solidFill>
                <a:latin typeface="PingFang SC"/>
              </a:rPr>
              <a:t>缺口：Lead Data Engineer 2 FTE；可从设计与实验项目各调 1 FTE，不增加总编制。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" y="5806440"/>
            <a:ext cx="10808208" cy="43891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" y="5916168"/>
            <a:ext cx="104424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管理动作：重配 2 FTE 到数据工程，未来四周冻结非关键设计增强。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4754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2D6792"/>
                </a:solidFill>
                <a:latin typeface="PingFang SC"/>
              </a:rPr>
              <a:t>PMO CONTROL TOWER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097280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50" b="1">
                <a:solidFill>
                  <a:srgbClr val="182632"/>
                </a:solidFill>
                <a:latin typeface="PingFang SC"/>
              </a:rPr>
              <a:t>PMO 控制塔显示 12 个项目中 3 个需要升级，但只有 2 项需要管委会本周拍板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37392" cy="10972"/>
          </a:xfrm>
          <a:prstGeom prst="rect">
            <a:avLst/>
          </a:prstGeom>
          <a:solidFill>
            <a:srgbClr val="D2DBE2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27432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6B7A88"/>
                </a:solidFill>
                <a:latin typeface="PingFang SC"/>
              </a:rPr>
              <a:t>AUTO-SELECTION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28816"/>
            <a:ext cx="150876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720" b="1">
                <a:solidFill>
                  <a:srgbClr val="6B7A88"/>
                </a:solidFill>
                <a:latin typeface="PingFang SC"/>
              </a:rPr>
              <a:t>PMO PACK /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1316736"/>
            <a:ext cx="1298448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81328"/>
            <a:ext cx="129844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2E7D5B"/>
                </a:solidFill>
                <a:latin typeface="PingFang SC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65376"/>
            <a:ext cx="12984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50" b="1">
                <a:solidFill>
                  <a:srgbClr val="6B7A88"/>
                </a:solidFill>
                <a:latin typeface="PingFang SC"/>
              </a:rPr>
              <a:t>正常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1316736"/>
            <a:ext cx="1298448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1481328"/>
            <a:ext cx="129844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D99325"/>
                </a:solidFill>
                <a:latin typeface="PingFang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1865376"/>
            <a:ext cx="12984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50" b="1">
                <a:solidFill>
                  <a:srgbClr val="6B7A88"/>
                </a:solidFill>
                <a:latin typeface="PingFang SC"/>
              </a:rPr>
              <a:t>关注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316736"/>
            <a:ext cx="1298448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481328"/>
            <a:ext cx="129844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C7463D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865376"/>
            <a:ext cx="12984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50" b="1">
                <a:solidFill>
                  <a:srgbClr val="6B7A88"/>
                </a:solidFill>
                <a:latin typeface="PingFang SC"/>
              </a:rPr>
              <a:t>阻断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1316736"/>
            <a:ext cx="1298448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481328"/>
            <a:ext cx="129844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9AA7B2"/>
                </a:solidFill>
                <a:latin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865376"/>
            <a:ext cx="12984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50" b="1">
                <a:solidFill>
                  <a:srgbClr val="6B7A88"/>
                </a:solidFill>
                <a:latin typeface="PingFang SC"/>
              </a:rPr>
              <a:t>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9712" y="1316736"/>
            <a:ext cx="4343400" cy="841248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1517904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82632"/>
                </a:solidFill>
                <a:latin typeface="PingFang SC"/>
              </a:rPr>
              <a:t>组合 KPI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1517904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D99325"/>
                </a:solidFill>
                <a:latin typeface="PingFang SC"/>
              </a:rPr>
              <a:t>准时交付 76%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1517904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D99325"/>
                </a:solidFill>
                <a:latin typeface="PingFang SC"/>
              </a:rPr>
              <a:t>预算偏差 +3.4%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4944" y="2514600"/>
          <a:ext cx="6629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005840"/>
                <a:gridCol w="3108960"/>
                <a:gridCol w="100584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FFFFFF"/>
                          </a:solidFill>
                          <a:latin typeface="PingFang SC"/>
                        </a:rPr>
                        <a:t>治理维度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PingFang SC"/>
                        </a:rPr>
                        <a:t>状态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FFFFFF"/>
                          </a:solidFill>
                          <a:latin typeface="PingFang SC"/>
                        </a:rPr>
                        <a:t>关键事实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PingFang SC"/>
                        </a:rPr>
                        <a:t>Owner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里程碑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4 个节点两周内到期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PMO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风险与合规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Red</a:t>
                      </a:r>
                    </a:p>
                  </a:txBody>
                  <a:tcPr>
                    <a:solidFill>
                      <a:srgbClr val="F4DD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数据留存策略待批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CISO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EAC 低于批准预算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Stakeholder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Amber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2 位 Sponsor 决策待办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0">
                          <a:solidFill>
                            <a:srgbClr val="344655"/>
                          </a:solidFill>
                          <a:latin typeface="PingFang SC"/>
                        </a:rPr>
                        <a:t>COO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644383" y="2514600"/>
            <a:ext cx="3538728" cy="2468880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18704" y="2761488"/>
            <a:ext cx="2980944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82632"/>
                </a:solidFill>
                <a:latin typeface="PingFang SC"/>
              </a:rPr>
              <a:t>本周决策队列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18704" y="3218688"/>
            <a:ext cx="438912" cy="246888"/>
          </a:xfrm>
          <a:prstGeom prst="rect">
            <a:avLst/>
          </a:prstGeom>
          <a:solidFill>
            <a:srgbClr val="F4DDDA"/>
          </a:solidFill>
          <a:ln>
            <a:solidFill>
              <a:srgbClr val="F4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3255264"/>
            <a:ext cx="43891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C7463D"/>
                </a:solidFill>
                <a:latin typeface="PingFang SC"/>
              </a:rPr>
              <a:t>D1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246120"/>
            <a:ext cx="18470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82632"/>
                </a:solidFill>
                <a:latin typeface="PingFang SC"/>
              </a:rPr>
              <a:t>批准 180 天数据留存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9296" y="3246120"/>
            <a:ext cx="53035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C7463D"/>
                </a:solidFill>
                <a:latin typeface="PingFang SC"/>
              </a:rPr>
              <a:t>CISO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18704" y="3931920"/>
            <a:ext cx="438912" cy="246888"/>
          </a:xfrm>
          <a:prstGeom prst="rect">
            <a:avLst/>
          </a:prstGeom>
          <a:solidFill>
            <a:srgbClr val="F7E8CB"/>
          </a:solidFill>
          <a:ln>
            <a:solidFill>
              <a:srgbClr val="F7E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8704" y="3968496"/>
            <a:ext cx="43891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D99325"/>
                </a:solidFill>
                <a:latin typeface="PingFang SC"/>
              </a:rPr>
              <a:t>D2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3959352"/>
            <a:ext cx="18470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82632"/>
                </a:solidFill>
                <a:latin typeface="PingFang SC"/>
              </a:rPr>
              <a:t>重配 1.4M 到数据中台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9296" y="3959352"/>
            <a:ext cx="53035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D99325"/>
                </a:solidFill>
                <a:latin typeface="PingFang SC"/>
              </a:rPr>
              <a:t>CFO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" y="5806440"/>
            <a:ext cx="10808208" cy="43891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5916168"/>
            <a:ext cx="104424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管理动作：控制塔只升级例外和决策，不把 12 个项目的全部细节搬进管委会。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4754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2D6792"/>
                </a:solidFill>
                <a:latin typeface="PingFang SC"/>
              </a:rPr>
              <a:t>EXECUTIVE STATUS ONE-PAGER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097280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50" b="1">
                <a:solidFill>
                  <a:srgbClr val="182632"/>
                </a:solidFill>
                <a:latin typeface="PingFang SC"/>
              </a:rPr>
              <a:t>本周完成核心构建，但数据与采用率仍阻碍 Scale Gate；下周只处理三项例外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37392" cy="10972"/>
          </a:xfrm>
          <a:prstGeom prst="rect">
            <a:avLst/>
          </a:prstGeom>
          <a:solidFill>
            <a:srgbClr val="D2DBE2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27432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6B7A88"/>
                </a:solidFill>
                <a:latin typeface="PingFang SC"/>
              </a:rPr>
              <a:t>AUTO-SELECTION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28816"/>
            <a:ext cx="150876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720" b="1">
                <a:solidFill>
                  <a:srgbClr val="6B7A88"/>
                </a:solidFill>
                <a:latin typeface="PingFang SC"/>
              </a:rPr>
              <a:t>PMO PACK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1298448"/>
            <a:ext cx="6720840" cy="914400"/>
          </a:xfrm>
          <a:prstGeom prst="rect">
            <a:avLst/>
          </a:prstGeom>
          <a:solidFill>
            <a:srgbClr val="F4F7F9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17904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2D6792"/>
                </a:solidFill>
                <a:latin typeface="PingFang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1481328"/>
            <a:ext cx="44988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82632"/>
                </a:solidFill>
                <a:latin typeface="PingFang SC"/>
              </a:rPr>
              <a:t>工程闭环已运行；项目按预算推进，但数据覆盖与采用率未达到规模化门禁。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17536" y="1298448"/>
            <a:ext cx="3474720" cy="91440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517904"/>
            <a:ext cx="13716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6AA6BF"/>
                </a:solidFill>
                <a:latin typeface="PingFang SC"/>
              </a:rPr>
              <a:t>OVERALL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3184" y="1444752"/>
            <a:ext cx="13533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PingFang SC"/>
              </a:rPr>
              <a:t>AMBER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578608"/>
            <a:ext cx="2487168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" y="2578608"/>
            <a:ext cx="54864" cy="1280160"/>
          </a:xfrm>
          <a:prstGeom prst="rect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79806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82632"/>
                </a:solidFill>
                <a:latin typeface="PingFang SC"/>
              </a:rPr>
              <a:t>上周完成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182112"/>
            <a:ext cx="20574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344655"/>
                </a:solidFill>
                <a:latin typeface="PingFang SC"/>
              </a:rPr>
              <a:t>核心平台 Build 完成
规则引擎进入 UAT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2578608"/>
            <a:ext cx="2487168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65576" y="2578608"/>
            <a:ext cx="54864" cy="1280160"/>
          </a:xfrm>
          <a:prstGeom prst="rect">
            <a:avLst/>
          </a:prstGeom>
          <a:solidFill>
            <a:srgbClr val="2D6792"/>
          </a:solidFill>
          <a:ln>
            <a:solidFill>
              <a:srgbClr val="2D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279806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82632"/>
                </a:solidFill>
                <a:latin typeface="PingFang SC"/>
              </a:rPr>
              <a:t>本周目标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182112"/>
            <a:ext cx="20574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344655"/>
                </a:solidFill>
                <a:latin typeface="PingFang SC"/>
              </a:rPr>
              <a:t>确认主数据 owner
启动主管试点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2578608"/>
            <a:ext cx="2487168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7" y="2578608"/>
            <a:ext cx="54864" cy="1280160"/>
          </a:xfrm>
          <a:prstGeom prst="rect">
            <a:avLst/>
          </a:prstGeom>
          <a:solidFill>
            <a:srgbClr val="C7463D"/>
          </a:solidFill>
          <a:ln>
            <a:solidFill>
              <a:srgbClr val="C74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5" y="279806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82632"/>
                </a:solidFill>
                <a:latin typeface="PingFang SC"/>
              </a:rPr>
              <a:t>Top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5" y="3182112"/>
            <a:ext cx="20574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344655"/>
                </a:solidFill>
                <a:latin typeface="PingFang SC"/>
              </a:rPr>
              <a:t>数据覆盖 71%
关键路径晚 10 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2578608"/>
            <a:ext cx="2487168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2578608"/>
            <a:ext cx="54864" cy="1280160"/>
          </a:xfrm>
          <a:prstGeom prst="rect">
            <a:avLst/>
          </a:prstGeom>
          <a:solidFill>
            <a:srgbClr val="D99325"/>
          </a:solidFill>
          <a:ln>
            <a:solidFill>
              <a:srgbClr val="D99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8" y="279806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82632"/>
                </a:solidFill>
                <a:latin typeface="PingFang SC"/>
              </a:rPr>
              <a:t>Top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3182112"/>
            <a:ext cx="20574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344655"/>
                </a:solidFill>
                <a:latin typeface="PingFang SC"/>
              </a:rPr>
              <a:t>采用率仅 64%
收益证据缺口 8.6M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261104"/>
            <a:ext cx="12801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182632"/>
                </a:solidFill>
                <a:latin typeface="PingFang SC"/>
              </a:rPr>
              <a:t>关键里程碑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4462272"/>
            <a:ext cx="8778240" cy="27432"/>
          </a:xfrm>
          <a:prstGeom prst="rect">
            <a:avLst/>
          </a:prstGeom>
          <a:solidFill>
            <a:srgbClr val="D2DBE2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03120" y="4352544"/>
            <a:ext cx="164592" cy="256032"/>
          </a:xfrm>
          <a:prstGeom prst="rect">
            <a:avLst/>
          </a:prstGeom>
          <a:solidFill>
            <a:srgbClr val="2E7D5B"/>
          </a:solidFill>
          <a:ln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4754880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30" b="1">
                <a:solidFill>
                  <a:srgbClr val="182632"/>
                </a:solidFill>
                <a:latin typeface="PingFang SC"/>
              </a:rPr>
              <a:t>Scope 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04748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2E7D5B"/>
                </a:solidFill>
                <a:latin typeface="PingFang SC"/>
              </a:rPr>
              <a:t>07/20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10912" y="4352544"/>
            <a:ext cx="164592" cy="256032"/>
          </a:xfrm>
          <a:prstGeom prst="rect">
            <a:avLst/>
          </a:prstGeom>
          <a:solidFill>
            <a:srgbClr val="C7463D"/>
          </a:solidFill>
          <a:ln>
            <a:solidFill>
              <a:srgbClr val="C74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4754880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30" b="1">
                <a:solidFill>
                  <a:srgbClr val="182632"/>
                </a:solidFill>
                <a:latin typeface="PingFang SC"/>
              </a:rPr>
              <a:t>Data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504748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C7463D"/>
                </a:solidFill>
                <a:latin typeface="PingFang SC"/>
              </a:rPr>
              <a:t>07/30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18704" y="4352544"/>
            <a:ext cx="164592" cy="256032"/>
          </a:xfrm>
          <a:prstGeom prst="rect">
            <a:avLst/>
          </a:prstGeom>
          <a:solidFill>
            <a:srgbClr val="D99325"/>
          </a:solidFill>
          <a:ln>
            <a:solidFill>
              <a:srgbClr val="D99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754880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30" b="1">
                <a:solidFill>
                  <a:srgbClr val="182632"/>
                </a:solidFill>
                <a:latin typeface="PingFang SC"/>
              </a:rPr>
              <a:t>Pilot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52944" y="504748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D99325"/>
                </a:solidFill>
                <a:latin typeface="PingFang SC"/>
              </a:rPr>
              <a:t>08/12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26496" y="4352544"/>
            <a:ext cx="164592" cy="256032"/>
          </a:xfrm>
          <a:prstGeom prst="rect">
            <a:avLst/>
          </a:prstGeom>
          <a:solidFill>
            <a:srgbClr val="9AA7B2"/>
          </a:solidFill>
          <a:ln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0736" y="4754880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30" b="1">
                <a:solidFill>
                  <a:srgbClr val="182632"/>
                </a:solidFill>
                <a:latin typeface="PingFang SC"/>
              </a:rPr>
              <a:t>Scale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60736" y="504748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9AA7B2"/>
                </a:solidFill>
                <a:latin typeface="PingFang SC"/>
              </a:rPr>
              <a:t>08/25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" y="5806440"/>
            <a:ext cx="10808208" cy="43891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5916168"/>
            <a:ext cx="104424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管理动作：确认数据 owner、资源重配和 4 周验证门禁；不批准新增范围。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