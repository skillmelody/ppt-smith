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17365D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85489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F6BFF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2E7D32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Platform</c:v>
                </c:pt>
                <c:pt idx="1">
                  <c:v>Data</c:v>
                </c:pt>
                <c:pt idx="2">
                  <c:v>Adoption</c:v>
                </c:pt>
                <c:pt idx="3">
                  <c:v>Controls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21</c:v>
                </c:pt>
                <c:pt idx="3">
                  <c:v>14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ughnut.kicker"/>
          <p:cNvSpPr txBox="1"/>
          <p:nvPr/>
        </p:nvSpPr>
        <p:spPr>
          <a:xfrm>
            <a:off x="512064" y="219456"/>
            <a:ext cx="43891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2F6BFF"/>
                </a:solidFill>
                <a:latin typeface="Aptos"/>
              </a:rPr>
              <a:t>ANNOTATED DOUGHNUT</a:t>
            </a:r>
          </a:p>
        </p:txBody>
      </p:sp>
      <p:sp>
        <p:nvSpPr>
          <p:cNvPr id="3" name="doughnut.title"/>
          <p:cNvSpPr txBox="1"/>
          <p:nvPr/>
        </p:nvSpPr>
        <p:spPr>
          <a:xfrm>
            <a:off x="512064" y="475488"/>
            <a:ext cx="10927080" cy="7132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>
                <a:solidFill>
                  <a:srgbClr val="182230"/>
                </a:solidFill>
                <a:latin typeface="Aptos"/>
              </a:rPr>
              <a:t>Investment mix is concentrated on platform and data foundations</a:t>
            </a:r>
          </a:p>
        </p:txBody>
      </p:sp>
      <p:cxnSp>
        <p:nvCxnSpPr>
          <p:cNvPr id="4" name="doughnut.title_rule"/>
          <p:cNvCxnSpPr/>
          <p:nvPr/>
        </p:nvCxnSpPr>
        <p:spPr>
          <a:xfrm>
            <a:off x="512064" y="1225296"/>
            <a:ext cx="11173968" cy="0"/>
          </a:xfrm>
          <a:prstGeom prst="line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oughnut.footer"/>
          <p:cNvSpPr txBox="1"/>
          <p:nvPr/>
        </p:nvSpPr>
        <p:spPr>
          <a:xfrm>
            <a:off x="8915400" y="6492240"/>
            <a:ext cx="274320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ptos"/>
              </a:rPr>
              <a:t>BOARDROOM INK / NATIVE EDITABLE</a:t>
            </a:r>
          </a:p>
        </p:txBody>
      </p:sp>
      <p:graphicFrame>
        <p:nvGraphicFramePr>
          <p:cNvPr id="6" name="doughnut.native_chart"/>
          <p:cNvGraphicFramePr>
            <a:graphicFrameLocks noGrp="1"/>
          </p:cNvGraphicFramePr>
          <p:nvPr/>
        </p:nvGraphicFramePr>
        <p:xfrm>
          <a:off x="3658514" y="2191359"/>
          <a:ext cx="3326587" cy="332658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doughnut.center_metric"/>
          <p:cNvSpPr txBox="1"/>
          <p:nvPr/>
        </p:nvSpPr>
        <p:spPr>
          <a:xfrm>
            <a:off x="4590288" y="3488893"/>
            <a:ext cx="146304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600" b="1">
                <a:solidFill>
                  <a:srgbClr val="182230"/>
                </a:solidFill>
                <a:latin typeface="Aptos"/>
              </a:rPr>
              <a:t>100%</a:t>
            </a:r>
          </a:p>
        </p:txBody>
      </p:sp>
      <p:sp>
        <p:nvSpPr>
          <p:cNvPr id="8" name="doughnut.center_caption"/>
          <p:cNvSpPr txBox="1"/>
          <p:nvPr/>
        </p:nvSpPr>
        <p:spPr>
          <a:xfrm>
            <a:off x="4791456" y="4055821"/>
            <a:ext cx="106070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portfolio</a:t>
            </a:r>
          </a:p>
        </p:txBody>
      </p:sp>
      <p:cxnSp>
        <p:nvCxnSpPr>
          <p:cNvPr id="9" name="doughnut.leader.1"/>
          <p:cNvCxnSpPr/>
          <p:nvPr/>
        </p:nvCxnSpPr>
        <p:spPr>
          <a:xfrm flipH="1">
            <a:off x="3392424" y="2349660"/>
            <a:ext cx="1221188" cy="201168"/>
          </a:xfrm>
          <a:prstGeom prst="bentConnector3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oughnut.anchor.1"/>
          <p:cNvSpPr/>
          <p:nvPr/>
        </p:nvSpPr>
        <p:spPr>
          <a:xfrm>
            <a:off x="4581608" y="2317656"/>
            <a:ext cx="64008" cy="64008"/>
          </a:xfrm>
          <a:prstGeom prst="ellipse">
            <a:avLst/>
          </a:prstGeom>
          <a:solidFill>
            <a:srgbClr val="2E7D32"/>
          </a:solidFill>
          <a:ln w="825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ughnut.label.1"/>
          <p:cNvSpPr txBox="1"/>
          <p:nvPr/>
        </p:nvSpPr>
        <p:spPr>
          <a:xfrm>
            <a:off x="649224" y="2239932"/>
            <a:ext cx="2743200" cy="6583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900" b="1">
                <a:solidFill>
                  <a:srgbClr val="344054"/>
                </a:solidFill>
                <a:latin typeface="Aptos"/>
              </a:rPr>
              <a:t>Controls  14%</a:t>
            </a:r>
          </a:p>
        </p:txBody>
      </p:sp>
      <p:cxnSp>
        <p:nvCxnSpPr>
          <p:cNvPr id="12" name="doughnut.leader.2"/>
          <p:cNvCxnSpPr/>
          <p:nvPr/>
        </p:nvCxnSpPr>
        <p:spPr>
          <a:xfrm flipH="1">
            <a:off x="3392424" y="3802407"/>
            <a:ext cx="266911" cy="201168"/>
          </a:xfrm>
          <a:prstGeom prst="bentConnector3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oughnut.anchor.2"/>
          <p:cNvSpPr/>
          <p:nvPr/>
        </p:nvSpPr>
        <p:spPr>
          <a:xfrm>
            <a:off x="3627331" y="3770403"/>
            <a:ext cx="64008" cy="64008"/>
          </a:xfrm>
          <a:prstGeom prst="ellipse">
            <a:avLst/>
          </a:prstGeom>
          <a:solidFill>
            <a:srgbClr val="2F6BFF"/>
          </a:solidFill>
          <a:ln w="8255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ughnut.label.2"/>
          <p:cNvSpPr txBox="1"/>
          <p:nvPr/>
        </p:nvSpPr>
        <p:spPr>
          <a:xfrm>
            <a:off x="649224" y="3692679"/>
            <a:ext cx="2743200" cy="6583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900" b="1">
                <a:solidFill>
                  <a:srgbClr val="344054"/>
                </a:solidFill>
                <a:latin typeface="Aptos"/>
              </a:rPr>
              <a:t>Adoption  21%</a:t>
            </a:r>
          </a:p>
        </p:txBody>
      </p:sp>
      <p:cxnSp>
        <p:nvCxnSpPr>
          <p:cNvPr id="15" name="doughnut.leader.3"/>
          <p:cNvCxnSpPr/>
          <p:nvPr/>
        </p:nvCxnSpPr>
        <p:spPr>
          <a:xfrm flipH="1">
            <a:off x="3392424" y="5510565"/>
            <a:ext cx="1772854" cy="201168"/>
          </a:xfrm>
          <a:prstGeom prst="bentConnector3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oughnut.anchor.3"/>
          <p:cNvSpPr/>
          <p:nvPr/>
        </p:nvSpPr>
        <p:spPr>
          <a:xfrm>
            <a:off x="5133274" y="5478561"/>
            <a:ext cx="64008" cy="64008"/>
          </a:xfrm>
          <a:prstGeom prst="ellipse">
            <a:avLst/>
          </a:prstGeom>
          <a:solidFill>
            <a:srgbClr val="285489"/>
          </a:solidFill>
          <a:ln w="8255">
            <a:solidFill>
              <a:srgbClr val="285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ughnut.label.3"/>
          <p:cNvSpPr txBox="1"/>
          <p:nvPr/>
        </p:nvSpPr>
        <p:spPr>
          <a:xfrm>
            <a:off x="649224" y="5400837"/>
            <a:ext cx="2743200" cy="6583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900" b="1">
                <a:solidFill>
                  <a:srgbClr val="344054"/>
                </a:solidFill>
                <a:latin typeface="Aptos"/>
              </a:rPr>
              <a:t>Data  27%</a:t>
            </a:r>
          </a:p>
        </p:txBody>
      </p:sp>
      <p:cxnSp>
        <p:nvCxnSpPr>
          <p:cNvPr id="18" name="doughnut.leader.4"/>
          <p:cNvCxnSpPr/>
          <p:nvPr/>
        </p:nvCxnSpPr>
        <p:spPr>
          <a:xfrm>
            <a:off x="6868299" y="3242353"/>
            <a:ext cx="1919085" cy="201168"/>
          </a:xfrm>
          <a:prstGeom prst="bentConnector3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oughnut.anchor.4"/>
          <p:cNvSpPr/>
          <p:nvPr/>
        </p:nvSpPr>
        <p:spPr>
          <a:xfrm>
            <a:off x="6836295" y="3210349"/>
            <a:ext cx="64008" cy="64008"/>
          </a:xfrm>
          <a:prstGeom prst="ellipse">
            <a:avLst/>
          </a:prstGeom>
          <a:solidFill>
            <a:srgbClr val="17365D"/>
          </a:solidFill>
          <a:ln w="8255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ughnut.label.4"/>
          <p:cNvSpPr txBox="1"/>
          <p:nvPr/>
        </p:nvSpPr>
        <p:spPr>
          <a:xfrm>
            <a:off x="8787384" y="3132625"/>
            <a:ext cx="2743200" cy="6583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Platform  38%</a:t>
            </a:r>
          </a:p>
        </p:txBody>
      </p:sp>
      <p:sp>
        <p:nvSpPr>
          <p:cNvPr id="21" name="doughnut.note"/>
          <p:cNvSpPr txBox="1"/>
          <p:nvPr/>
        </p:nvSpPr>
        <p:spPr>
          <a:xfrm>
            <a:off x="658368" y="5980176"/>
            <a:ext cx="7498079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Native chart data remains editable; labels and leaders are native PowerPoint objects.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admap.kicker"/>
          <p:cNvSpPr txBox="1"/>
          <p:nvPr/>
        </p:nvSpPr>
        <p:spPr>
          <a:xfrm>
            <a:off x="512064" y="219456"/>
            <a:ext cx="43891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2F6BFF"/>
                </a:solidFill>
                <a:latin typeface="Aptos"/>
              </a:rPr>
              <a:t>PHASED ROADMAP</a:t>
            </a:r>
          </a:p>
        </p:txBody>
      </p:sp>
      <p:sp>
        <p:nvSpPr>
          <p:cNvPr id="3" name="roadmap.title"/>
          <p:cNvSpPr txBox="1"/>
          <p:nvPr/>
        </p:nvSpPr>
        <p:spPr>
          <a:xfrm>
            <a:off x="512064" y="475488"/>
            <a:ext cx="10927080" cy="7132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>
                <a:solidFill>
                  <a:srgbClr val="182230"/>
                </a:solidFill>
                <a:latin typeface="Aptos"/>
              </a:rPr>
              <a:t>Four gated phases convert strategy into an auditable scale decision</a:t>
            </a:r>
          </a:p>
        </p:txBody>
      </p:sp>
      <p:cxnSp>
        <p:nvCxnSpPr>
          <p:cNvPr id="4" name="roadmap.title_rule"/>
          <p:cNvCxnSpPr/>
          <p:nvPr/>
        </p:nvCxnSpPr>
        <p:spPr>
          <a:xfrm>
            <a:off x="512064" y="1225296"/>
            <a:ext cx="11173968" cy="0"/>
          </a:xfrm>
          <a:prstGeom prst="line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admap.footer"/>
          <p:cNvSpPr txBox="1"/>
          <p:nvPr/>
        </p:nvSpPr>
        <p:spPr>
          <a:xfrm>
            <a:off x="8915400" y="6492240"/>
            <a:ext cx="274320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ptos"/>
              </a:rPr>
              <a:t>BOARDROOM INK / NATIVE EDITABLE</a:t>
            </a:r>
          </a:p>
        </p:txBody>
      </p:sp>
      <p:sp>
        <p:nvSpPr>
          <p:cNvPr id="6" name="roadmap.phase.1.chevron"/>
          <p:cNvSpPr/>
          <p:nvPr/>
        </p:nvSpPr>
        <p:spPr>
          <a:xfrm>
            <a:off x="603504" y="1316736"/>
            <a:ext cx="2743200" cy="960120"/>
          </a:xfrm>
          <a:prstGeom prst="homePlate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admap.phase.1.header"/>
          <p:cNvSpPr txBox="1"/>
          <p:nvPr/>
        </p:nvSpPr>
        <p:spPr>
          <a:xfrm>
            <a:off x="804672" y="1490472"/>
            <a:ext cx="2340864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  Discover
Jul 2026</a:t>
            </a:r>
          </a:p>
        </p:txBody>
      </p:sp>
      <p:sp>
        <p:nvSpPr>
          <p:cNvPr id="8" name="roadmap.phase.1.objective"/>
          <p:cNvSpPr txBox="1"/>
          <p:nvPr/>
        </p:nvSpPr>
        <p:spPr>
          <a:xfrm>
            <a:off x="749808" y="2889504"/>
            <a:ext cx="2450592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100" b="1">
                <a:solidFill>
                  <a:srgbClr val="182230"/>
                </a:solidFill>
                <a:latin typeface="Aptos"/>
              </a:rPr>
              <a:t>Align value, scope, and governance.</a:t>
            </a:r>
          </a:p>
        </p:txBody>
      </p:sp>
      <p:sp>
        <p:nvSpPr>
          <p:cNvPr id="9" name="roadmap.phase.1.outputs"/>
          <p:cNvSpPr txBox="1"/>
          <p:nvPr/>
        </p:nvSpPr>
        <p:spPr>
          <a:xfrm>
            <a:off x="786384" y="3529584"/>
            <a:ext cx="2377440" cy="6583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• Project charter
• Value baseline</a:t>
            </a:r>
          </a:p>
        </p:txBody>
      </p:sp>
      <p:sp>
        <p:nvSpPr>
          <p:cNvPr id="10" name="roadmap.phase.1.exit_panel"/>
          <p:cNvSpPr/>
          <p:nvPr/>
        </p:nvSpPr>
        <p:spPr>
          <a:xfrm>
            <a:off x="694944" y="4992623"/>
            <a:ext cx="2560320" cy="566928"/>
          </a:xfrm>
          <a:prstGeom prst="rect">
            <a:avLst/>
          </a:prstGeom>
          <a:solidFill>
            <a:srgbClr val="F7F8FA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admap.phase.1.exit"/>
          <p:cNvSpPr txBox="1"/>
          <p:nvPr/>
        </p:nvSpPr>
        <p:spPr>
          <a:xfrm>
            <a:off x="768096" y="5065775"/>
            <a:ext cx="2414016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344054"/>
                </a:solidFill>
                <a:latin typeface="Aptos"/>
              </a:rPr>
              <a:t>EXIT
Scope and value baseline signed</a:t>
            </a:r>
          </a:p>
        </p:txBody>
      </p:sp>
      <p:sp>
        <p:nvSpPr>
          <p:cNvPr id="12" name="roadmap.phase.2.chevron"/>
          <p:cNvSpPr/>
          <p:nvPr/>
        </p:nvSpPr>
        <p:spPr>
          <a:xfrm>
            <a:off x="2889504" y="1316736"/>
            <a:ext cx="3200400" cy="960120"/>
          </a:xfrm>
          <a:prstGeom prst="chevron">
            <a:avLst/>
          </a:prstGeom>
          <a:solidFill>
            <a:srgbClr val="285489"/>
          </a:solidFill>
          <a:ln>
            <a:solidFill>
              <a:srgbClr val="285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admap.phase.2.header"/>
          <p:cNvSpPr txBox="1"/>
          <p:nvPr/>
        </p:nvSpPr>
        <p:spPr>
          <a:xfrm>
            <a:off x="3547872" y="1490472"/>
            <a:ext cx="2340864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  Design
Aug 2026</a:t>
            </a:r>
          </a:p>
        </p:txBody>
      </p:sp>
      <p:sp>
        <p:nvSpPr>
          <p:cNvPr id="14" name="roadmap.phase.2.objective"/>
          <p:cNvSpPr txBox="1"/>
          <p:nvPr/>
        </p:nvSpPr>
        <p:spPr>
          <a:xfrm>
            <a:off x="3493008" y="2889504"/>
            <a:ext cx="2450592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100" b="1">
                <a:solidFill>
                  <a:srgbClr val="182230"/>
                </a:solidFill>
                <a:latin typeface="Aptos"/>
              </a:rPr>
              <a:t>Define target process and solution.</a:t>
            </a:r>
          </a:p>
        </p:txBody>
      </p:sp>
      <p:sp>
        <p:nvSpPr>
          <p:cNvPr id="15" name="roadmap.phase.2.outputs"/>
          <p:cNvSpPr txBox="1"/>
          <p:nvPr/>
        </p:nvSpPr>
        <p:spPr>
          <a:xfrm>
            <a:off x="3529584" y="3529584"/>
            <a:ext cx="2377440" cy="6583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• Solution blueprint
• Control design</a:t>
            </a:r>
          </a:p>
        </p:txBody>
      </p:sp>
      <p:sp>
        <p:nvSpPr>
          <p:cNvPr id="16" name="roadmap.phase.2.exit_panel"/>
          <p:cNvSpPr/>
          <p:nvPr/>
        </p:nvSpPr>
        <p:spPr>
          <a:xfrm>
            <a:off x="3438144" y="4992623"/>
            <a:ext cx="2560320" cy="566928"/>
          </a:xfrm>
          <a:prstGeom prst="rect">
            <a:avLst/>
          </a:prstGeom>
          <a:solidFill>
            <a:srgbClr val="F7F8FA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admap.phase.2.exit"/>
          <p:cNvSpPr txBox="1"/>
          <p:nvPr/>
        </p:nvSpPr>
        <p:spPr>
          <a:xfrm>
            <a:off x="3511296" y="5065775"/>
            <a:ext cx="2414016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344054"/>
                </a:solidFill>
                <a:latin typeface="Aptos"/>
              </a:rPr>
              <a:t>EXIT
Design authority approval</a:t>
            </a:r>
          </a:p>
        </p:txBody>
      </p:sp>
      <p:sp>
        <p:nvSpPr>
          <p:cNvPr id="18" name="roadmap.phase.3.chevron"/>
          <p:cNvSpPr/>
          <p:nvPr/>
        </p:nvSpPr>
        <p:spPr>
          <a:xfrm>
            <a:off x="5632704" y="1316736"/>
            <a:ext cx="3200400" cy="960120"/>
          </a:xfrm>
          <a:prstGeom prst="chevron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admap.phase.3.header"/>
          <p:cNvSpPr txBox="1"/>
          <p:nvPr/>
        </p:nvSpPr>
        <p:spPr>
          <a:xfrm>
            <a:off x="6291072" y="1490472"/>
            <a:ext cx="2340864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  Pilot
Sep-Oct 2026</a:t>
            </a:r>
          </a:p>
        </p:txBody>
      </p:sp>
      <p:sp>
        <p:nvSpPr>
          <p:cNvPr id="20" name="roadmap.phase.3.objective"/>
          <p:cNvSpPr txBox="1"/>
          <p:nvPr/>
        </p:nvSpPr>
        <p:spPr>
          <a:xfrm>
            <a:off x="6236208" y="2889504"/>
            <a:ext cx="2450592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100" b="1">
                <a:solidFill>
                  <a:srgbClr val="182230"/>
                </a:solidFill>
                <a:latin typeface="Aptos"/>
              </a:rPr>
              <a:t>Prove operational and commercial evidence.</a:t>
            </a:r>
          </a:p>
        </p:txBody>
      </p:sp>
      <p:sp>
        <p:nvSpPr>
          <p:cNvPr id="21" name="roadmap.phase.3.outputs"/>
          <p:cNvSpPr txBox="1"/>
          <p:nvPr/>
        </p:nvSpPr>
        <p:spPr>
          <a:xfrm>
            <a:off x="6272784" y="3529584"/>
            <a:ext cx="2377440" cy="6583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• Pilot release
• Adoption evidence</a:t>
            </a:r>
          </a:p>
        </p:txBody>
      </p:sp>
      <p:sp>
        <p:nvSpPr>
          <p:cNvPr id="22" name="roadmap.phase.3.exit_panel"/>
          <p:cNvSpPr/>
          <p:nvPr/>
        </p:nvSpPr>
        <p:spPr>
          <a:xfrm>
            <a:off x="6181344" y="4992623"/>
            <a:ext cx="2560320" cy="566928"/>
          </a:xfrm>
          <a:prstGeom prst="rect">
            <a:avLst/>
          </a:prstGeom>
          <a:solidFill>
            <a:srgbClr val="F7F8FA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admap.phase.3.exit"/>
          <p:cNvSpPr txBox="1"/>
          <p:nvPr/>
        </p:nvSpPr>
        <p:spPr>
          <a:xfrm>
            <a:off x="6254496" y="5065775"/>
            <a:ext cx="2414016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344054"/>
                </a:solidFill>
                <a:latin typeface="Aptos"/>
              </a:rPr>
              <a:t>EXIT
Pilot thresholds achieved</a:t>
            </a:r>
          </a:p>
        </p:txBody>
      </p:sp>
      <p:sp>
        <p:nvSpPr>
          <p:cNvPr id="24" name="roadmap.phase.4.chevron"/>
          <p:cNvSpPr/>
          <p:nvPr/>
        </p:nvSpPr>
        <p:spPr>
          <a:xfrm>
            <a:off x="8375904" y="1316736"/>
            <a:ext cx="3200400" cy="960120"/>
          </a:xfrm>
          <a:prstGeom prst="chevron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admap.phase.4.header"/>
          <p:cNvSpPr txBox="1"/>
          <p:nvPr/>
        </p:nvSpPr>
        <p:spPr>
          <a:xfrm>
            <a:off x="9034272" y="1490472"/>
            <a:ext cx="2340864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04  Scale
Nov-Dec 2026</a:t>
            </a:r>
          </a:p>
        </p:txBody>
      </p:sp>
      <p:sp>
        <p:nvSpPr>
          <p:cNvPr id="26" name="roadmap.phase.4.objective"/>
          <p:cNvSpPr txBox="1"/>
          <p:nvPr/>
        </p:nvSpPr>
        <p:spPr>
          <a:xfrm>
            <a:off x="8979408" y="2889504"/>
            <a:ext cx="2450592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100" b="1">
                <a:solidFill>
                  <a:srgbClr val="182230"/>
                </a:solidFill>
                <a:latin typeface="Aptos"/>
              </a:rPr>
              <a:t>Industrialize delivery and benefits tracking.</a:t>
            </a:r>
          </a:p>
        </p:txBody>
      </p:sp>
      <p:sp>
        <p:nvSpPr>
          <p:cNvPr id="27" name="roadmap.phase.4.outputs"/>
          <p:cNvSpPr txBox="1"/>
          <p:nvPr/>
        </p:nvSpPr>
        <p:spPr>
          <a:xfrm>
            <a:off x="9015984" y="3529584"/>
            <a:ext cx="2377440" cy="6583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• Scale runbook
• Benefits dashboard</a:t>
            </a:r>
          </a:p>
        </p:txBody>
      </p:sp>
      <p:sp>
        <p:nvSpPr>
          <p:cNvPr id="28" name="roadmap.phase.4.exit_panel"/>
          <p:cNvSpPr/>
          <p:nvPr/>
        </p:nvSpPr>
        <p:spPr>
          <a:xfrm>
            <a:off x="8924544" y="4992623"/>
            <a:ext cx="2560320" cy="566928"/>
          </a:xfrm>
          <a:prstGeom prst="rect">
            <a:avLst/>
          </a:prstGeom>
          <a:solidFill>
            <a:srgbClr val="F7F8FA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admap.phase.4.exit"/>
          <p:cNvSpPr txBox="1"/>
          <p:nvPr/>
        </p:nvSpPr>
        <p:spPr>
          <a:xfrm>
            <a:off x="8997696" y="5065775"/>
            <a:ext cx="2414016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344054"/>
                </a:solidFill>
                <a:latin typeface="Aptos"/>
              </a:rPr>
              <a:t>EXIT
SteerCo scale decision</a:t>
            </a:r>
          </a:p>
        </p:txBody>
      </p:sp>
      <p:cxnSp>
        <p:nvCxnSpPr>
          <p:cNvPr id="30" name="roadmap.gate_channel"/>
          <p:cNvCxnSpPr/>
          <p:nvPr/>
        </p:nvCxnSpPr>
        <p:spPr>
          <a:xfrm>
            <a:off x="649224" y="2542032"/>
            <a:ext cx="10881360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admap.gate.1.diamond"/>
          <p:cNvSpPr/>
          <p:nvPr/>
        </p:nvSpPr>
        <p:spPr>
          <a:xfrm>
            <a:off x="3255264" y="2450592"/>
            <a:ext cx="182880" cy="182880"/>
          </a:xfrm>
          <a:prstGeom prst="diamond">
            <a:avLst/>
          </a:prstGeom>
          <a:solidFill>
            <a:srgbClr val="F2994A"/>
          </a:solidFill>
          <a:ln w="8255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admap.gate.1.label"/>
          <p:cNvSpPr txBox="1"/>
          <p:nvPr/>
        </p:nvSpPr>
        <p:spPr>
          <a:xfrm>
            <a:off x="3090672" y="2670048"/>
            <a:ext cx="512064" cy="17373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667085"/>
                </a:solidFill>
                <a:latin typeface="Aptos"/>
              </a:rPr>
              <a:t>G1</a:t>
            </a:r>
          </a:p>
        </p:txBody>
      </p:sp>
      <p:sp>
        <p:nvSpPr>
          <p:cNvPr id="33" name="roadmap.gate.2.diamond"/>
          <p:cNvSpPr/>
          <p:nvPr/>
        </p:nvSpPr>
        <p:spPr>
          <a:xfrm>
            <a:off x="5998464" y="2450592"/>
            <a:ext cx="182880" cy="182880"/>
          </a:xfrm>
          <a:prstGeom prst="diamond">
            <a:avLst/>
          </a:prstGeom>
          <a:solidFill>
            <a:srgbClr val="F2994A"/>
          </a:solidFill>
          <a:ln w="8255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admap.gate.2.label"/>
          <p:cNvSpPr txBox="1"/>
          <p:nvPr/>
        </p:nvSpPr>
        <p:spPr>
          <a:xfrm>
            <a:off x="5833872" y="2670048"/>
            <a:ext cx="512064" cy="17373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667085"/>
                </a:solidFill>
                <a:latin typeface="Aptos"/>
              </a:rPr>
              <a:t>G2</a:t>
            </a:r>
          </a:p>
        </p:txBody>
      </p:sp>
      <p:sp>
        <p:nvSpPr>
          <p:cNvPr id="35" name="roadmap.gate.3.diamond"/>
          <p:cNvSpPr/>
          <p:nvPr/>
        </p:nvSpPr>
        <p:spPr>
          <a:xfrm>
            <a:off x="8741664" y="2450592"/>
            <a:ext cx="182880" cy="182880"/>
          </a:xfrm>
          <a:prstGeom prst="diamond">
            <a:avLst/>
          </a:prstGeom>
          <a:solidFill>
            <a:srgbClr val="F2994A"/>
          </a:solidFill>
          <a:ln w="8255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admap.gate.3.label"/>
          <p:cNvSpPr txBox="1"/>
          <p:nvPr/>
        </p:nvSpPr>
        <p:spPr>
          <a:xfrm>
            <a:off x="8577072" y="2670048"/>
            <a:ext cx="512064" cy="17373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667085"/>
                </a:solidFill>
                <a:latin typeface="Aptos"/>
              </a:rPr>
              <a:t>G3</a:t>
            </a:r>
          </a:p>
        </p:txBody>
      </p:sp>
      <p:sp>
        <p:nvSpPr>
          <p:cNvPr id="37" name="roadmap.gate.4.diamond"/>
          <p:cNvSpPr/>
          <p:nvPr/>
        </p:nvSpPr>
        <p:spPr>
          <a:xfrm>
            <a:off x="11375136" y="2450592"/>
            <a:ext cx="182880" cy="182880"/>
          </a:xfrm>
          <a:prstGeom prst="diamond">
            <a:avLst/>
          </a:prstGeom>
          <a:solidFill>
            <a:srgbClr val="F2994A"/>
          </a:solidFill>
          <a:ln w="8255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admap.gate.4.label"/>
          <p:cNvSpPr txBox="1"/>
          <p:nvPr/>
        </p:nvSpPr>
        <p:spPr>
          <a:xfrm>
            <a:off x="11210544" y="2670048"/>
            <a:ext cx="512064" cy="17373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667085"/>
                </a:solidFill>
                <a:latin typeface="Aptos"/>
              </a:rPr>
              <a:t>G4</a:t>
            </a:r>
          </a:p>
        </p:txBody>
      </p:sp>
      <p:sp>
        <p:nvSpPr>
          <p:cNvPr id="39" name="roadmap.duration_bar"/>
          <p:cNvSpPr/>
          <p:nvPr/>
        </p:nvSpPr>
        <p:spPr>
          <a:xfrm>
            <a:off x="603504" y="5779007"/>
            <a:ext cx="10972800" cy="329184"/>
          </a:xfrm>
          <a:prstGeom prst="rect">
            <a:avLst/>
          </a:prstGeom>
          <a:solidFill>
            <a:srgbClr val="17365D"/>
          </a:solidFill>
          <a:ln w="8255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admap.duration_label"/>
          <p:cNvSpPr txBox="1"/>
          <p:nvPr/>
        </p:nvSpPr>
        <p:spPr>
          <a:xfrm>
            <a:off x="786384" y="5843016"/>
            <a:ext cx="1060704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TOTAL DURATION  |  JUL-DEC 2026  |  SCALE DECISION AT G4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antt.kicker"/>
          <p:cNvSpPr txBox="1"/>
          <p:nvPr/>
        </p:nvSpPr>
        <p:spPr>
          <a:xfrm>
            <a:off x="512064" y="219456"/>
            <a:ext cx="43891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2F6BFF"/>
                </a:solidFill>
                <a:latin typeface="Aptos"/>
              </a:rPr>
              <a:t>GANTT TIMELINE</a:t>
            </a:r>
          </a:p>
        </p:txBody>
      </p:sp>
      <p:sp>
        <p:nvSpPr>
          <p:cNvPr id="3" name="gantt.title"/>
          <p:cNvSpPr txBox="1"/>
          <p:nvPr/>
        </p:nvSpPr>
        <p:spPr>
          <a:xfrm>
            <a:off x="512064" y="475488"/>
            <a:ext cx="10927080" cy="7132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>
                <a:solidFill>
                  <a:srgbClr val="182230"/>
                </a:solidFill>
                <a:latin typeface="Aptos"/>
              </a:rPr>
              <a:t>Pilot schedule remains on plan, with data migration on watch</a:t>
            </a:r>
          </a:p>
        </p:txBody>
      </p:sp>
      <p:cxnSp>
        <p:nvCxnSpPr>
          <p:cNvPr id="4" name="gantt.title_rule"/>
          <p:cNvCxnSpPr/>
          <p:nvPr/>
        </p:nvCxnSpPr>
        <p:spPr>
          <a:xfrm>
            <a:off x="512064" y="1225296"/>
            <a:ext cx="11173968" cy="0"/>
          </a:xfrm>
          <a:prstGeom prst="line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gantt.footer"/>
          <p:cNvSpPr txBox="1"/>
          <p:nvPr/>
        </p:nvSpPr>
        <p:spPr>
          <a:xfrm>
            <a:off x="8915400" y="6492240"/>
            <a:ext cx="274320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ptos"/>
              </a:rPr>
              <a:t>BOARDROOM INK / NATIVE EDITABLE</a:t>
            </a:r>
          </a:p>
        </p:txBody>
      </p:sp>
      <p:sp>
        <p:nvSpPr>
          <p:cNvPr id="6" name="gantt.task_header"/>
          <p:cNvSpPr/>
          <p:nvPr/>
        </p:nvSpPr>
        <p:spPr>
          <a:xfrm>
            <a:off x="548640" y="1335024"/>
            <a:ext cx="2029968" cy="658368"/>
          </a:xfrm>
          <a:prstGeom prst="rect">
            <a:avLst/>
          </a:prstGeom>
          <a:solidFill>
            <a:srgbClr val="17365D"/>
          </a:solidFill>
          <a:ln w="8255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antt.owner_header"/>
          <p:cNvSpPr/>
          <p:nvPr/>
        </p:nvSpPr>
        <p:spPr>
          <a:xfrm>
            <a:off x="2578608" y="1335024"/>
            <a:ext cx="713232" cy="658368"/>
          </a:xfrm>
          <a:prstGeom prst="rect">
            <a:avLst/>
          </a:prstGeom>
          <a:solidFill>
            <a:srgbClr val="17365D"/>
          </a:solidFill>
          <a:ln w="8255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antt.task_header_label"/>
          <p:cNvSpPr txBox="1"/>
          <p:nvPr/>
        </p:nvSpPr>
        <p:spPr>
          <a:xfrm>
            <a:off x="658368" y="1554480"/>
            <a:ext cx="181051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TASK / DELIVERABLE</a:t>
            </a:r>
          </a:p>
        </p:txBody>
      </p:sp>
      <p:sp>
        <p:nvSpPr>
          <p:cNvPr id="9" name="gantt.owner_header_label"/>
          <p:cNvSpPr txBox="1"/>
          <p:nvPr/>
        </p:nvSpPr>
        <p:spPr>
          <a:xfrm>
            <a:off x="2624327" y="1554480"/>
            <a:ext cx="62179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10" name="gantt.timeline_header"/>
          <p:cNvSpPr/>
          <p:nvPr/>
        </p:nvSpPr>
        <p:spPr>
          <a:xfrm>
            <a:off x="3291840" y="1335024"/>
            <a:ext cx="8302752" cy="658368"/>
          </a:xfrm>
          <a:prstGeom prst="rect">
            <a:avLst/>
          </a:prstGeom>
          <a:solidFill>
            <a:srgbClr val="F7F8FA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antt.month.1"/>
          <p:cNvSpPr txBox="1"/>
          <p:nvPr/>
        </p:nvSpPr>
        <p:spPr>
          <a:xfrm>
            <a:off x="3291840" y="1380744"/>
            <a:ext cx="2828410" cy="2103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182230"/>
                </a:solidFill>
                <a:latin typeface="Aptos"/>
              </a:rPr>
              <a:t>Jul 2026</a:t>
            </a:r>
          </a:p>
        </p:txBody>
      </p:sp>
      <p:sp>
        <p:nvSpPr>
          <p:cNvPr id="12" name="gantt.month.2"/>
          <p:cNvSpPr txBox="1"/>
          <p:nvPr/>
        </p:nvSpPr>
        <p:spPr>
          <a:xfrm>
            <a:off x="6120250" y="1380744"/>
            <a:ext cx="2828410" cy="2103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182230"/>
                </a:solidFill>
                <a:latin typeface="Aptos"/>
              </a:rPr>
              <a:t>Aug 2026</a:t>
            </a:r>
          </a:p>
        </p:txBody>
      </p:sp>
      <p:sp>
        <p:nvSpPr>
          <p:cNvPr id="13" name="gantt.month.3"/>
          <p:cNvSpPr txBox="1"/>
          <p:nvPr/>
        </p:nvSpPr>
        <p:spPr>
          <a:xfrm>
            <a:off x="8948660" y="1380744"/>
            <a:ext cx="2645931" cy="2103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182230"/>
                </a:solidFill>
                <a:latin typeface="Aptos"/>
              </a:rPr>
              <a:t>Sep 2026</a:t>
            </a:r>
          </a:p>
        </p:txBody>
      </p:sp>
      <p:cxnSp>
        <p:nvCxnSpPr>
          <p:cNvPr id="14" name="gantt.week_grid.1"/>
          <p:cNvCxnSpPr/>
          <p:nvPr/>
        </p:nvCxnSpPr>
        <p:spPr>
          <a:xfrm>
            <a:off x="3291840" y="1618488"/>
            <a:ext cx="0" cy="4242816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gantt.week_label.1"/>
          <p:cNvSpPr txBox="1"/>
          <p:nvPr/>
        </p:nvSpPr>
        <p:spPr>
          <a:xfrm>
            <a:off x="3291840" y="1673352"/>
            <a:ext cx="638673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W1
01-08</a:t>
            </a:r>
          </a:p>
        </p:txBody>
      </p:sp>
      <p:cxnSp>
        <p:nvCxnSpPr>
          <p:cNvPr id="16" name="gantt.week_grid.2"/>
          <p:cNvCxnSpPr/>
          <p:nvPr/>
        </p:nvCxnSpPr>
        <p:spPr>
          <a:xfrm>
            <a:off x="3930513" y="1618488"/>
            <a:ext cx="0" cy="4242816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antt.week_label.2"/>
          <p:cNvSpPr txBox="1"/>
          <p:nvPr/>
        </p:nvSpPr>
        <p:spPr>
          <a:xfrm>
            <a:off x="3930513" y="1673352"/>
            <a:ext cx="638673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W2
08-15</a:t>
            </a:r>
          </a:p>
        </p:txBody>
      </p:sp>
      <p:cxnSp>
        <p:nvCxnSpPr>
          <p:cNvPr id="18" name="gantt.week_grid.3"/>
          <p:cNvCxnSpPr/>
          <p:nvPr/>
        </p:nvCxnSpPr>
        <p:spPr>
          <a:xfrm>
            <a:off x="4569186" y="1618488"/>
            <a:ext cx="0" cy="4242816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gantt.week_label.3"/>
          <p:cNvSpPr txBox="1"/>
          <p:nvPr/>
        </p:nvSpPr>
        <p:spPr>
          <a:xfrm>
            <a:off x="4569186" y="1673352"/>
            <a:ext cx="638673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W3
15-22</a:t>
            </a:r>
          </a:p>
        </p:txBody>
      </p:sp>
      <p:cxnSp>
        <p:nvCxnSpPr>
          <p:cNvPr id="20" name="gantt.week_grid.4"/>
          <p:cNvCxnSpPr/>
          <p:nvPr/>
        </p:nvCxnSpPr>
        <p:spPr>
          <a:xfrm>
            <a:off x="5207859" y="1618488"/>
            <a:ext cx="0" cy="4242816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gantt.week_label.4"/>
          <p:cNvSpPr txBox="1"/>
          <p:nvPr/>
        </p:nvSpPr>
        <p:spPr>
          <a:xfrm>
            <a:off x="5207859" y="1673352"/>
            <a:ext cx="638673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W4
22-29</a:t>
            </a:r>
          </a:p>
        </p:txBody>
      </p:sp>
      <p:cxnSp>
        <p:nvCxnSpPr>
          <p:cNvPr id="22" name="gantt.week_grid.5"/>
          <p:cNvCxnSpPr/>
          <p:nvPr/>
        </p:nvCxnSpPr>
        <p:spPr>
          <a:xfrm>
            <a:off x="5846532" y="1618488"/>
            <a:ext cx="0" cy="4242816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gantt.week_label.5"/>
          <p:cNvSpPr txBox="1"/>
          <p:nvPr/>
        </p:nvSpPr>
        <p:spPr>
          <a:xfrm>
            <a:off x="5846532" y="1673352"/>
            <a:ext cx="638673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W5
29-05</a:t>
            </a:r>
          </a:p>
        </p:txBody>
      </p:sp>
      <p:cxnSp>
        <p:nvCxnSpPr>
          <p:cNvPr id="24" name="gantt.week_grid.6"/>
          <p:cNvCxnSpPr/>
          <p:nvPr/>
        </p:nvCxnSpPr>
        <p:spPr>
          <a:xfrm>
            <a:off x="6485206" y="1618488"/>
            <a:ext cx="0" cy="4242816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gantt.week_label.6"/>
          <p:cNvSpPr txBox="1"/>
          <p:nvPr/>
        </p:nvSpPr>
        <p:spPr>
          <a:xfrm>
            <a:off x="6485206" y="1673352"/>
            <a:ext cx="638673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W6
05-12</a:t>
            </a:r>
          </a:p>
        </p:txBody>
      </p:sp>
      <p:cxnSp>
        <p:nvCxnSpPr>
          <p:cNvPr id="26" name="gantt.week_grid.7"/>
          <p:cNvCxnSpPr/>
          <p:nvPr/>
        </p:nvCxnSpPr>
        <p:spPr>
          <a:xfrm>
            <a:off x="7123879" y="1618488"/>
            <a:ext cx="0" cy="4242816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gantt.week_label.7"/>
          <p:cNvSpPr txBox="1"/>
          <p:nvPr/>
        </p:nvSpPr>
        <p:spPr>
          <a:xfrm>
            <a:off x="7123879" y="1673352"/>
            <a:ext cx="638673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W7
12-19</a:t>
            </a:r>
          </a:p>
        </p:txBody>
      </p:sp>
      <p:cxnSp>
        <p:nvCxnSpPr>
          <p:cNvPr id="28" name="gantt.week_grid.8"/>
          <p:cNvCxnSpPr/>
          <p:nvPr/>
        </p:nvCxnSpPr>
        <p:spPr>
          <a:xfrm>
            <a:off x="7762552" y="1618488"/>
            <a:ext cx="0" cy="4242816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gantt.week_label.8"/>
          <p:cNvSpPr txBox="1"/>
          <p:nvPr/>
        </p:nvSpPr>
        <p:spPr>
          <a:xfrm>
            <a:off x="7762552" y="1673352"/>
            <a:ext cx="638673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W8
19-26</a:t>
            </a:r>
          </a:p>
        </p:txBody>
      </p:sp>
      <p:cxnSp>
        <p:nvCxnSpPr>
          <p:cNvPr id="30" name="gantt.week_grid.9"/>
          <p:cNvCxnSpPr/>
          <p:nvPr/>
        </p:nvCxnSpPr>
        <p:spPr>
          <a:xfrm>
            <a:off x="8401225" y="1618488"/>
            <a:ext cx="0" cy="4242816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gantt.week_label.9"/>
          <p:cNvSpPr txBox="1"/>
          <p:nvPr/>
        </p:nvSpPr>
        <p:spPr>
          <a:xfrm>
            <a:off x="8401225" y="1673352"/>
            <a:ext cx="638673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W9
26-02</a:t>
            </a:r>
          </a:p>
        </p:txBody>
      </p:sp>
      <p:cxnSp>
        <p:nvCxnSpPr>
          <p:cNvPr id="32" name="gantt.week_grid.10"/>
          <p:cNvCxnSpPr/>
          <p:nvPr/>
        </p:nvCxnSpPr>
        <p:spPr>
          <a:xfrm>
            <a:off x="9039899" y="1618488"/>
            <a:ext cx="0" cy="4242816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gantt.week_label.10"/>
          <p:cNvSpPr txBox="1"/>
          <p:nvPr/>
        </p:nvSpPr>
        <p:spPr>
          <a:xfrm>
            <a:off x="9039899" y="1673352"/>
            <a:ext cx="638673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W10
02-09</a:t>
            </a:r>
          </a:p>
        </p:txBody>
      </p:sp>
      <p:cxnSp>
        <p:nvCxnSpPr>
          <p:cNvPr id="34" name="gantt.week_grid.11"/>
          <p:cNvCxnSpPr/>
          <p:nvPr/>
        </p:nvCxnSpPr>
        <p:spPr>
          <a:xfrm>
            <a:off x="9678572" y="1618488"/>
            <a:ext cx="0" cy="4242816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gantt.week_label.11"/>
          <p:cNvSpPr txBox="1"/>
          <p:nvPr/>
        </p:nvSpPr>
        <p:spPr>
          <a:xfrm>
            <a:off x="9678572" y="1673352"/>
            <a:ext cx="638673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W11
09-16</a:t>
            </a:r>
          </a:p>
        </p:txBody>
      </p:sp>
      <p:cxnSp>
        <p:nvCxnSpPr>
          <p:cNvPr id="36" name="gantt.week_grid.12"/>
          <p:cNvCxnSpPr/>
          <p:nvPr/>
        </p:nvCxnSpPr>
        <p:spPr>
          <a:xfrm>
            <a:off x="10317245" y="1618488"/>
            <a:ext cx="0" cy="4242816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gantt.week_label.12"/>
          <p:cNvSpPr txBox="1"/>
          <p:nvPr/>
        </p:nvSpPr>
        <p:spPr>
          <a:xfrm>
            <a:off x="10317245" y="1673352"/>
            <a:ext cx="638673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W12
16-23</a:t>
            </a:r>
          </a:p>
        </p:txBody>
      </p:sp>
      <p:cxnSp>
        <p:nvCxnSpPr>
          <p:cNvPr id="38" name="gantt.week_grid.13"/>
          <p:cNvCxnSpPr/>
          <p:nvPr/>
        </p:nvCxnSpPr>
        <p:spPr>
          <a:xfrm>
            <a:off x="10955918" y="1618488"/>
            <a:ext cx="0" cy="4242816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gantt.week_label.13"/>
          <p:cNvSpPr txBox="1"/>
          <p:nvPr/>
        </p:nvSpPr>
        <p:spPr>
          <a:xfrm>
            <a:off x="10955918" y="1673352"/>
            <a:ext cx="638673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W13
23-30</a:t>
            </a:r>
          </a:p>
        </p:txBody>
      </p:sp>
      <p:cxnSp>
        <p:nvCxnSpPr>
          <p:cNvPr id="40" name="gantt.week_grid.end"/>
          <p:cNvCxnSpPr/>
          <p:nvPr/>
        </p:nvCxnSpPr>
        <p:spPr>
          <a:xfrm>
            <a:off x="11594592" y="1618488"/>
            <a:ext cx="0" cy="4242816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gantt.row.1.task_cell"/>
          <p:cNvSpPr/>
          <p:nvPr/>
        </p:nvSpPr>
        <p:spPr>
          <a:xfrm>
            <a:off x="548640" y="1901951"/>
            <a:ext cx="2029968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antt.row.1.owner_cell"/>
          <p:cNvSpPr/>
          <p:nvPr/>
        </p:nvSpPr>
        <p:spPr>
          <a:xfrm>
            <a:off x="2578608" y="1901951"/>
            <a:ext cx="713232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antt.row.1.task"/>
          <p:cNvSpPr txBox="1"/>
          <p:nvPr/>
        </p:nvSpPr>
        <p:spPr>
          <a:xfrm>
            <a:off x="658368" y="1975103"/>
            <a:ext cx="1810512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Governance setup</a:t>
            </a:r>
          </a:p>
        </p:txBody>
      </p:sp>
      <p:sp>
        <p:nvSpPr>
          <p:cNvPr id="44" name="gantt.row.1.owner"/>
          <p:cNvSpPr txBox="1"/>
          <p:nvPr/>
        </p:nvSpPr>
        <p:spPr>
          <a:xfrm>
            <a:off x="2615184" y="1975103"/>
            <a:ext cx="6400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PMO</a:t>
            </a:r>
          </a:p>
        </p:txBody>
      </p:sp>
      <p:cxnSp>
        <p:nvCxnSpPr>
          <p:cNvPr id="45" name="gantt.row.1.rule"/>
          <p:cNvCxnSpPr/>
          <p:nvPr/>
        </p:nvCxnSpPr>
        <p:spPr>
          <a:xfrm>
            <a:off x="3291840" y="2670048"/>
            <a:ext cx="8302752" cy="0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gantt.row.1.planned.1"/>
          <p:cNvSpPr/>
          <p:nvPr/>
        </p:nvSpPr>
        <p:spPr>
          <a:xfrm>
            <a:off x="3291840" y="2029967"/>
            <a:ext cx="2098497" cy="164592"/>
          </a:xfrm>
          <a:prstGeom prst="round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antt.row.1.actual.1"/>
          <p:cNvSpPr/>
          <p:nvPr/>
        </p:nvSpPr>
        <p:spPr>
          <a:xfrm>
            <a:off x="3291840" y="2071115"/>
            <a:ext cx="1916019" cy="82296"/>
          </a:xfrm>
          <a:prstGeom prst="round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antt.row.1.health"/>
          <p:cNvSpPr/>
          <p:nvPr/>
        </p:nvSpPr>
        <p:spPr>
          <a:xfrm>
            <a:off x="5157567" y="2061972"/>
            <a:ext cx="100584" cy="100584"/>
          </a:xfrm>
          <a:prstGeom prst="ellipse">
            <a:avLst/>
          </a:prstGeom>
          <a:solidFill>
            <a:srgbClr val="2E7D32"/>
          </a:solidFill>
          <a:ln w="825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antt.row.1.milestone.1"/>
          <p:cNvSpPr/>
          <p:nvPr/>
        </p:nvSpPr>
        <p:spPr>
          <a:xfrm>
            <a:off x="5308041" y="2002535"/>
            <a:ext cx="164592" cy="164592"/>
          </a:xfrm>
          <a:prstGeom prst="diamond">
            <a:avLst/>
          </a:prstGeom>
          <a:solidFill>
            <a:srgbClr val="F2994A"/>
          </a:solidFill>
          <a:ln w="8255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antt.row.2.task_cell"/>
          <p:cNvSpPr/>
          <p:nvPr/>
        </p:nvSpPr>
        <p:spPr>
          <a:xfrm>
            <a:off x="548640" y="2670047"/>
            <a:ext cx="2029968" cy="768096"/>
          </a:xfrm>
          <a:prstGeom prst="rect">
            <a:avLst/>
          </a:prstGeom>
          <a:solidFill>
            <a:srgbClr val="F7F8FA"/>
          </a:solidFill>
          <a:ln w="63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antt.row.2.owner_cell"/>
          <p:cNvSpPr/>
          <p:nvPr/>
        </p:nvSpPr>
        <p:spPr>
          <a:xfrm>
            <a:off x="2578608" y="2670047"/>
            <a:ext cx="713232" cy="768096"/>
          </a:xfrm>
          <a:prstGeom prst="rect">
            <a:avLst/>
          </a:prstGeom>
          <a:solidFill>
            <a:srgbClr val="F7F8FA"/>
          </a:solidFill>
          <a:ln w="63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antt.row.2.task"/>
          <p:cNvSpPr txBox="1"/>
          <p:nvPr/>
        </p:nvSpPr>
        <p:spPr>
          <a:xfrm>
            <a:off x="658368" y="2743199"/>
            <a:ext cx="1810512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Solution design</a:t>
            </a:r>
          </a:p>
        </p:txBody>
      </p:sp>
      <p:sp>
        <p:nvSpPr>
          <p:cNvPr id="53" name="gantt.row.2.owner"/>
          <p:cNvSpPr txBox="1"/>
          <p:nvPr/>
        </p:nvSpPr>
        <p:spPr>
          <a:xfrm>
            <a:off x="2615184" y="2743199"/>
            <a:ext cx="6400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Architecture</a:t>
            </a:r>
          </a:p>
        </p:txBody>
      </p:sp>
      <p:cxnSp>
        <p:nvCxnSpPr>
          <p:cNvPr id="54" name="gantt.row.2.rule"/>
          <p:cNvCxnSpPr/>
          <p:nvPr/>
        </p:nvCxnSpPr>
        <p:spPr>
          <a:xfrm>
            <a:off x="3291840" y="3438144"/>
            <a:ext cx="8302752" cy="0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gantt.row.2.planned.1"/>
          <p:cNvSpPr/>
          <p:nvPr/>
        </p:nvSpPr>
        <p:spPr>
          <a:xfrm>
            <a:off x="4386708" y="2798063"/>
            <a:ext cx="3558322" cy="164592"/>
          </a:xfrm>
          <a:prstGeom prst="round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antt.row.2.actual.1"/>
          <p:cNvSpPr/>
          <p:nvPr/>
        </p:nvSpPr>
        <p:spPr>
          <a:xfrm>
            <a:off x="4386708" y="2839211"/>
            <a:ext cx="2919649" cy="82296"/>
          </a:xfrm>
          <a:prstGeom prst="round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antt.row.2.health"/>
          <p:cNvSpPr/>
          <p:nvPr/>
        </p:nvSpPr>
        <p:spPr>
          <a:xfrm>
            <a:off x="7256065" y="2830068"/>
            <a:ext cx="100584" cy="100584"/>
          </a:xfrm>
          <a:prstGeom prst="ellipse">
            <a:avLst/>
          </a:prstGeom>
          <a:solidFill>
            <a:srgbClr val="2E7D32"/>
          </a:solidFill>
          <a:ln w="825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antt.row.2.milestone.1"/>
          <p:cNvSpPr/>
          <p:nvPr/>
        </p:nvSpPr>
        <p:spPr>
          <a:xfrm>
            <a:off x="7862734" y="2770631"/>
            <a:ext cx="164592" cy="164592"/>
          </a:xfrm>
          <a:prstGeom prst="diamond">
            <a:avLst/>
          </a:prstGeom>
          <a:solidFill>
            <a:srgbClr val="F2994A"/>
          </a:solidFill>
          <a:ln w="8255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antt.row.3.task_cell"/>
          <p:cNvSpPr/>
          <p:nvPr/>
        </p:nvSpPr>
        <p:spPr>
          <a:xfrm>
            <a:off x="548640" y="3438144"/>
            <a:ext cx="2029968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antt.row.3.owner_cell"/>
          <p:cNvSpPr/>
          <p:nvPr/>
        </p:nvSpPr>
        <p:spPr>
          <a:xfrm>
            <a:off x="2578608" y="3438144"/>
            <a:ext cx="713232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antt.row.3.task"/>
          <p:cNvSpPr txBox="1"/>
          <p:nvPr/>
        </p:nvSpPr>
        <p:spPr>
          <a:xfrm>
            <a:off x="658368" y="3511296"/>
            <a:ext cx="1810512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Data migration</a:t>
            </a:r>
          </a:p>
        </p:txBody>
      </p:sp>
      <p:sp>
        <p:nvSpPr>
          <p:cNvPr id="62" name="gantt.row.3.owner"/>
          <p:cNvSpPr txBox="1"/>
          <p:nvPr/>
        </p:nvSpPr>
        <p:spPr>
          <a:xfrm>
            <a:off x="2615184" y="3511296"/>
            <a:ext cx="6400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Data</a:t>
            </a:r>
          </a:p>
        </p:txBody>
      </p:sp>
      <p:cxnSp>
        <p:nvCxnSpPr>
          <p:cNvPr id="63" name="gantt.row.3.rule"/>
          <p:cNvCxnSpPr/>
          <p:nvPr/>
        </p:nvCxnSpPr>
        <p:spPr>
          <a:xfrm>
            <a:off x="3291840" y="4206240"/>
            <a:ext cx="8302752" cy="0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gantt.row.3.planned.1"/>
          <p:cNvSpPr/>
          <p:nvPr/>
        </p:nvSpPr>
        <p:spPr>
          <a:xfrm>
            <a:off x="5664054" y="3566160"/>
            <a:ext cx="4196995" cy="164592"/>
          </a:xfrm>
          <a:prstGeom prst="round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antt.row.3.actual.1"/>
          <p:cNvSpPr/>
          <p:nvPr/>
        </p:nvSpPr>
        <p:spPr>
          <a:xfrm>
            <a:off x="5664054" y="3607308"/>
            <a:ext cx="1459824" cy="82296"/>
          </a:xfrm>
          <a:prstGeom prst="round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antt.row.3.health"/>
          <p:cNvSpPr/>
          <p:nvPr/>
        </p:nvSpPr>
        <p:spPr>
          <a:xfrm>
            <a:off x="7073587" y="3598164"/>
            <a:ext cx="100584" cy="100584"/>
          </a:xfrm>
          <a:prstGeom prst="ellipse">
            <a:avLst/>
          </a:prstGeom>
          <a:solidFill>
            <a:srgbClr val="F2C94C"/>
          </a:solidFill>
          <a:ln w="8255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antt.row.4.task_cell"/>
          <p:cNvSpPr/>
          <p:nvPr/>
        </p:nvSpPr>
        <p:spPr>
          <a:xfrm>
            <a:off x="548640" y="4206240"/>
            <a:ext cx="2029968" cy="768096"/>
          </a:xfrm>
          <a:prstGeom prst="rect">
            <a:avLst/>
          </a:prstGeom>
          <a:solidFill>
            <a:srgbClr val="F7F8FA"/>
          </a:solidFill>
          <a:ln w="63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antt.row.4.owner_cell"/>
          <p:cNvSpPr/>
          <p:nvPr/>
        </p:nvSpPr>
        <p:spPr>
          <a:xfrm>
            <a:off x="2578608" y="4206240"/>
            <a:ext cx="713232" cy="768096"/>
          </a:xfrm>
          <a:prstGeom prst="rect">
            <a:avLst/>
          </a:prstGeom>
          <a:solidFill>
            <a:srgbClr val="F7F8FA"/>
          </a:solidFill>
          <a:ln w="63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antt.row.4.task"/>
          <p:cNvSpPr txBox="1"/>
          <p:nvPr/>
        </p:nvSpPr>
        <p:spPr>
          <a:xfrm>
            <a:off x="658368" y="4279392"/>
            <a:ext cx="1810512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Pilot build</a:t>
            </a:r>
          </a:p>
        </p:txBody>
      </p:sp>
      <p:sp>
        <p:nvSpPr>
          <p:cNvPr id="70" name="gantt.row.4.owner"/>
          <p:cNvSpPr txBox="1"/>
          <p:nvPr/>
        </p:nvSpPr>
        <p:spPr>
          <a:xfrm>
            <a:off x="2615184" y="4279392"/>
            <a:ext cx="6400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Product</a:t>
            </a:r>
          </a:p>
        </p:txBody>
      </p:sp>
      <p:cxnSp>
        <p:nvCxnSpPr>
          <p:cNvPr id="71" name="gantt.row.4.rule"/>
          <p:cNvCxnSpPr/>
          <p:nvPr/>
        </p:nvCxnSpPr>
        <p:spPr>
          <a:xfrm>
            <a:off x="3291840" y="4974336"/>
            <a:ext cx="8302752" cy="0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gantt.row.4.planned.1"/>
          <p:cNvSpPr/>
          <p:nvPr/>
        </p:nvSpPr>
        <p:spPr>
          <a:xfrm>
            <a:off x="6941401" y="4334256"/>
            <a:ext cx="3558322" cy="164592"/>
          </a:xfrm>
          <a:prstGeom prst="round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antt.row.4.actual.1"/>
          <p:cNvSpPr/>
          <p:nvPr/>
        </p:nvSpPr>
        <p:spPr>
          <a:xfrm>
            <a:off x="6941401" y="4375404"/>
            <a:ext cx="456195" cy="82296"/>
          </a:xfrm>
          <a:prstGeom prst="round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antt.row.4.health"/>
          <p:cNvSpPr/>
          <p:nvPr/>
        </p:nvSpPr>
        <p:spPr>
          <a:xfrm>
            <a:off x="7347304" y="4366260"/>
            <a:ext cx="100584" cy="100584"/>
          </a:xfrm>
          <a:prstGeom prst="ellipse">
            <a:avLst/>
          </a:prstGeom>
          <a:solidFill>
            <a:srgbClr val="2E7D32"/>
          </a:solidFill>
          <a:ln w="825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antt.row.4.milestone.1"/>
          <p:cNvSpPr/>
          <p:nvPr/>
        </p:nvSpPr>
        <p:spPr>
          <a:xfrm>
            <a:off x="10417427" y="4306824"/>
            <a:ext cx="164592" cy="164592"/>
          </a:xfrm>
          <a:prstGeom prst="diamond">
            <a:avLst/>
          </a:prstGeom>
          <a:solidFill>
            <a:srgbClr val="F2994A"/>
          </a:solidFill>
          <a:ln w="8255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antt.row.5.task_cell"/>
          <p:cNvSpPr/>
          <p:nvPr/>
        </p:nvSpPr>
        <p:spPr>
          <a:xfrm>
            <a:off x="548640" y="4974336"/>
            <a:ext cx="2029968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antt.row.5.owner_cell"/>
          <p:cNvSpPr/>
          <p:nvPr/>
        </p:nvSpPr>
        <p:spPr>
          <a:xfrm>
            <a:off x="2578608" y="4974336"/>
            <a:ext cx="713232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antt.row.5.task"/>
          <p:cNvSpPr txBox="1"/>
          <p:nvPr/>
        </p:nvSpPr>
        <p:spPr>
          <a:xfrm>
            <a:off x="658368" y="5047488"/>
            <a:ext cx="1810512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Adoption readiness</a:t>
            </a:r>
          </a:p>
        </p:txBody>
      </p:sp>
      <p:sp>
        <p:nvSpPr>
          <p:cNvPr id="79" name="gantt.row.5.owner"/>
          <p:cNvSpPr txBox="1"/>
          <p:nvPr/>
        </p:nvSpPr>
        <p:spPr>
          <a:xfrm>
            <a:off x="2615184" y="5047488"/>
            <a:ext cx="64008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667085"/>
                </a:solidFill>
                <a:latin typeface="Aptos"/>
              </a:rPr>
              <a:t>Change</a:t>
            </a:r>
          </a:p>
        </p:txBody>
      </p:sp>
      <p:cxnSp>
        <p:nvCxnSpPr>
          <p:cNvPr id="80" name="gantt.row.5.rule"/>
          <p:cNvCxnSpPr/>
          <p:nvPr/>
        </p:nvCxnSpPr>
        <p:spPr>
          <a:xfrm>
            <a:off x="3291840" y="5742432"/>
            <a:ext cx="8302752" cy="0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gantt.row.5.planned.1"/>
          <p:cNvSpPr/>
          <p:nvPr/>
        </p:nvSpPr>
        <p:spPr>
          <a:xfrm>
            <a:off x="8218747" y="5102352"/>
            <a:ext cx="3375844" cy="164592"/>
          </a:xfrm>
          <a:prstGeom prst="round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antt.row.5.health"/>
          <p:cNvSpPr/>
          <p:nvPr/>
        </p:nvSpPr>
        <p:spPr>
          <a:xfrm>
            <a:off x="8168455" y="5134356"/>
            <a:ext cx="100584" cy="100584"/>
          </a:xfrm>
          <a:prstGeom prst="ellipse">
            <a:avLst/>
          </a:prstGeom>
          <a:solidFill>
            <a:srgbClr val="98A2B3"/>
          </a:solidFill>
          <a:ln w="8255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antt.row.5.milestone.1"/>
          <p:cNvSpPr/>
          <p:nvPr/>
        </p:nvSpPr>
        <p:spPr>
          <a:xfrm>
            <a:off x="11430000" y="5074920"/>
            <a:ext cx="164592" cy="164592"/>
          </a:xfrm>
          <a:prstGeom prst="diamond">
            <a:avLst/>
          </a:prstGeom>
          <a:solidFill>
            <a:srgbClr val="F2994A"/>
          </a:solidFill>
          <a:ln w="8255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gantt.reference_line"/>
          <p:cNvCxnSpPr/>
          <p:nvPr/>
        </p:nvCxnSpPr>
        <p:spPr>
          <a:xfrm>
            <a:off x="7580074" y="1993391"/>
            <a:ext cx="0" cy="3867913"/>
          </a:xfrm>
          <a:prstGeom prst="line">
            <a:avLst/>
          </a:prstGeom>
          <a:ln w="19050">
            <a:solidFill>
              <a:srgbClr val="D92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gantt.reference_label"/>
          <p:cNvSpPr txBox="1"/>
          <p:nvPr/>
        </p:nvSpPr>
        <p:spPr>
          <a:xfrm>
            <a:off x="7305754" y="1728215"/>
            <a:ext cx="54864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D92D20"/>
                </a:solidFill>
                <a:latin typeface="Aptos"/>
              </a:rPr>
              <a:t>TODAY</a:t>
            </a:r>
          </a:p>
        </p:txBody>
      </p:sp>
      <p:sp>
        <p:nvSpPr>
          <p:cNvPr id="86" name="gantt.legend.1.symbol"/>
          <p:cNvSpPr/>
          <p:nvPr/>
        </p:nvSpPr>
        <p:spPr>
          <a:xfrm>
            <a:off x="3337560" y="6035040"/>
            <a:ext cx="146304" cy="109728"/>
          </a:xfrm>
          <a:prstGeom prst="roundRect">
            <a:avLst/>
          </a:prstGeom>
          <a:solidFill>
            <a:srgbClr val="D0D5DD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antt.legend.1.label"/>
          <p:cNvSpPr txBox="1"/>
          <p:nvPr/>
        </p:nvSpPr>
        <p:spPr>
          <a:xfrm>
            <a:off x="3538728" y="6016752"/>
            <a:ext cx="877824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Planned</a:t>
            </a:r>
          </a:p>
        </p:txBody>
      </p:sp>
      <p:sp>
        <p:nvSpPr>
          <p:cNvPr id="88" name="gantt.legend.2.symbol"/>
          <p:cNvSpPr/>
          <p:nvPr/>
        </p:nvSpPr>
        <p:spPr>
          <a:xfrm>
            <a:off x="4471416" y="6035040"/>
            <a:ext cx="146304" cy="109728"/>
          </a:xfrm>
          <a:prstGeom prst="roundRect">
            <a:avLst/>
          </a:prstGeom>
          <a:solidFill>
            <a:srgbClr val="2F6BFF"/>
          </a:solidFill>
          <a:ln w="8255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antt.legend.2.label"/>
          <p:cNvSpPr txBox="1"/>
          <p:nvPr/>
        </p:nvSpPr>
        <p:spPr>
          <a:xfrm>
            <a:off x="4672583" y="6016752"/>
            <a:ext cx="877824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Actual</a:t>
            </a:r>
          </a:p>
        </p:txBody>
      </p:sp>
      <p:sp>
        <p:nvSpPr>
          <p:cNvPr id="90" name="gantt.legend.3.symbol"/>
          <p:cNvSpPr/>
          <p:nvPr/>
        </p:nvSpPr>
        <p:spPr>
          <a:xfrm>
            <a:off x="5605272" y="6035040"/>
            <a:ext cx="146304" cy="109728"/>
          </a:xfrm>
          <a:prstGeom prst="ellipse">
            <a:avLst/>
          </a:prstGeom>
          <a:solidFill>
            <a:srgbClr val="2E7D32"/>
          </a:solidFill>
          <a:ln w="825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antt.legend.3.label"/>
          <p:cNvSpPr txBox="1"/>
          <p:nvPr/>
        </p:nvSpPr>
        <p:spPr>
          <a:xfrm>
            <a:off x="5806440" y="6016752"/>
            <a:ext cx="877824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On track</a:t>
            </a:r>
          </a:p>
        </p:txBody>
      </p:sp>
      <p:sp>
        <p:nvSpPr>
          <p:cNvPr id="92" name="gantt.legend.4.symbol"/>
          <p:cNvSpPr/>
          <p:nvPr/>
        </p:nvSpPr>
        <p:spPr>
          <a:xfrm>
            <a:off x="6739127" y="6035040"/>
            <a:ext cx="146304" cy="109728"/>
          </a:xfrm>
          <a:prstGeom prst="ellipse">
            <a:avLst/>
          </a:prstGeom>
          <a:solidFill>
            <a:srgbClr val="F2C94C"/>
          </a:solidFill>
          <a:ln w="8255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antt.legend.4.label"/>
          <p:cNvSpPr txBox="1"/>
          <p:nvPr/>
        </p:nvSpPr>
        <p:spPr>
          <a:xfrm>
            <a:off x="6940295" y="6016752"/>
            <a:ext cx="877824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Watch</a:t>
            </a:r>
          </a:p>
        </p:txBody>
      </p:sp>
      <p:sp>
        <p:nvSpPr>
          <p:cNvPr id="94" name="gantt.legend.5.symbol"/>
          <p:cNvSpPr/>
          <p:nvPr/>
        </p:nvSpPr>
        <p:spPr>
          <a:xfrm>
            <a:off x="7872983" y="6035040"/>
            <a:ext cx="146304" cy="109728"/>
          </a:xfrm>
          <a:prstGeom prst="ellipse">
            <a:avLst/>
          </a:prstGeom>
          <a:solidFill>
            <a:srgbClr val="98A2B3"/>
          </a:solidFill>
          <a:ln w="8255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antt.legend.5.label"/>
          <p:cNvSpPr txBox="1"/>
          <p:nvPr/>
        </p:nvSpPr>
        <p:spPr>
          <a:xfrm>
            <a:off x="8074152" y="6016752"/>
            <a:ext cx="877824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Not assessed</a:t>
            </a:r>
          </a:p>
        </p:txBody>
      </p:sp>
      <p:sp>
        <p:nvSpPr>
          <p:cNvPr id="96" name="gantt.legend.6.symbol"/>
          <p:cNvSpPr/>
          <p:nvPr/>
        </p:nvSpPr>
        <p:spPr>
          <a:xfrm>
            <a:off x="9006840" y="6035040"/>
            <a:ext cx="146304" cy="109728"/>
          </a:xfrm>
          <a:prstGeom prst="diamond">
            <a:avLst/>
          </a:prstGeom>
          <a:solidFill>
            <a:srgbClr val="F2994A"/>
          </a:solidFill>
          <a:ln w="8255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antt.legend.6.label"/>
          <p:cNvSpPr txBox="1"/>
          <p:nvPr/>
        </p:nvSpPr>
        <p:spPr>
          <a:xfrm>
            <a:off x="9208008" y="6016752"/>
            <a:ext cx="877824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Milestone</a:t>
            </a:r>
          </a:p>
        </p:txBody>
      </p:sp>
      <p:sp>
        <p:nvSpPr>
          <p:cNvPr id="98" name="gantt.legend.7.symbol"/>
          <p:cNvSpPr/>
          <p:nvPr/>
        </p:nvSpPr>
        <p:spPr>
          <a:xfrm>
            <a:off x="10140696" y="6035040"/>
            <a:ext cx="146304" cy="109728"/>
          </a:xfrm>
          <a:prstGeom prst="rect">
            <a:avLst/>
          </a:prstGeom>
          <a:solidFill>
            <a:srgbClr val="D92D20"/>
          </a:solidFill>
          <a:ln w="8255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antt.legend.7.label"/>
          <p:cNvSpPr txBox="1"/>
          <p:nvPr/>
        </p:nvSpPr>
        <p:spPr>
          <a:xfrm>
            <a:off x="10341864" y="6016752"/>
            <a:ext cx="877824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