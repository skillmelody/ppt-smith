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pi.kicker"/>
          <p:cNvSpPr txBox="1"/>
          <p:nvPr/>
        </p:nvSpPr>
        <p:spPr>
          <a:xfrm>
            <a:off x="512064" y="219456"/>
            <a:ext cx="43891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2F6BFF"/>
                </a:solidFill>
                <a:latin typeface="Aptos"/>
              </a:rPr>
              <a:t>KPI / STATUS</a:t>
            </a:r>
          </a:p>
        </p:txBody>
      </p:sp>
      <p:sp>
        <p:nvSpPr>
          <p:cNvPr id="3" name="kpi.title"/>
          <p:cNvSpPr txBox="1"/>
          <p:nvPr/>
        </p:nvSpPr>
        <p:spPr>
          <a:xfrm>
            <a:off x="512064" y="475488"/>
            <a:ext cx="10927080" cy="7132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200" b="1">
                <a:solidFill>
                  <a:srgbClr val="182230"/>
                </a:solidFill>
                <a:latin typeface="Aptos"/>
              </a:rPr>
              <a:t>Transformation value is on plan while cycle time remains at risk</a:t>
            </a:r>
          </a:p>
        </p:txBody>
      </p:sp>
      <p:cxnSp>
        <p:nvCxnSpPr>
          <p:cNvPr id="4" name="kpi.title_rule"/>
          <p:cNvCxnSpPr/>
          <p:nvPr/>
        </p:nvCxnSpPr>
        <p:spPr>
          <a:xfrm>
            <a:off x="512064" y="1225296"/>
            <a:ext cx="11173968" cy="0"/>
          </a:xfrm>
          <a:prstGeom prst="line">
            <a:avLst/>
          </a:prstGeom>
          <a:ln w="825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kpi.footer"/>
          <p:cNvSpPr txBox="1"/>
          <p:nvPr/>
        </p:nvSpPr>
        <p:spPr>
          <a:xfrm>
            <a:off x="8915400" y="6492240"/>
            <a:ext cx="274320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ptos"/>
              </a:rPr>
              <a:t>BOARDROOM INK / NATIVE EDITABLE</a:t>
            </a:r>
          </a:p>
        </p:txBody>
      </p:sp>
      <p:sp>
        <p:nvSpPr>
          <p:cNvPr id="6" name="kpi.card.1.panel"/>
          <p:cNvSpPr/>
          <p:nvPr/>
        </p:nvSpPr>
        <p:spPr>
          <a:xfrm>
            <a:off x="566928" y="1298448"/>
            <a:ext cx="5440680" cy="21854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kpi.card.1.status_bar"/>
          <p:cNvSpPr/>
          <p:nvPr/>
        </p:nvSpPr>
        <p:spPr>
          <a:xfrm>
            <a:off x="566928" y="1298448"/>
            <a:ext cx="5440680" cy="82296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pi.card.1.status_dot"/>
          <p:cNvSpPr/>
          <p:nvPr/>
        </p:nvSpPr>
        <p:spPr>
          <a:xfrm>
            <a:off x="749808" y="1527048"/>
            <a:ext cx="118872" cy="118872"/>
          </a:xfrm>
          <a:prstGeom prst="ellipse">
            <a:avLst/>
          </a:prstGeom>
          <a:solidFill>
            <a:srgbClr val="2E7D32"/>
          </a:solidFill>
          <a:ln w="825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pi.card.1.label"/>
          <p:cNvSpPr txBox="1"/>
          <p:nvPr/>
        </p:nvSpPr>
        <p:spPr>
          <a:xfrm>
            <a:off x="950976" y="1472184"/>
            <a:ext cx="487375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182230"/>
                </a:solidFill>
                <a:latin typeface="Aptos"/>
              </a:rPr>
              <a:t>K1  Run-rate value</a:t>
            </a:r>
          </a:p>
        </p:txBody>
      </p:sp>
      <p:sp>
        <p:nvSpPr>
          <p:cNvPr id="10" name="kpi.card.1.value"/>
          <p:cNvSpPr txBox="1"/>
          <p:nvPr/>
        </p:nvSpPr>
        <p:spPr>
          <a:xfrm>
            <a:off x="749808" y="1828800"/>
            <a:ext cx="1298448" cy="4754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2600" b="1">
                <a:solidFill>
                  <a:srgbClr val="182230"/>
                </a:solidFill>
                <a:latin typeface="Aptos"/>
              </a:rPr>
              <a:t>8.4</a:t>
            </a:r>
          </a:p>
        </p:txBody>
      </p:sp>
      <p:sp>
        <p:nvSpPr>
          <p:cNvPr id="11" name="kpi.card.1.unit"/>
          <p:cNvSpPr txBox="1"/>
          <p:nvPr/>
        </p:nvSpPr>
        <p:spPr>
          <a:xfrm>
            <a:off x="1984248" y="1993391"/>
            <a:ext cx="658368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$m</a:t>
            </a:r>
          </a:p>
        </p:txBody>
      </p:sp>
      <p:sp>
        <p:nvSpPr>
          <p:cNvPr id="12" name="kpi.card.1.target"/>
          <p:cNvSpPr txBox="1"/>
          <p:nvPr/>
        </p:nvSpPr>
        <p:spPr>
          <a:xfrm>
            <a:off x="749808" y="2377439"/>
            <a:ext cx="2611526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1">
                <a:solidFill>
                  <a:srgbClr val="344054"/>
                </a:solidFill>
                <a:latin typeface="Aptos"/>
              </a:rPr>
              <a:t>TARGET  8 $m
VARIANCE  +0.4</a:t>
            </a:r>
          </a:p>
        </p:txBody>
      </p:sp>
      <p:cxnSp>
        <p:nvCxnSpPr>
          <p:cNvPr id="13" name="kpi.card.1.trend.1"/>
          <p:cNvCxnSpPr/>
          <p:nvPr/>
        </p:nvCxnSpPr>
        <p:spPr>
          <a:xfrm flipV="1">
            <a:off x="3613708" y="2771228"/>
            <a:ext cx="634746" cy="166282"/>
          </a:xfrm>
          <a:prstGeom prst="line">
            <a:avLst/>
          </a:prstGeom>
          <a:ln w="2032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kpi.card.1.trend.2"/>
          <p:cNvCxnSpPr/>
          <p:nvPr/>
        </p:nvCxnSpPr>
        <p:spPr>
          <a:xfrm flipV="1">
            <a:off x="4248454" y="2628701"/>
            <a:ext cx="634746" cy="142527"/>
          </a:xfrm>
          <a:prstGeom prst="line">
            <a:avLst/>
          </a:prstGeom>
          <a:ln w="2032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kpi.card.1.trend.3"/>
          <p:cNvCxnSpPr/>
          <p:nvPr/>
        </p:nvCxnSpPr>
        <p:spPr>
          <a:xfrm flipV="1">
            <a:off x="4883200" y="2391156"/>
            <a:ext cx="634746" cy="237545"/>
          </a:xfrm>
          <a:prstGeom prst="line">
            <a:avLst/>
          </a:prstGeom>
          <a:ln w="2032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kpi.card.1.trend_dot.1"/>
          <p:cNvSpPr/>
          <p:nvPr/>
        </p:nvSpPr>
        <p:spPr>
          <a:xfrm>
            <a:off x="3581704" y="2905506"/>
            <a:ext cx="64008" cy="64008"/>
          </a:xfrm>
          <a:prstGeom prst="ellipse">
            <a:avLst/>
          </a:prstGeom>
          <a:solidFill>
            <a:srgbClr val="2E7D32"/>
          </a:solidFill>
          <a:ln w="825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.card.1.trend_dot.2"/>
          <p:cNvSpPr/>
          <p:nvPr/>
        </p:nvSpPr>
        <p:spPr>
          <a:xfrm>
            <a:off x="4216450" y="2739224"/>
            <a:ext cx="64008" cy="64008"/>
          </a:xfrm>
          <a:prstGeom prst="ellipse">
            <a:avLst/>
          </a:prstGeom>
          <a:solidFill>
            <a:srgbClr val="2E7D32"/>
          </a:solidFill>
          <a:ln w="825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.card.1.trend_dot.3"/>
          <p:cNvSpPr/>
          <p:nvPr/>
        </p:nvSpPr>
        <p:spPr>
          <a:xfrm>
            <a:off x="4851196" y="2596697"/>
            <a:ext cx="64008" cy="64008"/>
          </a:xfrm>
          <a:prstGeom prst="ellipse">
            <a:avLst/>
          </a:prstGeom>
          <a:solidFill>
            <a:srgbClr val="2E7D32"/>
          </a:solidFill>
          <a:ln w="825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kpi.card.1.trend_dot.4"/>
          <p:cNvSpPr/>
          <p:nvPr/>
        </p:nvSpPr>
        <p:spPr>
          <a:xfrm>
            <a:off x="5485942" y="2359152"/>
            <a:ext cx="64008" cy="64008"/>
          </a:xfrm>
          <a:prstGeom prst="ellipse">
            <a:avLst/>
          </a:prstGeom>
          <a:solidFill>
            <a:srgbClr val="2E7D32"/>
          </a:solidFill>
          <a:ln w="825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kpi.card.1.note"/>
          <p:cNvSpPr txBox="1"/>
          <p:nvPr/>
        </p:nvSpPr>
        <p:spPr>
          <a:xfrm>
            <a:off x="749808" y="3099816"/>
            <a:ext cx="507492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Validated by Finance</a:t>
            </a:r>
          </a:p>
        </p:txBody>
      </p:sp>
      <p:sp>
        <p:nvSpPr>
          <p:cNvPr id="21" name="kpi.card.1.period"/>
          <p:cNvSpPr txBox="1"/>
          <p:nvPr/>
        </p:nvSpPr>
        <p:spPr>
          <a:xfrm>
            <a:off x="5001768" y="3099816"/>
            <a:ext cx="82296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ptos"/>
              </a:rPr>
              <a:t>Q3 2026</a:t>
            </a:r>
          </a:p>
        </p:txBody>
      </p:sp>
      <p:sp>
        <p:nvSpPr>
          <p:cNvPr id="22" name="kpi.card.2.panel"/>
          <p:cNvSpPr/>
          <p:nvPr/>
        </p:nvSpPr>
        <p:spPr>
          <a:xfrm>
            <a:off x="6172200" y="1298448"/>
            <a:ext cx="5440680" cy="21854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.card.2.status_bar"/>
          <p:cNvSpPr/>
          <p:nvPr/>
        </p:nvSpPr>
        <p:spPr>
          <a:xfrm>
            <a:off x="6172200" y="1298448"/>
            <a:ext cx="5440680" cy="82296"/>
          </a:xfrm>
          <a:prstGeom prst="rect">
            <a:avLst/>
          </a:prstGeom>
          <a:solidFill>
            <a:srgbClr val="F2C94C"/>
          </a:solidFill>
          <a:ln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kpi.card.2.status_dot"/>
          <p:cNvSpPr/>
          <p:nvPr/>
        </p:nvSpPr>
        <p:spPr>
          <a:xfrm>
            <a:off x="6355080" y="1527048"/>
            <a:ext cx="118872" cy="118872"/>
          </a:xfrm>
          <a:prstGeom prst="ellipse">
            <a:avLst/>
          </a:prstGeom>
          <a:solidFill>
            <a:srgbClr val="F2C94C"/>
          </a:solidFill>
          <a:ln w="8255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kpi.card.2.label"/>
          <p:cNvSpPr txBox="1"/>
          <p:nvPr/>
        </p:nvSpPr>
        <p:spPr>
          <a:xfrm>
            <a:off x="6556248" y="1472184"/>
            <a:ext cx="487375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182230"/>
                </a:solidFill>
                <a:latin typeface="Aptos"/>
              </a:rPr>
              <a:t>K2  Adoption</a:t>
            </a:r>
          </a:p>
        </p:txBody>
      </p:sp>
      <p:sp>
        <p:nvSpPr>
          <p:cNvPr id="26" name="kpi.card.2.value"/>
          <p:cNvSpPr txBox="1"/>
          <p:nvPr/>
        </p:nvSpPr>
        <p:spPr>
          <a:xfrm>
            <a:off x="6355080" y="1828800"/>
            <a:ext cx="1298448" cy="4754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2600" b="1">
                <a:solidFill>
                  <a:srgbClr val="182230"/>
                </a:solidFill>
                <a:latin typeface="Aptos"/>
              </a:rPr>
              <a:t>74</a:t>
            </a:r>
          </a:p>
        </p:txBody>
      </p:sp>
      <p:sp>
        <p:nvSpPr>
          <p:cNvPr id="27" name="kpi.card.2.unit"/>
          <p:cNvSpPr txBox="1"/>
          <p:nvPr/>
        </p:nvSpPr>
        <p:spPr>
          <a:xfrm>
            <a:off x="7589520" y="1993391"/>
            <a:ext cx="658368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%</a:t>
            </a:r>
          </a:p>
        </p:txBody>
      </p:sp>
      <p:sp>
        <p:nvSpPr>
          <p:cNvPr id="28" name="kpi.card.2.target"/>
          <p:cNvSpPr txBox="1"/>
          <p:nvPr/>
        </p:nvSpPr>
        <p:spPr>
          <a:xfrm>
            <a:off x="6355080" y="2377439"/>
            <a:ext cx="2611526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1">
                <a:solidFill>
                  <a:srgbClr val="344054"/>
                </a:solidFill>
                <a:latin typeface="Aptos"/>
              </a:rPr>
              <a:t>TARGET  80 %
VARIANCE  -6</a:t>
            </a:r>
          </a:p>
        </p:txBody>
      </p:sp>
      <p:cxnSp>
        <p:nvCxnSpPr>
          <p:cNvPr id="29" name="kpi.card.2.trend.1"/>
          <p:cNvCxnSpPr/>
          <p:nvPr/>
        </p:nvCxnSpPr>
        <p:spPr>
          <a:xfrm flipV="1">
            <a:off x="9218980" y="2723719"/>
            <a:ext cx="634746" cy="213791"/>
          </a:xfrm>
          <a:prstGeom prst="line">
            <a:avLst/>
          </a:prstGeom>
          <a:ln w="20320">
            <a:solidFill>
              <a:srgbClr val="F2C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kpi.card.2.trend.2"/>
          <p:cNvCxnSpPr/>
          <p:nvPr/>
        </p:nvCxnSpPr>
        <p:spPr>
          <a:xfrm flipV="1">
            <a:off x="9853726" y="2533683"/>
            <a:ext cx="634746" cy="190036"/>
          </a:xfrm>
          <a:prstGeom prst="line">
            <a:avLst/>
          </a:prstGeom>
          <a:ln w="20320">
            <a:solidFill>
              <a:srgbClr val="F2C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kpi.card.2.trend.3"/>
          <p:cNvCxnSpPr/>
          <p:nvPr/>
        </p:nvCxnSpPr>
        <p:spPr>
          <a:xfrm flipV="1">
            <a:off x="10488472" y="2391156"/>
            <a:ext cx="634746" cy="142527"/>
          </a:xfrm>
          <a:prstGeom prst="line">
            <a:avLst/>
          </a:prstGeom>
          <a:ln w="20320">
            <a:solidFill>
              <a:srgbClr val="F2C9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kpi.card.2.trend_dot.1"/>
          <p:cNvSpPr/>
          <p:nvPr/>
        </p:nvSpPr>
        <p:spPr>
          <a:xfrm>
            <a:off x="9186976" y="2905506"/>
            <a:ext cx="64008" cy="64008"/>
          </a:xfrm>
          <a:prstGeom prst="ellipse">
            <a:avLst/>
          </a:prstGeom>
          <a:solidFill>
            <a:srgbClr val="F2C94C"/>
          </a:solidFill>
          <a:ln w="8255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kpi.card.2.trend_dot.2"/>
          <p:cNvSpPr/>
          <p:nvPr/>
        </p:nvSpPr>
        <p:spPr>
          <a:xfrm>
            <a:off x="9821722" y="2691715"/>
            <a:ext cx="64008" cy="64008"/>
          </a:xfrm>
          <a:prstGeom prst="ellipse">
            <a:avLst/>
          </a:prstGeom>
          <a:solidFill>
            <a:srgbClr val="F2C94C"/>
          </a:solidFill>
          <a:ln w="8255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kpi.card.2.trend_dot.3"/>
          <p:cNvSpPr/>
          <p:nvPr/>
        </p:nvSpPr>
        <p:spPr>
          <a:xfrm>
            <a:off x="10456468" y="2501679"/>
            <a:ext cx="64008" cy="64008"/>
          </a:xfrm>
          <a:prstGeom prst="ellipse">
            <a:avLst/>
          </a:prstGeom>
          <a:solidFill>
            <a:srgbClr val="F2C94C"/>
          </a:solidFill>
          <a:ln w="8255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.card.2.trend_dot.4"/>
          <p:cNvSpPr/>
          <p:nvPr/>
        </p:nvSpPr>
        <p:spPr>
          <a:xfrm>
            <a:off x="11091214" y="2359152"/>
            <a:ext cx="64008" cy="64008"/>
          </a:xfrm>
          <a:prstGeom prst="ellipse">
            <a:avLst/>
          </a:prstGeom>
          <a:solidFill>
            <a:srgbClr val="F2C94C"/>
          </a:solidFill>
          <a:ln w="8255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kpi.card.2.note"/>
          <p:cNvSpPr txBox="1"/>
          <p:nvPr/>
        </p:nvSpPr>
        <p:spPr>
          <a:xfrm>
            <a:off x="6355080" y="3099816"/>
            <a:ext cx="507492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Six points below target</a:t>
            </a:r>
          </a:p>
        </p:txBody>
      </p:sp>
      <p:sp>
        <p:nvSpPr>
          <p:cNvPr id="37" name="kpi.card.2.period"/>
          <p:cNvSpPr txBox="1"/>
          <p:nvPr/>
        </p:nvSpPr>
        <p:spPr>
          <a:xfrm>
            <a:off x="10607040" y="3099816"/>
            <a:ext cx="82296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ptos"/>
              </a:rPr>
              <a:t>Aug 2026</a:t>
            </a:r>
          </a:p>
        </p:txBody>
      </p:sp>
      <p:sp>
        <p:nvSpPr>
          <p:cNvPr id="38" name="kpi.card.3.panel"/>
          <p:cNvSpPr/>
          <p:nvPr/>
        </p:nvSpPr>
        <p:spPr>
          <a:xfrm>
            <a:off x="566928" y="3666744"/>
            <a:ext cx="5440680" cy="21854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kpi.card.3.status_bar"/>
          <p:cNvSpPr/>
          <p:nvPr/>
        </p:nvSpPr>
        <p:spPr>
          <a:xfrm>
            <a:off x="566928" y="3666744"/>
            <a:ext cx="5440680" cy="82296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kpi.card.3.status_dot"/>
          <p:cNvSpPr/>
          <p:nvPr/>
        </p:nvSpPr>
        <p:spPr>
          <a:xfrm>
            <a:off x="749808" y="3895344"/>
            <a:ext cx="118872" cy="118872"/>
          </a:xfrm>
          <a:prstGeom prst="ellipse">
            <a:avLst/>
          </a:prstGeom>
          <a:solidFill>
            <a:srgbClr val="D92D20"/>
          </a:solidFill>
          <a:ln w="8255"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.card.3.label"/>
          <p:cNvSpPr txBox="1"/>
          <p:nvPr/>
        </p:nvSpPr>
        <p:spPr>
          <a:xfrm>
            <a:off x="950976" y="3840480"/>
            <a:ext cx="487375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182230"/>
                </a:solidFill>
                <a:latin typeface="Aptos"/>
              </a:rPr>
              <a:t>K3  Cycle time</a:t>
            </a:r>
          </a:p>
        </p:txBody>
      </p:sp>
      <p:sp>
        <p:nvSpPr>
          <p:cNvPr id="42" name="kpi.card.3.value"/>
          <p:cNvSpPr txBox="1"/>
          <p:nvPr/>
        </p:nvSpPr>
        <p:spPr>
          <a:xfrm>
            <a:off x="749808" y="4197096"/>
            <a:ext cx="1298448" cy="4754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2600" b="1">
                <a:solidFill>
                  <a:srgbClr val="182230"/>
                </a:solidFill>
                <a:latin typeface="Aptos"/>
              </a:rPr>
              <a:t>12.3</a:t>
            </a:r>
          </a:p>
        </p:txBody>
      </p:sp>
      <p:sp>
        <p:nvSpPr>
          <p:cNvPr id="43" name="kpi.card.3.unit"/>
          <p:cNvSpPr txBox="1"/>
          <p:nvPr/>
        </p:nvSpPr>
        <p:spPr>
          <a:xfrm>
            <a:off x="1984248" y="4361688"/>
            <a:ext cx="658368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days</a:t>
            </a:r>
          </a:p>
        </p:txBody>
      </p:sp>
      <p:sp>
        <p:nvSpPr>
          <p:cNvPr id="44" name="kpi.card.3.target"/>
          <p:cNvSpPr txBox="1"/>
          <p:nvPr/>
        </p:nvSpPr>
        <p:spPr>
          <a:xfrm>
            <a:off x="749808" y="4745736"/>
            <a:ext cx="2611526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1">
                <a:solidFill>
                  <a:srgbClr val="344054"/>
                </a:solidFill>
                <a:latin typeface="Aptos"/>
              </a:rPr>
              <a:t>TARGET  10 days
VARIANCE  +2.3</a:t>
            </a:r>
          </a:p>
        </p:txBody>
      </p:sp>
      <p:cxnSp>
        <p:nvCxnSpPr>
          <p:cNvPr id="45" name="kpi.card.3.trend.1"/>
          <p:cNvCxnSpPr/>
          <p:nvPr/>
        </p:nvCxnSpPr>
        <p:spPr>
          <a:xfrm>
            <a:off x="3613708" y="4759452"/>
            <a:ext cx="634746" cy="207237"/>
          </a:xfrm>
          <a:prstGeom prst="line">
            <a:avLst/>
          </a:prstGeom>
          <a:ln w="20320">
            <a:solidFill>
              <a:srgbClr val="D92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kpi.card.3.trend.2"/>
          <p:cNvCxnSpPr/>
          <p:nvPr/>
        </p:nvCxnSpPr>
        <p:spPr>
          <a:xfrm>
            <a:off x="4248454" y="4966689"/>
            <a:ext cx="634746" cy="207238"/>
          </a:xfrm>
          <a:prstGeom prst="line">
            <a:avLst/>
          </a:prstGeom>
          <a:ln w="20320">
            <a:solidFill>
              <a:srgbClr val="D92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kpi.card.3.trend.3"/>
          <p:cNvCxnSpPr/>
          <p:nvPr/>
        </p:nvCxnSpPr>
        <p:spPr>
          <a:xfrm>
            <a:off x="4883200" y="5173927"/>
            <a:ext cx="634746" cy="131879"/>
          </a:xfrm>
          <a:prstGeom prst="line">
            <a:avLst/>
          </a:prstGeom>
          <a:ln w="20320">
            <a:solidFill>
              <a:srgbClr val="D92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kpi.card.3.trend_dot.1"/>
          <p:cNvSpPr/>
          <p:nvPr/>
        </p:nvSpPr>
        <p:spPr>
          <a:xfrm>
            <a:off x="3581704" y="4727448"/>
            <a:ext cx="64008" cy="64008"/>
          </a:xfrm>
          <a:prstGeom prst="ellipse">
            <a:avLst/>
          </a:prstGeom>
          <a:solidFill>
            <a:srgbClr val="D92D20"/>
          </a:solidFill>
          <a:ln w="8255"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.card.3.trend_dot.2"/>
          <p:cNvSpPr/>
          <p:nvPr/>
        </p:nvSpPr>
        <p:spPr>
          <a:xfrm>
            <a:off x="4216450" y="4934685"/>
            <a:ext cx="64008" cy="64008"/>
          </a:xfrm>
          <a:prstGeom prst="ellipse">
            <a:avLst/>
          </a:prstGeom>
          <a:solidFill>
            <a:srgbClr val="D92D20"/>
          </a:solidFill>
          <a:ln w="8255"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.card.3.trend_dot.3"/>
          <p:cNvSpPr/>
          <p:nvPr/>
        </p:nvSpPr>
        <p:spPr>
          <a:xfrm>
            <a:off x="4851196" y="5141923"/>
            <a:ext cx="64008" cy="64008"/>
          </a:xfrm>
          <a:prstGeom prst="ellipse">
            <a:avLst/>
          </a:prstGeom>
          <a:solidFill>
            <a:srgbClr val="D92D20"/>
          </a:solidFill>
          <a:ln w="8255"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.card.3.trend_dot.4"/>
          <p:cNvSpPr/>
          <p:nvPr/>
        </p:nvSpPr>
        <p:spPr>
          <a:xfrm>
            <a:off x="5485942" y="5273802"/>
            <a:ext cx="64008" cy="64008"/>
          </a:xfrm>
          <a:prstGeom prst="ellipse">
            <a:avLst/>
          </a:prstGeom>
          <a:solidFill>
            <a:srgbClr val="D92D20"/>
          </a:solidFill>
          <a:ln w="8255"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.card.3.note"/>
          <p:cNvSpPr txBox="1"/>
          <p:nvPr/>
        </p:nvSpPr>
        <p:spPr>
          <a:xfrm>
            <a:off x="749808" y="5468112"/>
            <a:ext cx="507492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Data handoffs are the constraint</a:t>
            </a:r>
          </a:p>
        </p:txBody>
      </p:sp>
      <p:sp>
        <p:nvSpPr>
          <p:cNvPr id="53" name="kpi.card.3.period"/>
          <p:cNvSpPr txBox="1"/>
          <p:nvPr/>
        </p:nvSpPr>
        <p:spPr>
          <a:xfrm>
            <a:off x="5001768" y="5468112"/>
            <a:ext cx="82296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ptos"/>
              </a:rPr>
              <a:t>Aug 2026</a:t>
            </a:r>
          </a:p>
        </p:txBody>
      </p:sp>
      <p:sp>
        <p:nvSpPr>
          <p:cNvPr id="54" name="kpi.card.4.panel"/>
          <p:cNvSpPr/>
          <p:nvPr/>
        </p:nvSpPr>
        <p:spPr>
          <a:xfrm>
            <a:off x="6172200" y="3666744"/>
            <a:ext cx="5440680" cy="218541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kpi.card.4.status_bar"/>
          <p:cNvSpPr/>
          <p:nvPr/>
        </p:nvSpPr>
        <p:spPr>
          <a:xfrm>
            <a:off x="6172200" y="3666744"/>
            <a:ext cx="5440680" cy="82296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kpi.card.4.status_dot"/>
          <p:cNvSpPr/>
          <p:nvPr/>
        </p:nvSpPr>
        <p:spPr>
          <a:xfrm>
            <a:off x="6355080" y="3895344"/>
            <a:ext cx="118872" cy="118872"/>
          </a:xfrm>
          <a:prstGeom prst="ellipse">
            <a:avLst/>
          </a:prstGeom>
          <a:solidFill>
            <a:srgbClr val="2E7D32"/>
          </a:solidFill>
          <a:ln w="825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kpi.card.4.label"/>
          <p:cNvSpPr txBox="1"/>
          <p:nvPr/>
        </p:nvSpPr>
        <p:spPr>
          <a:xfrm>
            <a:off x="6556248" y="3840480"/>
            <a:ext cx="4873752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182230"/>
                </a:solidFill>
                <a:latin typeface="Aptos"/>
              </a:rPr>
              <a:t>K4  Control pass rate</a:t>
            </a:r>
          </a:p>
        </p:txBody>
      </p:sp>
      <p:sp>
        <p:nvSpPr>
          <p:cNvPr id="58" name="kpi.card.4.value"/>
          <p:cNvSpPr txBox="1"/>
          <p:nvPr/>
        </p:nvSpPr>
        <p:spPr>
          <a:xfrm>
            <a:off x="6355080" y="4197096"/>
            <a:ext cx="1298448" cy="47548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2600" b="1">
                <a:solidFill>
                  <a:srgbClr val="182230"/>
                </a:solidFill>
                <a:latin typeface="Aptos"/>
              </a:rPr>
              <a:t>96</a:t>
            </a:r>
          </a:p>
        </p:txBody>
      </p:sp>
      <p:sp>
        <p:nvSpPr>
          <p:cNvPr id="59" name="kpi.card.4.unit"/>
          <p:cNvSpPr txBox="1"/>
          <p:nvPr/>
        </p:nvSpPr>
        <p:spPr>
          <a:xfrm>
            <a:off x="7589520" y="4361688"/>
            <a:ext cx="658368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667085"/>
                </a:solidFill>
                <a:latin typeface="Aptos"/>
              </a:rPr>
              <a:t>%</a:t>
            </a:r>
          </a:p>
        </p:txBody>
      </p:sp>
      <p:sp>
        <p:nvSpPr>
          <p:cNvPr id="60" name="kpi.card.4.target"/>
          <p:cNvSpPr txBox="1"/>
          <p:nvPr/>
        </p:nvSpPr>
        <p:spPr>
          <a:xfrm>
            <a:off x="6355080" y="4745736"/>
            <a:ext cx="2611526" cy="43891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1">
                <a:solidFill>
                  <a:srgbClr val="344054"/>
                </a:solidFill>
                <a:latin typeface="Aptos"/>
              </a:rPr>
              <a:t>TARGET  95 %
VARIANCE  +1</a:t>
            </a:r>
          </a:p>
        </p:txBody>
      </p:sp>
      <p:sp>
        <p:nvSpPr>
          <p:cNvPr id="61" name="kpi.card.4.note"/>
          <p:cNvSpPr txBox="1"/>
          <p:nvPr/>
        </p:nvSpPr>
        <p:spPr>
          <a:xfrm>
            <a:off x="6355080" y="5468112"/>
            <a:ext cx="507492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Sample size 412</a:t>
            </a:r>
          </a:p>
        </p:txBody>
      </p:sp>
      <p:sp>
        <p:nvSpPr>
          <p:cNvPr id="62" name="kpi.card.4.period"/>
          <p:cNvSpPr txBox="1"/>
          <p:nvPr/>
        </p:nvSpPr>
        <p:spPr>
          <a:xfrm>
            <a:off x="10607040" y="5468112"/>
            <a:ext cx="822960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ptos"/>
              </a:rPr>
              <a:t>Aug 2026</a:t>
            </a:r>
          </a:p>
        </p:txBody>
      </p:sp>
      <p:sp>
        <p:nvSpPr>
          <p:cNvPr id="63" name="kpi.legend.healthy.dot"/>
          <p:cNvSpPr/>
          <p:nvPr/>
        </p:nvSpPr>
        <p:spPr>
          <a:xfrm>
            <a:off x="6537960" y="6053328"/>
            <a:ext cx="100584" cy="100584"/>
          </a:xfrm>
          <a:prstGeom prst="ellipse">
            <a:avLst/>
          </a:prstGeom>
          <a:solidFill>
            <a:srgbClr val="2E7D32"/>
          </a:solidFill>
          <a:ln w="825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kpi.legend.healthy.label"/>
          <p:cNvSpPr txBox="1"/>
          <p:nvPr/>
        </p:nvSpPr>
        <p:spPr>
          <a:xfrm>
            <a:off x="6702552" y="6016752"/>
            <a:ext cx="9601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On track</a:t>
            </a:r>
          </a:p>
        </p:txBody>
      </p:sp>
      <p:sp>
        <p:nvSpPr>
          <p:cNvPr id="65" name="kpi.legend.watch.dot"/>
          <p:cNvSpPr/>
          <p:nvPr/>
        </p:nvSpPr>
        <p:spPr>
          <a:xfrm>
            <a:off x="7754112" y="6053328"/>
            <a:ext cx="100584" cy="100584"/>
          </a:xfrm>
          <a:prstGeom prst="ellipse">
            <a:avLst/>
          </a:prstGeom>
          <a:solidFill>
            <a:srgbClr val="F2C94C"/>
          </a:solidFill>
          <a:ln w="8255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kpi.legend.watch.label"/>
          <p:cNvSpPr txBox="1"/>
          <p:nvPr/>
        </p:nvSpPr>
        <p:spPr>
          <a:xfrm>
            <a:off x="7918704" y="6016752"/>
            <a:ext cx="9601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Watch</a:t>
            </a:r>
          </a:p>
        </p:txBody>
      </p:sp>
      <p:sp>
        <p:nvSpPr>
          <p:cNvPr id="67" name="kpi.legend.risk.dot"/>
          <p:cNvSpPr/>
          <p:nvPr/>
        </p:nvSpPr>
        <p:spPr>
          <a:xfrm>
            <a:off x="8970264" y="6053328"/>
            <a:ext cx="100584" cy="100584"/>
          </a:xfrm>
          <a:prstGeom prst="ellipse">
            <a:avLst/>
          </a:prstGeom>
          <a:solidFill>
            <a:srgbClr val="D92D20"/>
          </a:solidFill>
          <a:ln w="8255"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kpi.legend.risk.label"/>
          <p:cNvSpPr txBox="1"/>
          <p:nvPr/>
        </p:nvSpPr>
        <p:spPr>
          <a:xfrm>
            <a:off x="9134856" y="6016752"/>
            <a:ext cx="9601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At risk</a:t>
            </a:r>
          </a:p>
        </p:txBody>
      </p:sp>
      <p:sp>
        <p:nvSpPr>
          <p:cNvPr id="69" name="kpi.legend.neutral.dot"/>
          <p:cNvSpPr/>
          <p:nvPr/>
        </p:nvSpPr>
        <p:spPr>
          <a:xfrm>
            <a:off x="10186416" y="6053328"/>
            <a:ext cx="100584" cy="100584"/>
          </a:xfrm>
          <a:prstGeom prst="ellipse">
            <a:avLst/>
          </a:prstGeom>
          <a:solidFill>
            <a:srgbClr val="98A2B3"/>
          </a:solidFill>
          <a:ln w="8255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kpi.legend.neutral.label"/>
          <p:cNvSpPr txBox="1"/>
          <p:nvPr/>
        </p:nvSpPr>
        <p:spPr>
          <a:xfrm>
            <a:off x="10351008" y="6016752"/>
            <a:ext cx="9601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Not assessed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ilestone.kicker"/>
          <p:cNvSpPr txBox="1"/>
          <p:nvPr/>
        </p:nvSpPr>
        <p:spPr>
          <a:xfrm>
            <a:off x="512064" y="219456"/>
            <a:ext cx="43891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2F6BFF"/>
                </a:solidFill>
                <a:latin typeface="Aptos"/>
              </a:rPr>
              <a:t>MILESTONE TIMELINE</a:t>
            </a:r>
          </a:p>
        </p:txBody>
      </p:sp>
      <p:sp>
        <p:nvSpPr>
          <p:cNvPr id="3" name="milestone.title"/>
          <p:cNvSpPr txBox="1"/>
          <p:nvPr/>
        </p:nvSpPr>
        <p:spPr>
          <a:xfrm>
            <a:off x="512064" y="475488"/>
            <a:ext cx="10927080" cy="7132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200" b="1">
                <a:solidFill>
                  <a:srgbClr val="182230"/>
                </a:solidFill>
                <a:latin typeface="Aptos"/>
              </a:rPr>
              <a:t>Six evidence-backed milestones define the path to scale approval</a:t>
            </a:r>
          </a:p>
        </p:txBody>
      </p:sp>
      <p:cxnSp>
        <p:nvCxnSpPr>
          <p:cNvPr id="4" name="milestone.title_rule"/>
          <p:cNvCxnSpPr/>
          <p:nvPr/>
        </p:nvCxnSpPr>
        <p:spPr>
          <a:xfrm>
            <a:off x="512064" y="1225296"/>
            <a:ext cx="11173968" cy="0"/>
          </a:xfrm>
          <a:prstGeom prst="line">
            <a:avLst/>
          </a:prstGeom>
          <a:ln w="825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milestone.footer"/>
          <p:cNvSpPr txBox="1"/>
          <p:nvPr/>
        </p:nvSpPr>
        <p:spPr>
          <a:xfrm>
            <a:off x="8915400" y="6492240"/>
            <a:ext cx="274320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ptos"/>
              </a:rPr>
              <a:t>BOARDROOM INK / NATIVE EDITABLE</a:t>
            </a:r>
          </a:p>
        </p:txBody>
      </p:sp>
      <p:cxnSp>
        <p:nvCxnSpPr>
          <p:cNvPr id="6" name="milestone.axis"/>
          <p:cNvCxnSpPr/>
          <p:nvPr/>
        </p:nvCxnSpPr>
        <p:spPr>
          <a:xfrm>
            <a:off x="658368" y="3691981"/>
            <a:ext cx="10863072" cy="0"/>
          </a:xfrm>
          <a:prstGeom prst="line">
            <a:avLst/>
          </a:prstGeom>
          <a:ln w="31750">
            <a:solidFill>
              <a:srgbClr val="173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milestone.axis.start"/>
          <p:cNvSpPr txBox="1"/>
          <p:nvPr/>
        </p:nvSpPr>
        <p:spPr>
          <a:xfrm>
            <a:off x="658368" y="3810853"/>
            <a:ext cx="10515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2026-07-01</a:t>
            </a:r>
          </a:p>
        </p:txBody>
      </p:sp>
      <p:sp>
        <p:nvSpPr>
          <p:cNvPr id="8" name="milestone.axis.end"/>
          <p:cNvSpPr txBox="1"/>
          <p:nvPr/>
        </p:nvSpPr>
        <p:spPr>
          <a:xfrm>
            <a:off x="10469880" y="3810853"/>
            <a:ext cx="105156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00" b="0">
                <a:solidFill>
                  <a:srgbClr val="667085"/>
                </a:solidFill>
                <a:latin typeface="Aptos"/>
              </a:rPr>
              <a:t>2026-12-15</a:t>
            </a:r>
          </a:p>
        </p:txBody>
      </p:sp>
      <p:cxnSp>
        <p:nvCxnSpPr>
          <p:cNvPr id="9" name="milestone.node.1.leader"/>
          <p:cNvCxnSpPr/>
          <p:nvPr/>
        </p:nvCxnSpPr>
        <p:spPr>
          <a:xfrm flipV="1">
            <a:off x="1113706" y="3307933"/>
            <a:ext cx="0" cy="384048"/>
          </a:xfrm>
          <a:prstGeom prst="line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milestone.node.1.diamond"/>
          <p:cNvSpPr/>
          <p:nvPr/>
        </p:nvSpPr>
        <p:spPr>
          <a:xfrm>
            <a:off x="1013122" y="3591397"/>
            <a:ext cx="201168" cy="201168"/>
          </a:xfrm>
          <a:prstGeom prst="diamond">
            <a:avLst/>
          </a:prstGeom>
          <a:solidFill>
            <a:srgbClr val="2E7D32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milestone.node.1.panel"/>
          <p:cNvSpPr/>
          <p:nvPr/>
        </p:nvSpPr>
        <p:spPr>
          <a:xfrm>
            <a:off x="658368" y="2320381"/>
            <a:ext cx="1298448" cy="859536"/>
          </a:xfrm>
          <a:prstGeom prst="roundRect">
            <a:avLst/>
          </a:prstGeom>
          <a:solidFill>
            <a:srgbClr val="F7F8FA"/>
          </a:solidFill>
          <a:ln w="825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ilestone.node.1.label"/>
          <p:cNvSpPr txBox="1"/>
          <p:nvPr/>
        </p:nvSpPr>
        <p:spPr>
          <a:xfrm>
            <a:off x="749808" y="2402677"/>
            <a:ext cx="1115568" cy="7132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344054"/>
                </a:solidFill>
                <a:latin typeface="Aptos"/>
              </a:rPr>
              <a:t>M1  Charter approved
2026-07-08  |  PMO
EVIDENCE  Signed charter</a:t>
            </a:r>
          </a:p>
        </p:txBody>
      </p:sp>
      <p:cxnSp>
        <p:nvCxnSpPr>
          <p:cNvPr id="13" name="milestone.node.2.leader"/>
          <p:cNvCxnSpPr/>
          <p:nvPr/>
        </p:nvCxnSpPr>
        <p:spPr>
          <a:xfrm>
            <a:off x="2935059" y="3691981"/>
            <a:ext cx="0" cy="384048"/>
          </a:xfrm>
          <a:prstGeom prst="line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milestone.node.2.diamond"/>
          <p:cNvSpPr/>
          <p:nvPr/>
        </p:nvSpPr>
        <p:spPr>
          <a:xfrm>
            <a:off x="2834475" y="3591397"/>
            <a:ext cx="201168" cy="201168"/>
          </a:xfrm>
          <a:prstGeom prst="diamond">
            <a:avLst/>
          </a:prstGeom>
          <a:solidFill>
            <a:srgbClr val="2E7D32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milestone.node.2.panel"/>
          <p:cNvSpPr/>
          <p:nvPr/>
        </p:nvSpPr>
        <p:spPr>
          <a:xfrm>
            <a:off x="2285835" y="4076029"/>
            <a:ext cx="1298448" cy="859536"/>
          </a:xfrm>
          <a:prstGeom prst="roundRect">
            <a:avLst/>
          </a:prstGeom>
          <a:solidFill>
            <a:srgbClr val="F7F8FA"/>
          </a:solidFill>
          <a:ln w="825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ilestone.node.2.label"/>
          <p:cNvSpPr txBox="1"/>
          <p:nvPr/>
        </p:nvSpPr>
        <p:spPr>
          <a:xfrm>
            <a:off x="2377275" y="4158325"/>
            <a:ext cx="1115568" cy="7132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344054"/>
                </a:solidFill>
                <a:latin typeface="Aptos"/>
              </a:rPr>
              <a:t>M2  Blueprint signed
2026-08-05  |  Architecture
EVIDENCE  Design authority minute</a:t>
            </a:r>
          </a:p>
        </p:txBody>
      </p:sp>
      <p:cxnSp>
        <p:nvCxnSpPr>
          <p:cNvPr id="17" name="milestone.node.3.leader"/>
          <p:cNvCxnSpPr/>
          <p:nvPr/>
        </p:nvCxnSpPr>
        <p:spPr>
          <a:xfrm flipV="1">
            <a:off x="4756413" y="3307933"/>
            <a:ext cx="0" cy="384048"/>
          </a:xfrm>
          <a:prstGeom prst="line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milestone.node.3.diamond"/>
          <p:cNvSpPr/>
          <p:nvPr/>
        </p:nvSpPr>
        <p:spPr>
          <a:xfrm>
            <a:off x="4655829" y="3591397"/>
            <a:ext cx="201168" cy="201168"/>
          </a:xfrm>
          <a:prstGeom prst="diamond">
            <a:avLst/>
          </a:prstGeom>
          <a:solidFill>
            <a:srgbClr val="F2C94C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milestone.node.3.panel"/>
          <p:cNvSpPr/>
          <p:nvPr/>
        </p:nvSpPr>
        <p:spPr>
          <a:xfrm>
            <a:off x="4107189" y="2320381"/>
            <a:ext cx="1298448" cy="859536"/>
          </a:xfrm>
          <a:prstGeom prst="roundRect">
            <a:avLst/>
          </a:prstGeom>
          <a:solidFill>
            <a:srgbClr val="F7F8FA"/>
          </a:solidFill>
          <a:ln w="825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ilestone.node.3.label"/>
          <p:cNvSpPr txBox="1"/>
          <p:nvPr/>
        </p:nvSpPr>
        <p:spPr>
          <a:xfrm>
            <a:off x="4198629" y="2402677"/>
            <a:ext cx="1115568" cy="7132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344054"/>
                </a:solidFill>
                <a:latin typeface="Aptos"/>
              </a:rPr>
              <a:t>M3  Data rehearsal
2026-09-02  |  Data
EVIDENCE  Reconciliation pack</a:t>
            </a:r>
          </a:p>
        </p:txBody>
      </p:sp>
      <p:cxnSp>
        <p:nvCxnSpPr>
          <p:cNvPr id="21" name="milestone.node.4.leader"/>
          <p:cNvCxnSpPr/>
          <p:nvPr/>
        </p:nvCxnSpPr>
        <p:spPr>
          <a:xfrm>
            <a:off x="6642814" y="3691981"/>
            <a:ext cx="0" cy="384048"/>
          </a:xfrm>
          <a:prstGeom prst="line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milestone.node.4.diamond"/>
          <p:cNvSpPr/>
          <p:nvPr/>
        </p:nvSpPr>
        <p:spPr>
          <a:xfrm>
            <a:off x="6542230" y="3591397"/>
            <a:ext cx="201168" cy="201168"/>
          </a:xfrm>
          <a:prstGeom prst="diamond">
            <a:avLst/>
          </a:prstGeom>
          <a:solidFill>
            <a:srgbClr val="2E7D32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ilestone.node.4.panel"/>
          <p:cNvSpPr/>
          <p:nvPr/>
        </p:nvSpPr>
        <p:spPr>
          <a:xfrm>
            <a:off x="5993590" y="4076029"/>
            <a:ext cx="1298448" cy="859536"/>
          </a:xfrm>
          <a:prstGeom prst="roundRect">
            <a:avLst/>
          </a:prstGeom>
          <a:solidFill>
            <a:srgbClr val="F7F8FA"/>
          </a:solidFill>
          <a:ln w="825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ilestone.node.4.label"/>
          <p:cNvSpPr txBox="1"/>
          <p:nvPr/>
        </p:nvSpPr>
        <p:spPr>
          <a:xfrm>
            <a:off x="6085030" y="4158325"/>
            <a:ext cx="1115568" cy="7132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344054"/>
                </a:solidFill>
                <a:latin typeface="Aptos"/>
              </a:rPr>
              <a:t>M4  Pilot release
2026-10-01  |  Product
EVIDENCE  Release record</a:t>
            </a:r>
          </a:p>
        </p:txBody>
      </p:sp>
      <p:cxnSp>
        <p:nvCxnSpPr>
          <p:cNvPr id="25" name="milestone.node.5.leader"/>
          <p:cNvCxnSpPr/>
          <p:nvPr/>
        </p:nvCxnSpPr>
        <p:spPr>
          <a:xfrm flipV="1">
            <a:off x="8919506" y="3307933"/>
            <a:ext cx="0" cy="384048"/>
          </a:xfrm>
          <a:prstGeom prst="line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milestone.node.5.diamond"/>
          <p:cNvSpPr/>
          <p:nvPr/>
        </p:nvSpPr>
        <p:spPr>
          <a:xfrm>
            <a:off x="8818922" y="3591397"/>
            <a:ext cx="201168" cy="201168"/>
          </a:xfrm>
          <a:prstGeom prst="diamond">
            <a:avLst/>
          </a:prstGeom>
          <a:solidFill>
            <a:srgbClr val="F2C94C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ilestone.node.5.panel"/>
          <p:cNvSpPr/>
          <p:nvPr/>
        </p:nvSpPr>
        <p:spPr>
          <a:xfrm>
            <a:off x="8270282" y="2320381"/>
            <a:ext cx="1298448" cy="859536"/>
          </a:xfrm>
          <a:prstGeom prst="roundRect">
            <a:avLst/>
          </a:prstGeom>
          <a:solidFill>
            <a:srgbClr val="F7F8FA"/>
          </a:solidFill>
          <a:ln w="825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milestone.node.5.label"/>
          <p:cNvSpPr txBox="1"/>
          <p:nvPr/>
        </p:nvSpPr>
        <p:spPr>
          <a:xfrm>
            <a:off x="8361722" y="2402677"/>
            <a:ext cx="1115568" cy="7132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344054"/>
                </a:solidFill>
                <a:latin typeface="Aptos"/>
              </a:rPr>
              <a:t>M5  Adoption threshold
2026-11-05  |  Change
EVIDENCE  Usage dashboard</a:t>
            </a:r>
          </a:p>
        </p:txBody>
      </p:sp>
      <p:cxnSp>
        <p:nvCxnSpPr>
          <p:cNvPr id="29" name="milestone.node.6.leader"/>
          <p:cNvCxnSpPr/>
          <p:nvPr/>
        </p:nvCxnSpPr>
        <p:spPr>
          <a:xfrm>
            <a:off x="11196198" y="3691981"/>
            <a:ext cx="0" cy="384048"/>
          </a:xfrm>
          <a:prstGeom prst="line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milestone.node.6.diamond"/>
          <p:cNvSpPr/>
          <p:nvPr/>
        </p:nvSpPr>
        <p:spPr>
          <a:xfrm>
            <a:off x="11095614" y="3591397"/>
            <a:ext cx="201168" cy="201168"/>
          </a:xfrm>
          <a:prstGeom prst="diamond">
            <a:avLst/>
          </a:prstGeom>
          <a:solidFill>
            <a:srgbClr val="98A2B3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milestone.node.6.panel"/>
          <p:cNvSpPr/>
          <p:nvPr/>
        </p:nvSpPr>
        <p:spPr>
          <a:xfrm>
            <a:off x="10222992" y="4076029"/>
            <a:ext cx="1298448" cy="859536"/>
          </a:xfrm>
          <a:prstGeom prst="roundRect">
            <a:avLst/>
          </a:prstGeom>
          <a:solidFill>
            <a:srgbClr val="F7F8FA"/>
          </a:solidFill>
          <a:ln w="825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ilestone.node.6.label"/>
          <p:cNvSpPr txBox="1"/>
          <p:nvPr/>
        </p:nvSpPr>
        <p:spPr>
          <a:xfrm>
            <a:off x="10314432" y="4158325"/>
            <a:ext cx="1115568" cy="713231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344054"/>
                </a:solidFill>
                <a:latin typeface="Aptos"/>
              </a:rPr>
              <a:t>M6  Scale decision
2026-12-10  |  SteerCo
EVIDENCE  Decision log</a:t>
            </a:r>
          </a:p>
        </p:txBody>
      </p:sp>
      <p:sp>
        <p:nvSpPr>
          <p:cNvPr id="33" name="milestone.legend.healthy.diamond"/>
          <p:cNvSpPr/>
          <p:nvPr/>
        </p:nvSpPr>
        <p:spPr>
          <a:xfrm>
            <a:off x="6537960" y="6053328"/>
            <a:ext cx="109728" cy="109728"/>
          </a:xfrm>
          <a:prstGeom prst="diamond">
            <a:avLst/>
          </a:prstGeom>
          <a:solidFill>
            <a:srgbClr val="2E7D32"/>
          </a:solidFill>
          <a:ln w="825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milestone.legend.healthy.label"/>
          <p:cNvSpPr txBox="1"/>
          <p:nvPr/>
        </p:nvSpPr>
        <p:spPr>
          <a:xfrm>
            <a:off x="6702552" y="6016752"/>
            <a:ext cx="9601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On track</a:t>
            </a:r>
          </a:p>
        </p:txBody>
      </p:sp>
      <p:sp>
        <p:nvSpPr>
          <p:cNvPr id="35" name="milestone.legend.watch.diamond"/>
          <p:cNvSpPr/>
          <p:nvPr/>
        </p:nvSpPr>
        <p:spPr>
          <a:xfrm>
            <a:off x="7754112" y="6053328"/>
            <a:ext cx="109728" cy="109728"/>
          </a:xfrm>
          <a:prstGeom prst="diamond">
            <a:avLst/>
          </a:prstGeom>
          <a:solidFill>
            <a:srgbClr val="F2C94C"/>
          </a:solidFill>
          <a:ln w="8255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milestone.legend.watch.label"/>
          <p:cNvSpPr txBox="1"/>
          <p:nvPr/>
        </p:nvSpPr>
        <p:spPr>
          <a:xfrm>
            <a:off x="7918704" y="6016752"/>
            <a:ext cx="9601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Watch</a:t>
            </a:r>
          </a:p>
        </p:txBody>
      </p:sp>
      <p:sp>
        <p:nvSpPr>
          <p:cNvPr id="37" name="milestone.legend.risk.diamond"/>
          <p:cNvSpPr/>
          <p:nvPr/>
        </p:nvSpPr>
        <p:spPr>
          <a:xfrm>
            <a:off x="8970264" y="6053328"/>
            <a:ext cx="109728" cy="109728"/>
          </a:xfrm>
          <a:prstGeom prst="diamond">
            <a:avLst/>
          </a:prstGeom>
          <a:solidFill>
            <a:srgbClr val="D92D20"/>
          </a:solidFill>
          <a:ln w="8255"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milestone.legend.risk.label"/>
          <p:cNvSpPr txBox="1"/>
          <p:nvPr/>
        </p:nvSpPr>
        <p:spPr>
          <a:xfrm>
            <a:off x="9134856" y="6016752"/>
            <a:ext cx="9601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At risk</a:t>
            </a:r>
          </a:p>
        </p:txBody>
      </p:sp>
      <p:sp>
        <p:nvSpPr>
          <p:cNvPr id="39" name="milestone.legend.neutral.diamond"/>
          <p:cNvSpPr/>
          <p:nvPr/>
        </p:nvSpPr>
        <p:spPr>
          <a:xfrm>
            <a:off x="10186416" y="6053328"/>
            <a:ext cx="109728" cy="109728"/>
          </a:xfrm>
          <a:prstGeom prst="diamond">
            <a:avLst/>
          </a:prstGeom>
          <a:solidFill>
            <a:srgbClr val="98A2B3"/>
          </a:solidFill>
          <a:ln w="8255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milestone.legend.neutral.label"/>
          <p:cNvSpPr txBox="1"/>
          <p:nvPr/>
        </p:nvSpPr>
        <p:spPr>
          <a:xfrm>
            <a:off x="10351008" y="6016752"/>
            <a:ext cx="960120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Not assessed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tmap.kicker"/>
          <p:cNvSpPr txBox="1"/>
          <p:nvPr/>
        </p:nvSpPr>
        <p:spPr>
          <a:xfrm>
            <a:off x="512064" y="219456"/>
            <a:ext cx="43891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2F6BFF"/>
                </a:solidFill>
                <a:latin typeface="Aptos"/>
              </a:rPr>
              <a:t>RISK HEAT MAP</a:t>
            </a:r>
          </a:p>
        </p:txBody>
      </p:sp>
      <p:sp>
        <p:nvSpPr>
          <p:cNvPr id="3" name="heatmap.title"/>
          <p:cNvSpPr txBox="1"/>
          <p:nvPr/>
        </p:nvSpPr>
        <p:spPr>
          <a:xfrm>
            <a:off x="512064" y="475488"/>
            <a:ext cx="10927080" cy="7132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200" b="1">
                <a:solidFill>
                  <a:srgbClr val="182230"/>
                </a:solidFill>
                <a:latin typeface="Aptos"/>
              </a:rPr>
              <a:t>Data readiness concentrates the critical exposure in two cells</a:t>
            </a:r>
          </a:p>
        </p:txBody>
      </p:sp>
      <p:cxnSp>
        <p:nvCxnSpPr>
          <p:cNvPr id="4" name="heatmap.title_rule"/>
          <p:cNvCxnSpPr/>
          <p:nvPr/>
        </p:nvCxnSpPr>
        <p:spPr>
          <a:xfrm>
            <a:off x="512064" y="1225296"/>
            <a:ext cx="11173968" cy="0"/>
          </a:xfrm>
          <a:prstGeom prst="line">
            <a:avLst/>
          </a:prstGeom>
          <a:ln w="825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heatmap.footer"/>
          <p:cNvSpPr txBox="1"/>
          <p:nvPr/>
        </p:nvSpPr>
        <p:spPr>
          <a:xfrm>
            <a:off x="8915400" y="6492240"/>
            <a:ext cx="274320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ptos"/>
              </a:rPr>
              <a:t>BOARDROOM INK / NATIVE EDITABLE</a:t>
            </a:r>
          </a:p>
        </p:txBody>
      </p:sp>
      <p:sp>
        <p:nvSpPr>
          <p:cNvPr id="6" name="heatmap.cell.L1.I1"/>
          <p:cNvSpPr/>
          <p:nvPr/>
        </p:nvSpPr>
        <p:spPr>
          <a:xfrm>
            <a:off x="950976" y="4822545"/>
            <a:ext cx="855878" cy="855878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atmap.cell.L2.I1"/>
          <p:cNvSpPr/>
          <p:nvPr/>
        </p:nvSpPr>
        <p:spPr>
          <a:xfrm>
            <a:off x="1806854" y="4822545"/>
            <a:ext cx="855878" cy="855878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atmap.cell.L3.I1"/>
          <p:cNvSpPr/>
          <p:nvPr/>
        </p:nvSpPr>
        <p:spPr>
          <a:xfrm>
            <a:off x="2662732" y="4822545"/>
            <a:ext cx="855878" cy="855878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atmap.cell.L4.I1"/>
          <p:cNvSpPr/>
          <p:nvPr/>
        </p:nvSpPr>
        <p:spPr>
          <a:xfrm>
            <a:off x="3518611" y="4822545"/>
            <a:ext cx="855878" cy="855878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atmap.cell.L5.I1"/>
          <p:cNvSpPr/>
          <p:nvPr/>
        </p:nvSpPr>
        <p:spPr>
          <a:xfrm>
            <a:off x="4374489" y="4822545"/>
            <a:ext cx="855878" cy="855878"/>
          </a:xfrm>
          <a:prstGeom prst="rect">
            <a:avLst/>
          </a:prstGeom>
          <a:solidFill>
            <a:srgbClr val="F7F8F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atmap.cell.L1.I2"/>
          <p:cNvSpPr/>
          <p:nvPr/>
        </p:nvSpPr>
        <p:spPr>
          <a:xfrm>
            <a:off x="950976" y="3966667"/>
            <a:ext cx="855878" cy="855878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atmap.cell.L2.I2"/>
          <p:cNvSpPr/>
          <p:nvPr/>
        </p:nvSpPr>
        <p:spPr>
          <a:xfrm>
            <a:off x="1806854" y="3966667"/>
            <a:ext cx="855878" cy="855878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atmap.cell.L3.I2"/>
          <p:cNvSpPr/>
          <p:nvPr/>
        </p:nvSpPr>
        <p:spPr>
          <a:xfrm>
            <a:off x="2662732" y="3966667"/>
            <a:ext cx="855878" cy="855878"/>
          </a:xfrm>
          <a:prstGeom prst="rect">
            <a:avLst/>
          </a:prstGeom>
          <a:solidFill>
            <a:srgbClr val="F7F8F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atmap.cell.L4.I2"/>
          <p:cNvSpPr/>
          <p:nvPr/>
        </p:nvSpPr>
        <p:spPr>
          <a:xfrm>
            <a:off x="3518611" y="3966667"/>
            <a:ext cx="855878" cy="855878"/>
          </a:xfrm>
          <a:prstGeom prst="rect">
            <a:avLst/>
          </a:prstGeom>
          <a:solidFill>
            <a:srgbClr val="F7F8F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eatmap.cell.L5.I2"/>
          <p:cNvSpPr/>
          <p:nvPr/>
        </p:nvSpPr>
        <p:spPr>
          <a:xfrm>
            <a:off x="4374489" y="3966667"/>
            <a:ext cx="855878" cy="855878"/>
          </a:xfrm>
          <a:prstGeom prst="rect">
            <a:avLst/>
          </a:prstGeom>
          <a:solidFill>
            <a:srgbClr val="F2C94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tmap.cell.L1.I3"/>
          <p:cNvSpPr/>
          <p:nvPr/>
        </p:nvSpPr>
        <p:spPr>
          <a:xfrm>
            <a:off x="950976" y="3110788"/>
            <a:ext cx="855878" cy="855878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tmap.cell.L2.I3"/>
          <p:cNvSpPr/>
          <p:nvPr/>
        </p:nvSpPr>
        <p:spPr>
          <a:xfrm>
            <a:off x="1806854" y="3110788"/>
            <a:ext cx="855878" cy="855878"/>
          </a:xfrm>
          <a:prstGeom prst="rect">
            <a:avLst/>
          </a:prstGeom>
          <a:solidFill>
            <a:srgbClr val="F7F8F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tmap.cell.L3.I3"/>
          <p:cNvSpPr/>
          <p:nvPr/>
        </p:nvSpPr>
        <p:spPr>
          <a:xfrm>
            <a:off x="2662732" y="3110788"/>
            <a:ext cx="855878" cy="855878"/>
          </a:xfrm>
          <a:prstGeom prst="rect">
            <a:avLst/>
          </a:prstGeom>
          <a:solidFill>
            <a:srgbClr val="F2C94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tmap.cell.L4.I3"/>
          <p:cNvSpPr/>
          <p:nvPr/>
        </p:nvSpPr>
        <p:spPr>
          <a:xfrm>
            <a:off x="3518611" y="3110788"/>
            <a:ext cx="855878" cy="855878"/>
          </a:xfrm>
          <a:prstGeom prst="rect">
            <a:avLst/>
          </a:prstGeom>
          <a:solidFill>
            <a:srgbClr val="F2C94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eatmap.cell.L5.I3"/>
          <p:cNvSpPr/>
          <p:nvPr/>
        </p:nvSpPr>
        <p:spPr>
          <a:xfrm>
            <a:off x="4374489" y="3110788"/>
            <a:ext cx="855878" cy="855878"/>
          </a:xfrm>
          <a:prstGeom prst="rect">
            <a:avLst/>
          </a:prstGeom>
          <a:solidFill>
            <a:srgbClr val="F2C94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tmap.cell.L1.I4"/>
          <p:cNvSpPr/>
          <p:nvPr/>
        </p:nvSpPr>
        <p:spPr>
          <a:xfrm>
            <a:off x="950976" y="2254910"/>
            <a:ext cx="855878" cy="855878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atmap.cell.L2.I4"/>
          <p:cNvSpPr/>
          <p:nvPr/>
        </p:nvSpPr>
        <p:spPr>
          <a:xfrm>
            <a:off x="1806854" y="2254910"/>
            <a:ext cx="855878" cy="855878"/>
          </a:xfrm>
          <a:prstGeom prst="rect">
            <a:avLst/>
          </a:prstGeom>
          <a:solidFill>
            <a:srgbClr val="F7F8F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atmap.cell.L3.I4"/>
          <p:cNvSpPr/>
          <p:nvPr/>
        </p:nvSpPr>
        <p:spPr>
          <a:xfrm>
            <a:off x="2662732" y="2254910"/>
            <a:ext cx="855878" cy="855878"/>
          </a:xfrm>
          <a:prstGeom prst="rect">
            <a:avLst/>
          </a:prstGeom>
          <a:solidFill>
            <a:srgbClr val="F2C94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atmap.cell.L4.I4"/>
          <p:cNvSpPr/>
          <p:nvPr/>
        </p:nvSpPr>
        <p:spPr>
          <a:xfrm>
            <a:off x="3518611" y="2254910"/>
            <a:ext cx="855878" cy="855878"/>
          </a:xfrm>
          <a:prstGeom prst="rect">
            <a:avLst/>
          </a:prstGeom>
          <a:solidFill>
            <a:srgbClr val="D92D2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atmap.cell.L5.I4"/>
          <p:cNvSpPr/>
          <p:nvPr/>
        </p:nvSpPr>
        <p:spPr>
          <a:xfrm>
            <a:off x="4374489" y="2254910"/>
            <a:ext cx="855878" cy="855878"/>
          </a:xfrm>
          <a:prstGeom prst="rect">
            <a:avLst/>
          </a:prstGeom>
          <a:solidFill>
            <a:srgbClr val="D92D2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eatmap.cell.L1.I5"/>
          <p:cNvSpPr/>
          <p:nvPr/>
        </p:nvSpPr>
        <p:spPr>
          <a:xfrm>
            <a:off x="950976" y="1399032"/>
            <a:ext cx="855878" cy="855878"/>
          </a:xfrm>
          <a:prstGeom prst="rect">
            <a:avLst/>
          </a:prstGeom>
          <a:solidFill>
            <a:srgbClr val="F7F8F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eatmap.cell.L2.I5"/>
          <p:cNvSpPr/>
          <p:nvPr/>
        </p:nvSpPr>
        <p:spPr>
          <a:xfrm>
            <a:off x="1806854" y="1399032"/>
            <a:ext cx="855878" cy="855878"/>
          </a:xfrm>
          <a:prstGeom prst="rect">
            <a:avLst/>
          </a:prstGeom>
          <a:solidFill>
            <a:srgbClr val="F2C94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eatmap.cell.L3.I5"/>
          <p:cNvSpPr/>
          <p:nvPr/>
        </p:nvSpPr>
        <p:spPr>
          <a:xfrm>
            <a:off x="2662732" y="1399032"/>
            <a:ext cx="855878" cy="855878"/>
          </a:xfrm>
          <a:prstGeom prst="rect">
            <a:avLst/>
          </a:prstGeom>
          <a:solidFill>
            <a:srgbClr val="F2C94C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eatmap.cell.L4.I5"/>
          <p:cNvSpPr/>
          <p:nvPr/>
        </p:nvSpPr>
        <p:spPr>
          <a:xfrm>
            <a:off x="3518611" y="1399032"/>
            <a:ext cx="855878" cy="855878"/>
          </a:xfrm>
          <a:prstGeom prst="rect">
            <a:avLst/>
          </a:prstGeom>
          <a:solidFill>
            <a:srgbClr val="D92D2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eatmap.cell.L5.I5"/>
          <p:cNvSpPr/>
          <p:nvPr/>
        </p:nvSpPr>
        <p:spPr>
          <a:xfrm>
            <a:off x="4374489" y="1399032"/>
            <a:ext cx="855878" cy="855878"/>
          </a:xfrm>
          <a:prstGeom prst="rect">
            <a:avLst/>
          </a:prstGeom>
          <a:solidFill>
            <a:srgbClr val="D92D20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heatmap.axis.likelihood.1"/>
          <p:cNvSpPr txBox="1"/>
          <p:nvPr/>
        </p:nvSpPr>
        <p:spPr>
          <a:xfrm>
            <a:off x="950976" y="5724144"/>
            <a:ext cx="855878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1</a:t>
            </a:r>
          </a:p>
        </p:txBody>
      </p:sp>
      <p:sp>
        <p:nvSpPr>
          <p:cNvPr id="32" name="heatmap.axis.impact.1"/>
          <p:cNvSpPr txBox="1"/>
          <p:nvPr/>
        </p:nvSpPr>
        <p:spPr>
          <a:xfrm>
            <a:off x="676656" y="5122103"/>
            <a:ext cx="201168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00" b="1">
                <a:solidFill>
                  <a:srgbClr val="667085"/>
                </a:solidFill>
                <a:latin typeface="Aptos"/>
              </a:rPr>
              <a:t>1</a:t>
            </a:r>
          </a:p>
        </p:txBody>
      </p:sp>
      <p:sp>
        <p:nvSpPr>
          <p:cNvPr id="33" name="heatmap.axis.likelihood.2"/>
          <p:cNvSpPr txBox="1"/>
          <p:nvPr/>
        </p:nvSpPr>
        <p:spPr>
          <a:xfrm>
            <a:off x="1806854" y="5724144"/>
            <a:ext cx="855878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2</a:t>
            </a:r>
          </a:p>
        </p:txBody>
      </p:sp>
      <p:sp>
        <p:nvSpPr>
          <p:cNvPr id="34" name="heatmap.axis.impact.2"/>
          <p:cNvSpPr txBox="1"/>
          <p:nvPr/>
        </p:nvSpPr>
        <p:spPr>
          <a:xfrm>
            <a:off x="676656" y="4266224"/>
            <a:ext cx="201168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00" b="1">
                <a:solidFill>
                  <a:srgbClr val="667085"/>
                </a:solidFill>
                <a:latin typeface="Aptos"/>
              </a:rPr>
              <a:t>2</a:t>
            </a:r>
          </a:p>
        </p:txBody>
      </p:sp>
      <p:sp>
        <p:nvSpPr>
          <p:cNvPr id="35" name="heatmap.axis.likelihood.3"/>
          <p:cNvSpPr txBox="1"/>
          <p:nvPr/>
        </p:nvSpPr>
        <p:spPr>
          <a:xfrm>
            <a:off x="2662732" y="5724144"/>
            <a:ext cx="855878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3</a:t>
            </a:r>
          </a:p>
        </p:txBody>
      </p:sp>
      <p:sp>
        <p:nvSpPr>
          <p:cNvPr id="36" name="heatmap.axis.impact.3"/>
          <p:cNvSpPr txBox="1"/>
          <p:nvPr/>
        </p:nvSpPr>
        <p:spPr>
          <a:xfrm>
            <a:off x="676656" y="3410346"/>
            <a:ext cx="201168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00" b="1">
                <a:solidFill>
                  <a:srgbClr val="667085"/>
                </a:solidFill>
                <a:latin typeface="Aptos"/>
              </a:rPr>
              <a:t>3</a:t>
            </a:r>
          </a:p>
        </p:txBody>
      </p:sp>
      <p:sp>
        <p:nvSpPr>
          <p:cNvPr id="37" name="heatmap.axis.likelihood.4"/>
          <p:cNvSpPr txBox="1"/>
          <p:nvPr/>
        </p:nvSpPr>
        <p:spPr>
          <a:xfrm>
            <a:off x="3518611" y="5724144"/>
            <a:ext cx="855878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4</a:t>
            </a:r>
          </a:p>
        </p:txBody>
      </p:sp>
      <p:sp>
        <p:nvSpPr>
          <p:cNvPr id="38" name="heatmap.axis.impact.4"/>
          <p:cNvSpPr txBox="1"/>
          <p:nvPr/>
        </p:nvSpPr>
        <p:spPr>
          <a:xfrm>
            <a:off x="676656" y="2554467"/>
            <a:ext cx="201168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00" b="1">
                <a:solidFill>
                  <a:srgbClr val="667085"/>
                </a:solidFill>
                <a:latin typeface="Aptos"/>
              </a:rPr>
              <a:t>4</a:t>
            </a:r>
          </a:p>
        </p:txBody>
      </p:sp>
      <p:sp>
        <p:nvSpPr>
          <p:cNvPr id="39" name="heatmap.axis.likelihood.5"/>
          <p:cNvSpPr txBox="1"/>
          <p:nvPr/>
        </p:nvSpPr>
        <p:spPr>
          <a:xfrm>
            <a:off x="4374489" y="5724144"/>
            <a:ext cx="855878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1">
                <a:solidFill>
                  <a:srgbClr val="667085"/>
                </a:solidFill>
                <a:latin typeface="Aptos"/>
              </a:rPr>
              <a:t>5</a:t>
            </a:r>
          </a:p>
        </p:txBody>
      </p:sp>
      <p:sp>
        <p:nvSpPr>
          <p:cNvPr id="40" name="heatmap.axis.impact.5"/>
          <p:cNvSpPr txBox="1"/>
          <p:nvPr/>
        </p:nvSpPr>
        <p:spPr>
          <a:xfrm>
            <a:off x="676656" y="1698589"/>
            <a:ext cx="201168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900" b="1">
                <a:solidFill>
                  <a:srgbClr val="667085"/>
                </a:solidFill>
                <a:latin typeface="Aptos"/>
              </a:rPr>
              <a:t>5</a:t>
            </a:r>
          </a:p>
        </p:txBody>
      </p:sp>
      <p:sp>
        <p:nvSpPr>
          <p:cNvPr id="41" name="heatmap.axis.likelihood.title"/>
          <p:cNvSpPr txBox="1"/>
          <p:nvPr/>
        </p:nvSpPr>
        <p:spPr>
          <a:xfrm>
            <a:off x="2277587" y="5943600"/>
            <a:ext cx="1626168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900" b="1">
                <a:solidFill>
                  <a:srgbClr val="182230"/>
                </a:solidFill>
                <a:latin typeface="Aptos"/>
              </a:rPr>
              <a:t>LIKELIHOOD  →</a:t>
            </a:r>
          </a:p>
        </p:txBody>
      </p:sp>
      <p:sp>
        <p:nvSpPr>
          <p:cNvPr id="42" name="heatmap.axis.impact.title"/>
          <p:cNvSpPr txBox="1"/>
          <p:nvPr/>
        </p:nvSpPr>
        <p:spPr>
          <a:xfrm>
            <a:off x="566928" y="1371600"/>
            <a:ext cx="7315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182230"/>
                </a:solidFill>
                <a:latin typeface="Aptos"/>
              </a:rPr>
              <a:t>IMPACT  ↑</a:t>
            </a:r>
          </a:p>
        </p:txBody>
      </p:sp>
      <p:sp>
        <p:nvSpPr>
          <p:cNvPr id="43" name="heatmap.point.1.dot"/>
          <p:cNvSpPr/>
          <p:nvPr/>
        </p:nvSpPr>
        <p:spPr>
          <a:xfrm>
            <a:off x="1859158" y="3163092"/>
            <a:ext cx="237744" cy="237744"/>
          </a:xfrm>
          <a:prstGeom prst="ellipse">
            <a:avLst/>
          </a:prstGeom>
          <a:solidFill>
            <a:srgbClr val="98A2B3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heatmap.point.1.id"/>
          <p:cNvSpPr txBox="1"/>
          <p:nvPr/>
        </p:nvSpPr>
        <p:spPr>
          <a:xfrm>
            <a:off x="1840870" y="3190524"/>
            <a:ext cx="27432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R6</a:t>
            </a:r>
          </a:p>
        </p:txBody>
      </p:sp>
      <p:sp>
        <p:nvSpPr>
          <p:cNvPr id="45" name="heatmap.point.2.dot"/>
          <p:cNvSpPr/>
          <p:nvPr/>
        </p:nvSpPr>
        <p:spPr>
          <a:xfrm>
            <a:off x="3570914" y="2307214"/>
            <a:ext cx="237744" cy="237744"/>
          </a:xfrm>
          <a:prstGeom prst="ellipse">
            <a:avLst/>
          </a:prstGeom>
          <a:solidFill>
            <a:srgbClr val="F2C94C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heatmap.point.2.id"/>
          <p:cNvSpPr txBox="1"/>
          <p:nvPr/>
        </p:nvSpPr>
        <p:spPr>
          <a:xfrm>
            <a:off x="3552626" y="2334646"/>
            <a:ext cx="27432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182230"/>
                </a:solidFill>
                <a:latin typeface="Aptos"/>
              </a:rPr>
              <a:t>R3</a:t>
            </a:r>
          </a:p>
        </p:txBody>
      </p:sp>
      <p:sp>
        <p:nvSpPr>
          <p:cNvPr id="47" name="heatmap.point.3.dot"/>
          <p:cNvSpPr/>
          <p:nvPr/>
        </p:nvSpPr>
        <p:spPr>
          <a:xfrm>
            <a:off x="4084441" y="2307214"/>
            <a:ext cx="237744" cy="237744"/>
          </a:xfrm>
          <a:prstGeom prst="ellipse">
            <a:avLst/>
          </a:prstGeom>
          <a:solidFill>
            <a:srgbClr val="F2C94C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heatmap.point.3.id"/>
          <p:cNvSpPr txBox="1"/>
          <p:nvPr/>
        </p:nvSpPr>
        <p:spPr>
          <a:xfrm>
            <a:off x="4066153" y="2334646"/>
            <a:ext cx="27432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182230"/>
                </a:solidFill>
                <a:latin typeface="Aptos"/>
              </a:rPr>
              <a:t>R4</a:t>
            </a:r>
          </a:p>
        </p:txBody>
      </p:sp>
      <p:sp>
        <p:nvSpPr>
          <p:cNvPr id="49" name="heatmap.point.4.dot"/>
          <p:cNvSpPr/>
          <p:nvPr/>
        </p:nvSpPr>
        <p:spPr>
          <a:xfrm>
            <a:off x="3570914" y="2820741"/>
            <a:ext cx="237744" cy="237744"/>
          </a:xfrm>
          <a:prstGeom prst="ellipse">
            <a:avLst/>
          </a:prstGeom>
          <a:solidFill>
            <a:srgbClr val="F2C94C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heatmap.point.4.id"/>
          <p:cNvSpPr txBox="1"/>
          <p:nvPr/>
        </p:nvSpPr>
        <p:spPr>
          <a:xfrm>
            <a:off x="3552626" y="2848173"/>
            <a:ext cx="27432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182230"/>
                </a:solidFill>
                <a:latin typeface="Aptos"/>
              </a:rPr>
              <a:t>R5</a:t>
            </a:r>
          </a:p>
        </p:txBody>
      </p:sp>
      <p:sp>
        <p:nvSpPr>
          <p:cNvPr id="51" name="heatmap.point.5.dot"/>
          <p:cNvSpPr/>
          <p:nvPr/>
        </p:nvSpPr>
        <p:spPr>
          <a:xfrm>
            <a:off x="3570914" y="1451335"/>
            <a:ext cx="237744" cy="237744"/>
          </a:xfrm>
          <a:prstGeom prst="ellipse">
            <a:avLst/>
          </a:prstGeom>
          <a:solidFill>
            <a:srgbClr val="D92D20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heatmap.point.5.id"/>
          <p:cNvSpPr txBox="1"/>
          <p:nvPr/>
        </p:nvSpPr>
        <p:spPr>
          <a:xfrm>
            <a:off x="3552626" y="1478767"/>
            <a:ext cx="27432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R2</a:t>
            </a:r>
          </a:p>
        </p:txBody>
      </p:sp>
      <p:sp>
        <p:nvSpPr>
          <p:cNvPr id="53" name="heatmap.point.6.dot"/>
          <p:cNvSpPr/>
          <p:nvPr/>
        </p:nvSpPr>
        <p:spPr>
          <a:xfrm>
            <a:off x="4426793" y="1451335"/>
            <a:ext cx="237744" cy="237744"/>
          </a:xfrm>
          <a:prstGeom prst="ellipse">
            <a:avLst/>
          </a:prstGeom>
          <a:solidFill>
            <a:srgbClr val="D92D20"/>
          </a:solidFill>
          <a:ln w="1270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heatmap.point.6.id"/>
          <p:cNvSpPr txBox="1"/>
          <p:nvPr/>
        </p:nvSpPr>
        <p:spPr>
          <a:xfrm>
            <a:off x="4408505" y="1478767"/>
            <a:ext cx="274320" cy="18288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R1</a:t>
            </a:r>
          </a:p>
        </p:txBody>
      </p:sp>
      <p:sp>
        <p:nvSpPr>
          <p:cNvPr id="55" name="heatmap.register.panel"/>
          <p:cNvSpPr/>
          <p:nvPr/>
        </p:nvSpPr>
        <p:spPr>
          <a:xfrm>
            <a:off x="5641848" y="1362456"/>
            <a:ext cx="5971031" cy="4553712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heatmap.register.header"/>
          <p:cNvSpPr txBox="1"/>
          <p:nvPr/>
        </p:nvSpPr>
        <p:spPr>
          <a:xfrm>
            <a:off x="5806440" y="1508760"/>
            <a:ext cx="5641847" cy="219456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182230"/>
                </a:solidFill>
                <a:latin typeface="Aptos"/>
              </a:rPr>
              <a:t>RISK REGISTER  |  ID / EXPOSURE / OWNER / MITIGATION</a:t>
            </a:r>
          </a:p>
        </p:txBody>
      </p:sp>
      <p:sp>
        <p:nvSpPr>
          <p:cNvPr id="57" name="heatmap.register.1.status"/>
          <p:cNvSpPr/>
          <p:nvPr/>
        </p:nvSpPr>
        <p:spPr>
          <a:xfrm>
            <a:off x="5797296" y="1892807"/>
            <a:ext cx="91440" cy="91440"/>
          </a:xfrm>
          <a:prstGeom prst="ellipse">
            <a:avLst/>
          </a:prstGeom>
          <a:solidFill>
            <a:srgbClr val="D92D20"/>
          </a:solidFill>
          <a:ln w="8255"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heatmap.register.1.id"/>
          <p:cNvSpPr txBox="1"/>
          <p:nvPr/>
        </p:nvSpPr>
        <p:spPr>
          <a:xfrm>
            <a:off x="5952744" y="1828800"/>
            <a:ext cx="384048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182230"/>
                </a:solidFill>
                <a:latin typeface="Aptos"/>
              </a:rPr>
              <a:t>R1</a:t>
            </a:r>
          </a:p>
        </p:txBody>
      </p:sp>
      <p:sp>
        <p:nvSpPr>
          <p:cNvPr id="59" name="heatmap.register.1.label"/>
          <p:cNvSpPr txBox="1"/>
          <p:nvPr/>
        </p:nvSpPr>
        <p:spPr>
          <a:xfrm>
            <a:off x="6355080" y="1828800"/>
            <a:ext cx="191073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344054"/>
                </a:solidFill>
                <a:latin typeface="Aptos"/>
              </a:rPr>
              <a:t>Source data quality</a:t>
            </a:r>
          </a:p>
        </p:txBody>
      </p:sp>
      <p:sp>
        <p:nvSpPr>
          <p:cNvPr id="60" name="heatmap.register.1.owner"/>
          <p:cNvSpPr txBox="1"/>
          <p:nvPr/>
        </p:nvSpPr>
        <p:spPr>
          <a:xfrm>
            <a:off x="8507943" y="1810512"/>
            <a:ext cx="1074785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1">
                <a:solidFill>
                  <a:srgbClr val="667085"/>
                </a:solidFill>
                <a:latin typeface="Aptos"/>
              </a:rPr>
              <a:t>L5 × I5
Data</a:t>
            </a:r>
          </a:p>
        </p:txBody>
      </p:sp>
      <p:sp>
        <p:nvSpPr>
          <p:cNvPr id="61" name="heatmap.register.1.mitigation"/>
          <p:cNvSpPr txBox="1"/>
          <p:nvPr/>
        </p:nvSpPr>
        <p:spPr>
          <a:xfrm>
            <a:off x="9642439" y="1810512"/>
            <a:ext cx="1791309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344054"/>
                </a:solidFill>
                <a:latin typeface="Aptos"/>
              </a:rPr>
              <a:t>Daily cleanse burn-down</a:t>
            </a:r>
          </a:p>
        </p:txBody>
      </p:sp>
      <p:cxnSp>
        <p:nvCxnSpPr>
          <p:cNvPr id="62" name="heatmap.register.1.rule"/>
          <p:cNvCxnSpPr/>
          <p:nvPr/>
        </p:nvCxnSpPr>
        <p:spPr>
          <a:xfrm>
            <a:off x="5788152" y="2453640"/>
            <a:ext cx="5678424" cy="0"/>
          </a:xfrm>
          <a:prstGeom prst="line">
            <a:avLst/>
          </a:prstGeom>
          <a:ln w="635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heatmap.register.2.status"/>
          <p:cNvSpPr/>
          <p:nvPr/>
        </p:nvSpPr>
        <p:spPr>
          <a:xfrm>
            <a:off x="5797296" y="2563368"/>
            <a:ext cx="91440" cy="91440"/>
          </a:xfrm>
          <a:prstGeom prst="ellipse">
            <a:avLst/>
          </a:prstGeom>
          <a:solidFill>
            <a:srgbClr val="D92D20"/>
          </a:solidFill>
          <a:ln w="8255"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heatmap.register.2.id"/>
          <p:cNvSpPr txBox="1"/>
          <p:nvPr/>
        </p:nvSpPr>
        <p:spPr>
          <a:xfrm>
            <a:off x="5952744" y="2499359"/>
            <a:ext cx="384048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182230"/>
                </a:solidFill>
                <a:latin typeface="Aptos"/>
              </a:rPr>
              <a:t>R2</a:t>
            </a:r>
          </a:p>
        </p:txBody>
      </p:sp>
      <p:sp>
        <p:nvSpPr>
          <p:cNvPr id="65" name="heatmap.register.2.label"/>
          <p:cNvSpPr txBox="1"/>
          <p:nvPr/>
        </p:nvSpPr>
        <p:spPr>
          <a:xfrm>
            <a:off x="6355080" y="2499359"/>
            <a:ext cx="191073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344054"/>
                </a:solidFill>
                <a:latin typeface="Aptos"/>
              </a:rPr>
              <a:t>Interface latency</a:t>
            </a:r>
          </a:p>
        </p:txBody>
      </p:sp>
      <p:sp>
        <p:nvSpPr>
          <p:cNvPr id="66" name="heatmap.register.2.owner"/>
          <p:cNvSpPr txBox="1"/>
          <p:nvPr/>
        </p:nvSpPr>
        <p:spPr>
          <a:xfrm>
            <a:off x="8507943" y="2481072"/>
            <a:ext cx="1074785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1">
                <a:solidFill>
                  <a:srgbClr val="667085"/>
                </a:solidFill>
                <a:latin typeface="Aptos"/>
              </a:rPr>
              <a:t>L4 × I5
Engineering</a:t>
            </a:r>
          </a:p>
        </p:txBody>
      </p:sp>
      <p:sp>
        <p:nvSpPr>
          <p:cNvPr id="67" name="heatmap.register.2.mitigation"/>
          <p:cNvSpPr txBox="1"/>
          <p:nvPr/>
        </p:nvSpPr>
        <p:spPr>
          <a:xfrm>
            <a:off x="9642439" y="2481072"/>
            <a:ext cx="1791309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344054"/>
                </a:solidFill>
                <a:latin typeface="Aptos"/>
              </a:rPr>
              <a:t>Performance war room</a:t>
            </a:r>
          </a:p>
        </p:txBody>
      </p:sp>
      <p:cxnSp>
        <p:nvCxnSpPr>
          <p:cNvPr id="68" name="heatmap.register.2.rule"/>
          <p:cNvCxnSpPr/>
          <p:nvPr/>
        </p:nvCxnSpPr>
        <p:spPr>
          <a:xfrm>
            <a:off x="5788152" y="3124200"/>
            <a:ext cx="5678424" cy="0"/>
          </a:xfrm>
          <a:prstGeom prst="line">
            <a:avLst/>
          </a:prstGeom>
          <a:ln w="635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heatmap.register.3.status"/>
          <p:cNvSpPr/>
          <p:nvPr/>
        </p:nvSpPr>
        <p:spPr>
          <a:xfrm>
            <a:off x="5797296" y="3233928"/>
            <a:ext cx="91440" cy="91440"/>
          </a:xfrm>
          <a:prstGeom prst="ellipse">
            <a:avLst/>
          </a:prstGeom>
          <a:solidFill>
            <a:srgbClr val="F2C94C"/>
          </a:solidFill>
          <a:ln w="8255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heatmap.register.3.id"/>
          <p:cNvSpPr txBox="1"/>
          <p:nvPr/>
        </p:nvSpPr>
        <p:spPr>
          <a:xfrm>
            <a:off x="5952744" y="3169919"/>
            <a:ext cx="384048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182230"/>
                </a:solidFill>
                <a:latin typeface="Aptos"/>
              </a:rPr>
              <a:t>R3</a:t>
            </a:r>
          </a:p>
        </p:txBody>
      </p:sp>
      <p:sp>
        <p:nvSpPr>
          <p:cNvPr id="71" name="heatmap.register.3.label"/>
          <p:cNvSpPr txBox="1"/>
          <p:nvPr/>
        </p:nvSpPr>
        <p:spPr>
          <a:xfrm>
            <a:off x="6355080" y="3169919"/>
            <a:ext cx="191073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344054"/>
                </a:solidFill>
                <a:latin typeface="Aptos"/>
              </a:rPr>
              <a:t>SME availability</a:t>
            </a:r>
          </a:p>
        </p:txBody>
      </p:sp>
      <p:sp>
        <p:nvSpPr>
          <p:cNvPr id="72" name="heatmap.register.3.owner"/>
          <p:cNvSpPr txBox="1"/>
          <p:nvPr/>
        </p:nvSpPr>
        <p:spPr>
          <a:xfrm>
            <a:off x="8507943" y="3151632"/>
            <a:ext cx="1074785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1">
                <a:solidFill>
                  <a:srgbClr val="667085"/>
                </a:solidFill>
                <a:latin typeface="Aptos"/>
              </a:rPr>
              <a:t>L4 × I4
Operations</a:t>
            </a:r>
          </a:p>
        </p:txBody>
      </p:sp>
      <p:sp>
        <p:nvSpPr>
          <p:cNvPr id="73" name="heatmap.register.3.mitigation"/>
          <p:cNvSpPr txBox="1"/>
          <p:nvPr/>
        </p:nvSpPr>
        <p:spPr>
          <a:xfrm>
            <a:off x="9642439" y="3151632"/>
            <a:ext cx="1791309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344054"/>
                </a:solidFill>
                <a:latin typeface="Aptos"/>
              </a:rPr>
              <a:t>Named alternates</a:t>
            </a:r>
          </a:p>
        </p:txBody>
      </p:sp>
      <p:cxnSp>
        <p:nvCxnSpPr>
          <p:cNvPr id="74" name="heatmap.register.3.rule"/>
          <p:cNvCxnSpPr/>
          <p:nvPr/>
        </p:nvCxnSpPr>
        <p:spPr>
          <a:xfrm>
            <a:off x="5788152" y="3794759"/>
            <a:ext cx="5678424" cy="0"/>
          </a:xfrm>
          <a:prstGeom prst="line">
            <a:avLst/>
          </a:prstGeom>
          <a:ln w="635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heatmap.register.4.status"/>
          <p:cNvSpPr/>
          <p:nvPr/>
        </p:nvSpPr>
        <p:spPr>
          <a:xfrm>
            <a:off x="5797296" y="3904487"/>
            <a:ext cx="91440" cy="91440"/>
          </a:xfrm>
          <a:prstGeom prst="ellipse">
            <a:avLst/>
          </a:prstGeom>
          <a:solidFill>
            <a:srgbClr val="F2C94C"/>
          </a:solidFill>
          <a:ln w="8255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heatmap.register.4.id"/>
          <p:cNvSpPr txBox="1"/>
          <p:nvPr/>
        </p:nvSpPr>
        <p:spPr>
          <a:xfrm>
            <a:off x="5952744" y="3840479"/>
            <a:ext cx="384048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182230"/>
                </a:solidFill>
                <a:latin typeface="Aptos"/>
              </a:rPr>
              <a:t>R4</a:t>
            </a:r>
          </a:p>
        </p:txBody>
      </p:sp>
      <p:sp>
        <p:nvSpPr>
          <p:cNvPr id="77" name="heatmap.register.4.label"/>
          <p:cNvSpPr txBox="1"/>
          <p:nvPr/>
        </p:nvSpPr>
        <p:spPr>
          <a:xfrm>
            <a:off x="6355080" y="3840479"/>
            <a:ext cx="191073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344054"/>
                </a:solidFill>
                <a:latin typeface="Aptos"/>
              </a:rPr>
              <a:t>Training completion</a:t>
            </a:r>
          </a:p>
        </p:txBody>
      </p:sp>
      <p:sp>
        <p:nvSpPr>
          <p:cNvPr id="78" name="heatmap.register.4.owner"/>
          <p:cNvSpPr txBox="1"/>
          <p:nvPr/>
        </p:nvSpPr>
        <p:spPr>
          <a:xfrm>
            <a:off x="8507943" y="3822191"/>
            <a:ext cx="1074785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1">
                <a:solidFill>
                  <a:srgbClr val="667085"/>
                </a:solidFill>
                <a:latin typeface="Aptos"/>
              </a:rPr>
              <a:t>L4 × I4
Change</a:t>
            </a:r>
          </a:p>
        </p:txBody>
      </p:sp>
      <p:sp>
        <p:nvSpPr>
          <p:cNvPr id="79" name="heatmap.register.4.mitigation"/>
          <p:cNvSpPr txBox="1"/>
          <p:nvPr/>
        </p:nvSpPr>
        <p:spPr>
          <a:xfrm>
            <a:off x="9642439" y="3822191"/>
            <a:ext cx="1791309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344054"/>
                </a:solidFill>
                <a:latin typeface="Aptos"/>
              </a:rPr>
              <a:t>Manager escalation</a:t>
            </a:r>
          </a:p>
        </p:txBody>
      </p:sp>
      <p:cxnSp>
        <p:nvCxnSpPr>
          <p:cNvPr id="80" name="heatmap.register.4.rule"/>
          <p:cNvCxnSpPr/>
          <p:nvPr/>
        </p:nvCxnSpPr>
        <p:spPr>
          <a:xfrm>
            <a:off x="5788152" y="4465320"/>
            <a:ext cx="5678424" cy="0"/>
          </a:xfrm>
          <a:prstGeom prst="line">
            <a:avLst/>
          </a:prstGeom>
          <a:ln w="635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heatmap.register.5.status"/>
          <p:cNvSpPr/>
          <p:nvPr/>
        </p:nvSpPr>
        <p:spPr>
          <a:xfrm>
            <a:off x="5797296" y="4575048"/>
            <a:ext cx="91440" cy="91440"/>
          </a:xfrm>
          <a:prstGeom prst="ellipse">
            <a:avLst/>
          </a:prstGeom>
          <a:solidFill>
            <a:srgbClr val="F2C94C"/>
          </a:solidFill>
          <a:ln w="8255">
            <a:solidFill>
              <a:srgbClr val="F2C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heatmap.register.5.id"/>
          <p:cNvSpPr txBox="1"/>
          <p:nvPr/>
        </p:nvSpPr>
        <p:spPr>
          <a:xfrm>
            <a:off x="5952744" y="4511039"/>
            <a:ext cx="384048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182230"/>
                </a:solidFill>
                <a:latin typeface="Aptos"/>
              </a:rPr>
              <a:t>R5</a:t>
            </a:r>
          </a:p>
        </p:txBody>
      </p:sp>
      <p:sp>
        <p:nvSpPr>
          <p:cNvPr id="83" name="heatmap.register.5.label"/>
          <p:cNvSpPr txBox="1"/>
          <p:nvPr/>
        </p:nvSpPr>
        <p:spPr>
          <a:xfrm>
            <a:off x="6355080" y="4511039"/>
            <a:ext cx="191073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344054"/>
                </a:solidFill>
                <a:latin typeface="Aptos"/>
              </a:rPr>
              <a:t>Vendor access</a:t>
            </a:r>
          </a:p>
        </p:txBody>
      </p:sp>
      <p:sp>
        <p:nvSpPr>
          <p:cNvPr id="84" name="heatmap.register.5.owner"/>
          <p:cNvSpPr txBox="1"/>
          <p:nvPr/>
        </p:nvSpPr>
        <p:spPr>
          <a:xfrm>
            <a:off x="8507943" y="4492752"/>
            <a:ext cx="1074785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1">
                <a:solidFill>
                  <a:srgbClr val="667085"/>
                </a:solidFill>
                <a:latin typeface="Aptos"/>
              </a:rPr>
              <a:t>L4 × I4
Security</a:t>
            </a:r>
          </a:p>
        </p:txBody>
      </p:sp>
      <p:sp>
        <p:nvSpPr>
          <p:cNvPr id="85" name="heatmap.register.5.mitigation"/>
          <p:cNvSpPr txBox="1"/>
          <p:nvPr/>
        </p:nvSpPr>
        <p:spPr>
          <a:xfrm>
            <a:off x="9642439" y="4492752"/>
            <a:ext cx="1791309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344054"/>
                </a:solidFill>
                <a:latin typeface="Aptos"/>
              </a:rPr>
              <a:t>Pre-approved access window</a:t>
            </a:r>
          </a:p>
        </p:txBody>
      </p:sp>
      <p:cxnSp>
        <p:nvCxnSpPr>
          <p:cNvPr id="86" name="heatmap.register.5.rule"/>
          <p:cNvCxnSpPr/>
          <p:nvPr/>
        </p:nvCxnSpPr>
        <p:spPr>
          <a:xfrm>
            <a:off x="5788152" y="5135880"/>
            <a:ext cx="5678424" cy="0"/>
          </a:xfrm>
          <a:prstGeom prst="line">
            <a:avLst/>
          </a:prstGeom>
          <a:ln w="6350">
            <a:solidFill>
              <a:srgbClr val="E4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heatmap.register.6.status"/>
          <p:cNvSpPr/>
          <p:nvPr/>
        </p:nvSpPr>
        <p:spPr>
          <a:xfrm>
            <a:off x="5797296" y="5245608"/>
            <a:ext cx="91440" cy="91440"/>
          </a:xfrm>
          <a:prstGeom prst="ellipse">
            <a:avLst/>
          </a:prstGeom>
          <a:solidFill>
            <a:srgbClr val="98A2B3"/>
          </a:solidFill>
          <a:ln w="8255">
            <a:solidFill>
              <a:srgbClr val="98A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heatmap.register.6.id"/>
          <p:cNvSpPr txBox="1"/>
          <p:nvPr/>
        </p:nvSpPr>
        <p:spPr>
          <a:xfrm>
            <a:off x="5952744" y="5181599"/>
            <a:ext cx="384048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182230"/>
                </a:solidFill>
                <a:latin typeface="Aptos"/>
              </a:rPr>
              <a:t>R6</a:t>
            </a:r>
          </a:p>
        </p:txBody>
      </p:sp>
      <p:sp>
        <p:nvSpPr>
          <p:cNvPr id="89" name="heatmap.register.6.label"/>
          <p:cNvSpPr txBox="1"/>
          <p:nvPr/>
        </p:nvSpPr>
        <p:spPr>
          <a:xfrm>
            <a:off x="6355080" y="5181599"/>
            <a:ext cx="191073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344054"/>
                </a:solidFill>
                <a:latin typeface="Aptos"/>
              </a:rPr>
              <a:t>Benefits attribution</a:t>
            </a:r>
          </a:p>
        </p:txBody>
      </p:sp>
      <p:sp>
        <p:nvSpPr>
          <p:cNvPr id="90" name="heatmap.register.6.owner"/>
          <p:cNvSpPr txBox="1"/>
          <p:nvPr/>
        </p:nvSpPr>
        <p:spPr>
          <a:xfrm>
            <a:off x="8507943" y="5163312"/>
            <a:ext cx="1074785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1">
                <a:solidFill>
                  <a:srgbClr val="667085"/>
                </a:solidFill>
                <a:latin typeface="Aptos"/>
              </a:rPr>
              <a:t>L2 × I3
Finance</a:t>
            </a:r>
          </a:p>
        </p:txBody>
      </p:sp>
      <p:sp>
        <p:nvSpPr>
          <p:cNvPr id="91" name="heatmap.register.6.mitigation"/>
          <p:cNvSpPr txBox="1"/>
          <p:nvPr/>
        </p:nvSpPr>
        <p:spPr>
          <a:xfrm>
            <a:off x="9642439" y="5163312"/>
            <a:ext cx="1791309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344054"/>
                </a:solidFill>
                <a:latin typeface="Aptos"/>
              </a:rPr>
              <a:t>Reconcile baseline monthly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aci.kicker"/>
          <p:cNvSpPr txBox="1"/>
          <p:nvPr/>
        </p:nvSpPr>
        <p:spPr>
          <a:xfrm>
            <a:off x="512064" y="219456"/>
            <a:ext cx="4389120" cy="201168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" b="1">
                <a:solidFill>
                  <a:srgbClr val="2F6BFF"/>
                </a:solidFill>
                <a:latin typeface="Aptos"/>
              </a:rPr>
              <a:t>RACI MATRIX</a:t>
            </a:r>
          </a:p>
        </p:txBody>
      </p:sp>
      <p:sp>
        <p:nvSpPr>
          <p:cNvPr id="3" name="raci.title"/>
          <p:cNvSpPr txBox="1"/>
          <p:nvPr/>
        </p:nvSpPr>
        <p:spPr>
          <a:xfrm>
            <a:off x="512064" y="475488"/>
            <a:ext cx="10927080" cy="7132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200" b="1">
                <a:solidFill>
                  <a:srgbClr val="182230"/>
                </a:solidFill>
                <a:latin typeface="Aptos"/>
              </a:rPr>
              <a:t>Single-point accountability is explicit across the pilot governance chain</a:t>
            </a:r>
          </a:p>
        </p:txBody>
      </p:sp>
      <p:cxnSp>
        <p:nvCxnSpPr>
          <p:cNvPr id="4" name="raci.title_rule"/>
          <p:cNvCxnSpPr/>
          <p:nvPr/>
        </p:nvCxnSpPr>
        <p:spPr>
          <a:xfrm>
            <a:off x="512064" y="1225296"/>
            <a:ext cx="11173968" cy="0"/>
          </a:xfrm>
          <a:prstGeom prst="line">
            <a:avLst/>
          </a:prstGeom>
          <a:ln w="825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aci.footer"/>
          <p:cNvSpPr txBox="1"/>
          <p:nvPr/>
        </p:nvSpPr>
        <p:spPr>
          <a:xfrm>
            <a:off x="8915400" y="6492240"/>
            <a:ext cx="2743200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ptos"/>
              </a:rPr>
              <a:t>BOARDROOM INK / NATIVE EDITABLE</a:t>
            </a:r>
          </a:p>
        </p:txBody>
      </p:sp>
      <p:graphicFrame>
        <p:nvGraphicFramePr>
          <p:cNvPr id="6" name="raci.native_table"/>
          <p:cNvGraphicFramePr>
            <a:graphicFrameLocks noGrp="1"/>
          </p:cNvGraphicFramePr>
          <p:nvPr/>
        </p:nvGraphicFramePr>
        <p:xfrm>
          <a:off x="585216" y="1353312"/>
          <a:ext cx="10991085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1622145"/>
                <a:gridCol w="1622145"/>
                <a:gridCol w="1622145"/>
                <a:gridCol w="1622145"/>
                <a:gridCol w="1622145"/>
              </a:tblGrid>
              <a:tr h="752856"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ACTIVITY / DECISION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Sponsor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PMO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Product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Data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Change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752856">
                <a:tc>
                  <a:txBody>
                    <a:bodyPr wrap="square" anchor="ctr" lIns="45720" rIns="45720" tIns="18288" bIns="18288"/>
                    <a:lstStyle/>
                    <a:p>
                      <a:pPr algn="l"/>
                      <a:r>
                        <a:rPr sz="900" b="1">
                          <a:solidFill>
                            <a:srgbClr val="344054"/>
                          </a:solidFill>
                          <a:latin typeface="Aptos"/>
                        </a:rPr>
                        <a:t>Approve charter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</a:t>
                      </a:r>
                    </a:p>
                  </a:txBody>
                  <a:tcPr>
                    <a:solidFill>
                      <a:srgbClr val="2F6BFF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1200" b="1">
                          <a:solidFill>
                            <a:srgbClr val="182230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1200" b="1">
                          <a:solidFill>
                            <a:srgbClr val="667085"/>
                          </a:solidFill>
                          <a:latin typeface="Aptos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1200" b="1">
                          <a:solidFill>
                            <a:srgbClr val="667085"/>
                          </a:solidFill>
                          <a:latin typeface="Aptos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2856">
                <a:tc>
                  <a:txBody>
                    <a:bodyPr wrap="square" anchor="ctr" lIns="45720" rIns="45720" tIns="18288" bIns="18288"/>
                    <a:lstStyle/>
                    <a:p>
                      <a:pPr algn="l"/>
                      <a:r>
                        <a:rPr sz="900" b="1">
                          <a:solidFill>
                            <a:srgbClr val="344054"/>
                          </a:solidFill>
                          <a:latin typeface="Aptos"/>
                        </a:rPr>
                        <a:t>Sign blueprint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1200" b="1">
                          <a:solidFill>
                            <a:srgbClr val="667085"/>
                          </a:solidFill>
                          <a:latin typeface="Aptos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</a:t>
                      </a:r>
                    </a:p>
                  </a:txBody>
                  <a:tcPr>
                    <a:solidFill>
                      <a:srgbClr val="2F6BFF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1200" b="1">
                          <a:solidFill>
                            <a:srgbClr val="182230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1200" b="1">
                          <a:solidFill>
                            <a:srgbClr val="667085"/>
                          </a:solidFill>
                          <a:latin typeface="Aptos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2856">
                <a:tc>
                  <a:txBody>
                    <a:bodyPr wrap="square" anchor="ctr" lIns="45720" rIns="45720" tIns="18288" bIns="18288"/>
                    <a:lstStyle/>
                    <a:p>
                      <a:pPr algn="l"/>
                      <a:r>
                        <a:rPr sz="900" b="1">
                          <a:solidFill>
                            <a:srgbClr val="344054"/>
                          </a:solidFill>
                          <a:latin typeface="Aptos"/>
                        </a:rPr>
                        <a:t>Release pilot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1200" b="1">
                          <a:solidFill>
                            <a:srgbClr val="667085"/>
                          </a:solidFill>
                          <a:latin typeface="Aptos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</a:t>
                      </a:r>
                    </a:p>
                  </a:txBody>
                  <a:tcPr>
                    <a:solidFill>
                      <a:srgbClr val="2F6BFF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1200" b="1">
                          <a:solidFill>
                            <a:srgbClr val="667085"/>
                          </a:solidFill>
                          <a:latin typeface="Aptos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1200" b="1">
                          <a:solidFill>
                            <a:srgbClr val="182230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752856">
                <a:tc>
                  <a:txBody>
                    <a:bodyPr wrap="square" anchor="ctr" lIns="45720" rIns="45720" tIns="18288" bIns="18288"/>
                    <a:lstStyle/>
                    <a:p>
                      <a:pPr algn="l"/>
                      <a:r>
                        <a:rPr sz="900" b="1">
                          <a:solidFill>
                            <a:srgbClr val="344054"/>
                          </a:solidFill>
                          <a:latin typeface="Aptos"/>
                        </a:rPr>
                        <a:t>Validate benefits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</a:t>
                      </a:r>
                    </a:p>
                  </a:txBody>
                  <a:tcPr>
                    <a:solidFill>
                      <a:srgbClr val="2F6BFF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1200" b="1">
                          <a:solidFill>
                            <a:srgbClr val="667085"/>
                          </a:solidFill>
                          <a:latin typeface="Aptos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1200" b="1">
                          <a:solidFill>
                            <a:srgbClr val="182230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1200" b="1">
                          <a:solidFill>
                            <a:srgbClr val="667085"/>
                          </a:solidFill>
                          <a:latin typeface="Aptos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2856">
                <a:tc>
                  <a:txBody>
                    <a:bodyPr wrap="square" anchor="ctr" lIns="45720" rIns="45720" tIns="18288" bIns="18288"/>
                    <a:lstStyle/>
                    <a:p>
                      <a:pPr algn="l"/>
                      <a:r>
                        <a:rPr sz="900" b="1">
                          <a:solidFill>
                            <a:srgbClr val="344054"/>
                          </a:solidFill>
                          <a:latin typeface="Aptos"/>
                        </a:rPr>
                        <a:t>Approve scale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</a:t>
                      </a:r>
                    </a:p>
                  </a:txBody>
                  <a:tcPr>
                    <a:solidFill>
                      <a:srgbClr val="2F6BFF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1200" b="1">
                          <a:solidFill>
                            <a:srgbClr val="182230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1200" b="1">
                          <a:solidFill>
                            <a:srgbClr val="667085"/>
                          </a:solidFill>
                          <a:latin typeface="Aptos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 tIns="18288" bIns="18288"/>
                    <a:lstStyle/>
                    <a:p>
                      <a:pPr algn="ctr"/>
                      <a:r>
                        <a:rPr sz="1200" b="1">
                          <a:solidFill>
                            <a:srgbClr val="344054"/>
                          </a:solidFill>
                          <a:latin typeface="Aptos"/>
                        </a:rPr>
                        <a:t>I</a:t>
                      </a:r>
                    </a:p>
                  </a:txBody>
                  <a:tcPr>
                    <a:solidFill>
                      <a:srgbClr val="E4E7EC"/>
                    </a:solidFill>
                  </a:tcPr>
                </a:tc>
              </a:tr>
            </a:tbl>
          </a:graphicData>
        </a:graphic>
      </p:graphicFrame>
      <p:sp>
        <p:nvSpPr>
          <p:cNvPr id="7" name="raci.legend.A.box"/>
          <p:cNvSpPr/>
          <p:nvPr/>
        </p:nvSpPr>
        <p:spPr>
          <a:xfrm>
            <a:off x="6629400" y="6044184"/>
            <a:ext cx="219456" cy="164592"/>
          </a:xfrm>
          <a:prstGeom prst="roundRect">
            <a:avLst/>
          </a:prstGeom>
          <a:solidFill>
            <a:srgbClr val="17365D"/>
          </a:solidFill>
          <a:ln w="825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aci.legend.A.code"/>
          <p:cNvSpPr txBox="1"/>
          <p:nvPr/>
        </p:nvSpPr>
        <p:spPr>
          <a:xfrm>
            <a:off x="6629400" y="6025896"/>
            <a:ext cx="219456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raci.legend.A.label"/>
          <p:cNvSpPr txBox="1"/>
          <p:nvPr/>
        </p:nvSpPr>
        <p:spPr>
          <a:xfrm>
            <a:off x="6912864" y="6016752"/>
            <a:ext cx="841248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Accountable</a:t>
            </a:r>
          </a:p>
        </p:txBody>
      </p:sp>
      <p:sp>
        <p:nvSpPr>
          <p:cNvPr id="10" name="raci.legend.R.box"/>
          <p:cNvSpPr/>
          <p:nvPr/>
        </p:nvSpPr>
        <p:spPr>
          <a:xfrm>
            <a:off x="7845552" y="6044184"/>
            <a:ext cx="219456" cy="164592"/>
          </a:xfrm>
          <a:prstGeom prst="roundRect">
            <a:avLst/>
          </a:prstGeom>
          <a:solidFill>
            <a:srgbClr val="2F6BFF"/>
          </a:solidFill>
          <a:ln w="825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aci.legend.R.code"/>
          <p:cNvSpPr txBox="1"/>
          <p:nvPr/>
        </p:nvSpPr>
        <p:spPr>
          <a:xfrm>
            <a:off x="7845552" y="6025896"/>
            <a:ext cx="219456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12" name="raci.legend.R.label"/>
          <p:cNvSpPr txBox="1"/>
          <p:nvPr/>
        </p:nvSpPr>
        <p:spPr>
          <a:xfrm>
            <a:off x="8129016" y="6016752"/>
            <a:ext cx="841248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Responsible</a:t>
            </a:r>
          </a:p>
        </p:txBody>
      </p:sp>
      <p:sp>
        <p:nvSpPr>
          <p:cNvPr id="13" name="raci.legend.C.box"/>
          <p:cNvSpPr/>
          <p:nvPr/>
        </p:nvSpPr>
        <p:spPr>
          <a:xfrm>
            <a:off x="9061704" y="6044184"/>
            <a:ext cx="219456" cy="164592"/>
          </a:xfrm>
          <a:prstGeom prst="roundRect">
            <a:avLst/>
          </a:prstGeom>
          <a:solidFill>
            <a:srgbClr val="F7F8FA"/>
          </a:solidFill>
          <a:ln w="825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aci.legend.C.code"/>
          <p:cNvSpPr txBox="1"/>
          <p:nvPr/>
        </p:nvSpPr>
        <p:spPr>
          <a:xfrm>
            <a:off x="9061704" y="6025896"/>
            <a:ext cx="219456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1">
                <a:solidFill>
                  <a:srgbClr val="182230"/>
                </a:solidFill>
                <a:latin typeface="Aptos"/>
              </a:rPr>
              <a:t>C</a:t>
            </a:r>
          </a:p>
        </p:txBody>
      </p:sp>
      <p:sp>
        <p:nvSpPr>
          <p:cNvPr id="15" name="raci.legend.C.label"/>
          <p:cNvSpPr txBox="1"/>
          <p:nvPr/>
        </p:nvSpPr>
        <p:spPr>
          <a:xfrm>
            <a:off x="9345168" y="6016752"/>
            <a:ext cx="841248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Consulted</a:t>
            </a:r>
          </a:p>
        </p:txBody>
      </p:sp>
      <p:sp>
        <p:nvSpPr>
          <p:cNvPr id="16" name="raci.legend.I.box"/>
          <p:cNvSpPr/>
          <p:nvPr/>
        </p:nvSpPr>
        <p:spPr>
          <a:xfrm>
            <a:off x="10277856" y="6044184"/>
            <a:ext cx="219456" cy="164592"/>
          </a:xfrm>
          <a:prstGeom prst="roundRect">
            <a:avLst/>
          </a:prstGeom>
          <a:solidFill>
            <a:srgbClr val="E4E7EC"/>
          </a:solidFill>
          <a:ln w="825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aci.legend.I.code"/>
          <p:cNvSpPr txBox="1"/>
          <p:nvPr/>
        </p:nvSpPr>
        <p:spPr>
          <a:xfrm>
            <a:off x="10277856" y="6025896"/>
            <a:ext cx="219456" cy="16459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800" b="1">
                <a:solidFill>
                  <a:srgbClr val="344054"/>
                </a:solidFill>
                <a:latin typeface="Aptos"/>
              </a:rPr>
              <a:t>I</a:t>
            </a:r>
          </a:p>
        </p:txBody>
      </p:sp>
      <p:sp>
        <p:nvSpPr>
          <p:cNvPr id="18" name="raci.legend.I.label"/>
          <p:cNvSpPr txBox="1"/>
          <p:nvPr/>
        </p:nvSpPr>
        <p:spPr>
          <a:xfrm>
            <a:off x="10561320" y="6016752"/>
            <a:ext cx="841248" cy="1828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667085"/>
                </a:solidFill>
                <a:latin typeface="Aptos"/>
              </a:rPr>
              <a:t>Informed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