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ision_brief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DECISION BRIEF</a:t>
            </a:r>
          </a:p>
        </p:txBody>
      </p:sp>
      <p:sp>
        <p:nvSpPr>
          <p:cNvPr id="3" name="decision_brief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The decision is bounded by declared evidence, route, and readiness</a:t>
            </a:r>
          </a:p>
        </p:txBody>
      </p:sp>
      <p:cxnSp>
        <p:nvCxnSpPr>
          <p:cNvPr id="4" name="decision_brief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_brief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decision-pipeline-f885d13be2f9d088  |  HASH f885d13be2f9  |  CUTOFF not supplied in DecisionPackage  |  MODEL decision_pipeline / decision-pipeline-1.0.0  |  STATUS no_recommendation</a:t>
            </a:r>
          </a:p>
        </p:txBody>
      </p:sp>
      <p:cxnSp>
        <p:nvCxnSpPr>
          <p:cNvPr id="6" name="decision_brief.connector.stage.1"/>
          <p:cNvCxnSpPr/>
          <p:nvPr/>
        </p:nvCxnSpPr>
        <p:spPr>
          <a:xfrm>
            <a:off x="2267712" y="3456432"/>
            <a:ext cx="237744" cy="0"/>
          </a:xfrm>
          <a:prstGeom prst="bentConnector3">
            <a:avLst/>
          </a:prstGeom>
          <a:ln w="27940">
            <a:solidFill>
              <a:srgbClr val="285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ecision_brief.connector.stage.2"/>
          <p:cNvCxnSpPr/>
          <p:nvPr/>
        </p:nvCxnSpPr>
        <p:spPr>
          <a:xfrm>
            <a:off x="4407408" y="3456432"/>
            <a:ext cx="219456" cy="0"/>
          </a:xfrm>
          <a:prstGeom prst="bentConnector3">
            <a:avLst/>
          </a:prstGeom>
          <a:ln w="27940">
            <a:solidFill>
              <a:srgbClr val="285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ecision_brief.connector.framework.1"/>
          <p:cNvCxnSpPr/>
          <p:nvPr/>
        </p:nvCxnSpPr>
        <p:spPr>
          <a:xfrm flipV="1">
            <a:off x="6473952" y="2203704"/>
            <a:ext cx="256032" cy="1252728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ecision_brief.connector.rejoin.1"/>
          <p:cNvCxnSpPr/>
          <p:nvPr/>
        </p:nvCxnSpPr>
        <p:spPr>
          <a:xfrm>
            <a:off x="9217152" y="2203704"/>
            <a:ext cx="384048" cy="1252728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ecision_brief.connector.framework.2"/>
          <p:cNvCxnSpPr/>
          <p:nvPr/>
        </p:nvCxnSpPr>
        <p:spPr>
          <a:xfrm flipV="1">
            <a:off x="6473952" y="2898648"/>
            <a:ext cx="256032" cy="557784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ecision_brief.connector.rejoin.2"/>
          <p:cNvCxnSpPr/>
          <p:nvPr/>
        </p:nvCxnSpPr>
        <p:spPr>
          <a:xfrm>
            <a:off x="9217152" y="2898648"/>
            <a:ext cx="384048" cy="557784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ecision_brief.connector.framework.3"/>
          <p:cNvCxnSpPr/>
          <p:nvPr/>
        </p:nvCxnSpPr>
        <p:spPr>
          <a:xfrm>
            <a:off x="6473952" y="3456432"/>
            <a:ext cx="256032" cy="137160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ecision_brief.connector.rejoin.3"/>
          <p:cNvCxnSpPr/>
          <p:nvPr/>
        </p:nvCxnSpPr>
        <p:spPr>
          <a:xfrm flipV="1">
            <a:off x="9217152" y="3456432"/>
            <a:ext cx="384048" cy="137160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ecision_brief.connector.framework.4"/>
          <p:cNvCxnSpPr/>
          <p:nvPr/>
        </p:nvCxnSpPr>
        <p:spPr>
          <a:xfrm>
            <a:off x="6473952" y="3456432"/>
            <a:ext cx="256032" cy="832104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ecision_brief.connector.rejoin.4"/>
          <p:cNvCxnSpPr/>
          <p:nvPr/>
        </p:nvCxnSpPr>
        <p:spPr>
          <a:xfrm flipV="1">
            <a:off x="9217152" y="3456432"/>
            <a:ext cx="384048" cy="832104"/>
          </a:xfrm>
          <a:prstGeom prst="bentConnector3">
            <a:avLst/>
          </a:prstGeom>
          <a:ln w="17145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terial: decision_brief.stage.1"/>
          <p:cNvSpPr/>
          <p:nvPr/>
        </p:nvSpPr>
        <p:spPr>
          <a:xfrm>
            <a:off x="658368" y="2880360"/>
            <a:ext cx="1609344" cy="1170432"/>
          </a:xfrm>
          <a:prstGeom prst="homePlat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_brief.stage.1.label"/>
          <p:cNvSpPr txBox="1"/>
          <p:nvPr/>
        </p:nvSpPr>
        <p:spPr>
          <a:xfrm>
            <a:off x="749808" y="3127248"/>
            <a:ext cx="126187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DECLARED
EVIDENCE</a:t>
            </a:r>
          </a:p>
        </p:txBody>
      </p:sp>
      <p:sp>
        <p:nvSpPr>
          <p:cNvPr id="18" name="decision_brief.stage.1.detail"/>
          <p:cNvSpPr txBox="1"/>
          <p:nvPr/>
        </p:nvSpPr>
        <p:spPr>
          <a:xfrm>
            <a:off x="749808" y="4187952"/>
            <a:ext cx="14264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0">
                <a:solidFill>
                  <a:srgbClr val="667085"/>
                </a:solidFill>
                <a:latin typeface="Aptos"/>
              </a:rPr>
              <a:t>1 decisive fact</a:t>
            </a:r>
          </a:p>
        </p:txBody>
      </p:sp>
      <p:sp>
        <p:nvSpPr>
          <p:cNvPr id="19" name="Material: decision_brief.stage.2"/>
          <p:cNvSpPr/>
          <p:nvPr/>
        </p:nvSpPr>
        <p:spPr>
          <a:xfrm>
            <a:off x="2596896" y="2880360"/>
            <a:ext cx="1810512" cy="1170432"/>
          </a:xfrm>
          <a:prstGeom prst="homePlat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ision_brief.stage.2.label"/>
          <p:cNvSpPr txBox="1"/>
          <p:nvPr/>
        </p:nvSpPr>
        <p:spPr>
          <a:xfrm>
            <a:off x="2688336" y="3127248"/>
            <a:ext cx="14630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SUFFICIENCY
GATE</a:t>
            </a:r>
          </a:p>
        </p:txBody>
      </p:sp>
      <p:sp>
        <p:nvSpPr>
          <p:cNvPr id="21" name="decision_brief.stage.2.detail"/>
          <p:cNvSpPr txBox="1"/>
          <p:nvPr/>
        </p:nvSpPr>
        <p:spPr>
          <a:xfrm>
            <a:off x="2688336" y="4187952"/>
            <a:ext cx="1627632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0">
                <a:solidFill>
                  <a:srgbClr val="667085"/>
                </a:solidFill>
                <a:latin typeface="Aptos"/>
              </a:rPr>
              <a:t>PASS · no missing fields</a:t>
            </a:r>
          </a:p>
        </p:txBody>
      </p:sp>
      <p:sp>
        <p:nvSpPr>
          <p:cNvPr id="22" name="Material: decision_brief.stage.3"/>
          <p:cNvSpPr/>
          <p:nvPr/>
        </p:nvSpPr>
        <p:spPr>
          <a:xfrm>
            <a:off x="4718304" y="2880360"/>
            <a:ext cx="1755648" cy="1170432"/>
          </a:xfrm>
          <a:prstGeom prst="homePlate">
            <a:avLst/>
          </a:prstGeom>
          <a:solidFill>
            <a:srgbClr val="285489"/>
          </a:solidFill>
          <a:ln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ision_brief.stage.3.label"/>
          <p:cNvSpPr txBox="1"/>
          <p:nvPr/>
        </p:nvSpPr>
        <p:spPr>
          <a:xfrm>
            <a:off x="4809744" y="3127248"/>
            <a:ext cx="14081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40" b="1">
                <a:solidFill>
                  <a:srgbClr val="FFFFFF"/>
                </a:solidFill>
                <a:latin typeface="Aptos"/>
              </a:rPr>
              <a:t>4 FRAMEWORK
ASSESSMENTS</a:t>
            </a:r>
          </a:p>
        </p:txBody>
      </p:sp>
      <p:sp>
        <p:nvSpPr>
          <p:cNvPr id="24" name="decision_brief.stage.3.detail"/>
          <p:cNvSpPr txBox="1"/>
          <p:nvPr/>
        </p:nvSpPr>
        <p:spPr>
          <a:xfrm>
            <a:off x="4809744" y="4187952"/>
            <a:ext cx="15727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0">
                <a:solidFill>
                  <a:srgbClr val="667085"/>
                </a:solidFill>
                <a:latin typeface="Aptos"/>
              </a:rPr>
              <a:t>kept separate</a:t>
            </a:r>
          </a:p>
        </p:txBody>
      </p:sp>
      <p:sp>
        <p:nvSpPr>
          <p:cNvPr id="25" name="Material: decision_brief.stage.4"/>
          <p:cNvSpPr/>
          <p:nvPr/>
        </p:nvSpPr>
        <p:spPr>
          <a:xfrm>
            <a:off x="9601200" y="2880360"/>
            <a:ext cx="1975104" cy="1170432"/>
          </a:xfrm>
          <a:prstGeom prst="homePlat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ision_brief.stage.4.label"/>
          <p:cNvSpPr txBox="1"/>
          <p:nvPr/>
        </p:nvSpPr>
        <p:spPr>
          <a:xfrm>
            <a:off x="9674352" y="3127248"/>
            <a:ext cx="1792224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80" b="1">
                <a:solidFill>
                  <a:srgbClr val="182230"/>
                </a:solidFill>
                <a:latin typeface="Aptos"/>
              </a:rPr>
              <a:t>NO AGGREGATE
RECOMMENDATION</a:t>
            </a:r>
          </a:p>
        </p:txBody>
      </p:sp>
      <p:sp>
        <p:nvSpPr>
          <p:cNvPr id="27" name="decision_brief.stage.4.detail"/>
          <p:cNvSpPr txBox="1"/>
          <p:nvPr/>
        </p:nvSpPr>
        <p:spPr>
          <a:xfrm>
            <a:off x="9692640" y="4187952"/>
            <a:ext cx="179222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667085"/>
                </a:solidFill>
                <a:latin typeface="Aptos"/>
              </a:rPr>
              <a:t>intentional boundary</a:t>
            </a:r>
          </a:p>
        </p:txBody>
      </p:sp>
      <p:sp>
        <p:nvSpPr>
          <p:cNvPr id="28" name="Material: decision_brief.framework.1"/>
          <p:cNvSpPr/>
          <p:nvPr/>
        </p:nvSpPr>
        <p:spPr>
          <a:xfrm>
            <a:off x="6729984" y="1993392"/>
            <a:ext cx="2487168" cy="420624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ision_brief.framework.1.label"/>
          <p:cNvSpPr txBox="1"/>
          <p:nvPr/>
        </p:nvSpPr>
        <p:spPr>
          <a:xfrm>
            <a:off x="6858000" y="2084832"/>
            <a:ext cx="22311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82230"/>
                </a:solidFill>
                <a:latin typeface="Aptos"/>
              </a:rPr>
              <a:t>VALUE GATE</a:t>
            </a:r>
          </a:p>
        </p:txBody>
      </p:sp>
      <p:sp>
        <p:nvSpPr>
          <p:cNvPr id="30" name="Material: decision_brief.framework.2"/>
          <p:cNvSpPr/>
          <p:nvPr/>
        </p:nvSpPr>
        <p:spPr>
          <a:xfrm>
            <a:off x="6729984" y="2688336"/>
            <a:ext cx="2487168" cy="420624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ision_brief.framework.2.label"/>
          <p:cNvSpPr txBox="1"/>
          <p:nvPr/>
        </p:nvSpPr>
        <p:spPr>
          <a:xfrm>
            <a:off x="6858000" y="2779776"/>
            <a:ext cx="22311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82230"/>
                </a:solidFill>
                <a:latin typeface="Aptos"/>
              </a:rPr>
              <a:t>RESOURCE ALLOCATION</a:t>
            </a:r>
          </a:p>
        </p:txBody>
      </p:sp>
      <p:sp>
        <p:nvSpPr>
          <p:cNvPr id="32" name="Material: decision_brief.framework.3"/>
          <p:cNvSpPr/>
          <p:nvPr/>
        </p:nvSpPr>
        <p:spPr>
          <a:xfrm>
            <a:off x="6729984" y="3383280"/>
            <a:ext cx="2487168" cy="420624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ision_brief.framework.3.label"/>
          <p:cNvSpPr txBox="1"/>
          <p:nvPr/>
        </p:nvSpPr>
        <p:spPr>
          <a:xfrm>
            <a:off x="6858000" y="3474720"/>
            <a:ext cx="22311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82230"/>
                </a:solidFill>
                <a:latin typeface="Aptos"/>
              </a:rPr>
              <a:t>SCHEDULE ANALYSIS</a:t>
            </a:r>
          </a:p>
        </p:txBody>
      </p:sp>
      <p:sp>
        <p:nvSpPr>
          <p:cNvPr id="34" name="Material: decision_brief.framework.4"/>
          <p:cNvSpPr/>
          <p:nvPr/>
        </p:nvSpPr>
        <p:spPr>
          <a:xfrm>
            <a:off x="6729984" y="4078224"/>
            <a:ext cx="2487168" cy="420624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ision_brief.framework.4.label"/>
          <p:cNvSpPr txBox="1"/>
          <p:nvPr/>
        </p:nvSpPr>
        <p:spPr>
          <a:xfrm>
            <a:off x="6858000" y="4169664"/>
            <a:ext cx="22311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82230"/>
                </a:solidFill>
                <a:latin typeface="Aptos"/>
              </a:rPr>
              <a:t>RISK TREATMENT</a:t>
            </a:r>
          </a:p>
        </p:txBody>
      </p:sp>
      <p:sp>
        <p:nvSpPr>
          <p:cNvPr id="36" name="Material: decision_brief.terminal_state"/>
          <p:cNvSpPr/>
          <p:nvPr/>
        </p:nvSpPr>
        <p:spPr>
          <a:xfrm>
            <a:off x="9601200" y="4828032"/>
            <a:ext cx="1975104" cy="493776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ecision_brief.terminal_state.label"/>
          <p:cNvSpPr txBox="1"/>
          <p:nvPr/>
        </p:nvSpPr>
        <p:spPr>
          <a:xfrm>
            <a:off x="9710928" y="4965192"/>
            <a:ext cx="17556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182230"/>
                </a:solidFill>
                <a:latin typeface="Aptos"/>
              </a:rPr>
              <a:t>ROUTED, NOT COMBINED</a:t>
            </a:r>
          </a:p>
        </p:txBody>
      </p:sp>
      <p:sp>
        <p:nvSpPr>
          <p:cNvPr id="38" name="decision_brief.boundary"/>
          <p:cNvSpPr txBox="1"/>
          <p:nvPr/>
        </p:nvSpPr>
        <p:spPr>
          <a:xfrm>
            <a:off x="658368" y="5742432"/>
            <a:ext cx="108813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40" b="0">
                <a:solidFill>
                  <a:srgbClr val="667085"/>
                </a:solidFill>
                <a:latin typeface="Aptos"/>
              </a:rPr>
              <a:t>Evidence is sufficient to assess each domain. Readiness is not sufficient to collapse them into one opaque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enefits_dashboard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BENEFITS DASHBOARD</a:t>
            </a:r>
          </a:p>
        </p:txBody>
      </p:sp>
      <p:sp>
        <p:nvSpPr>
          <p:cNvPr id="3" name="benefits_dashboard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Benefits are ahead of plan, but future economics remain the decision basis</a:t>
            </a:r>
          </a:p>
        </p:txBody>
      </p:sp>
      <p:cxnSp>
        <p:nvCxnSpPr>
          <p:cNvPr id="4" name="benefits_dashboard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enefits_dashboard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value-gate-pmo-steerco-gold  |  HASH f885d13be2f9  |  CUTOFF not supplied in DecisionPackage  |  MODEL value_gate / 1.0.0  |  STATUS recommend</a:t>
            </a:r>
          </a:p>
        </p:txBody>
      </p:sp>
      <p:sp>
        <p:nvSpPr>
          <p:cNvPr id="6" name="benefits_dashboard.bullet.label"/>
          <p:cNvSpPr txBox="1"/>
          <p:nvPr/>
        </p:nvSpPr>
        <p:spPr>
          <a:xfrm>
            <a:off x="658368" y="1389888"/>
            <a:ext cx="4754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ACTUAL BENEFIT VS CURRENT PLAN</a:t>
            </a:r>
          </a:p>
        </p:txBody>
      </p:sp>
      <p:sp>
        <p:nvSpPr>
          <p:cNvPr id="7" name="Material: benefits_dashboard.bullet.track"/>
          <p:cNvSpPr/>
          <p:nvPr/>
        </p:nvSpPr>
        <p:spPr>
          <a:xfrm>
            <a:off x="914400" y="1938528"/>
            <a:ext cx="9966960" cy="384048"/>
          </a:xfrm>
          <a:prstGeom prst="rect">
            <a:avLst/>
          </a:prstGeom>
          <a:solidFill>
            <a:srgbClr val="F7F8FA"/>
          </a:solidFill>
          <a:ln w="889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aterial: benefits_dashboard.bullet.actual"/>
          <p:cNvSpPr/>
          <p:nvPr/>
        </p:nvSpPr>
        <p:spPr>
          <a:xfrm>
            <a:off x="914400" y="1938528"/>
            <a:ext cx="7892101" cy="384048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benefits_dashboard.bullet.plan_marker"/>
          <p:cNvCxnSpPr/>
          <p:nvPr/>
        </p:nvCxnSpPr>
        <p:spPr>
          <a:xfrm>
            <a:off x="8551917" y="1755648"/>
            <a:ext cx="0" cy="758952"/>
          </a:xfrm>
          <a:prstGeom prst="bentConnector3">
            <a:avLst/>
          </a:prstGeom>
          <a:ln w="2540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benefits_dashboard.bullet.target_marker"/>
          <p:cNvCxnSpPr/>
          <p:nvPr/>
        </p:nvCxnSpPr>
        <p:spPr>
          <a:xfrm>
            <a:off x="9824836" y="1847088"/>
            <a:ext cx="0" cy="566928"/>
          </a:xfrm>
          <a:prstGeom prst="bentConnector3">
            <a:avLst/>
          </a:prstGeom>
          <a:ln w="2540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enefits_dashboard.bullet.plan.label"/>
          <p:cNvSpPr txBox="1"/>
          <p:nvPr/>
        </p:nvSpPr>
        <p:spPr>
          <a:xfrm>
            <a:off x="8021565" y="1572768"/>
            <a:ext cx="106070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182230"/>
                </a:solidFill>
                <a:latin typeface="Aptos"/>
              </a:rPr>
              <a:t>PLAN  120</a:t>
            </a:r>
          </a:p>
        </p:txBody>
      </p:sp>
      <p:sp>
        <p:nvSpPr>
          <p:cNvPr id="12" name="benefits_dashboard.bullet.actual.label"/>
          <p:cNvSpPr txBox="1"/>
          <p:nvPr/>
        </p:nvSpPr>
        <p:spPr>
          <a:xfrm>
            <a:off x="8221285" y="2551176"/>
            <a:ext cx="1170432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2E7D32"/>
                </a:solidFill>
                <a:latin typeface="Aptos"/>
              </a:rPr>
              <a:t>ACTUAL  124</a:t>
            </a:r>
          </a:p>
        </p:txBody>
      </p:sp>
      <p:sp>
        <p:nvSpPr>
          <p:cNvPr id="13" name="benefits_dashboard.bullet.target.label"/>
          <p:cNvSpPr txBox="1"/>
          <p:nvPr/>
        </p:nvSpPr>
        <p:spPr>
          <a:xfrm>
            <a:off x="9294484" y="2551176"/>
            <a:ext cx="106070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0">
                <a:solidFill>
                  <a:srgbClr val="182230"/>
                </a:solidFill>
                <a:latin typeface="Aptos"/>
              </a:rPr>
              <a:t>TARGET  140</a:t>
            </a:r>
          </a:p>
        </p:txBody>
      </p:sp>
      <p:sp>
        <p:nvSpPr>
          <p:cNvPr id="14" name="benefits_dashboard.realization"/>
          <p:cNvSpPr txBox="1"/>
          <p:nvPr/>
        </p:nvSpPr>
        <p:spPr>
          <a:xfrm>
            <a:off x="8430768" y="1234440"/>
            <a:ext cx="2414016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700" b="1">
                <a:solidFill>
                  <a:srgbClr val="2E7D32"/>
                </a:solidFill>
                <a:latin typeface="Aptos"/>
              </a:rPr>
              <a:t>120% OF PLANNED UPLIFT</a:t>
            </a:r>
          </a:p>
        </p:txBody>
      </p:sp>
      <p:sp>
        <p:nvSpPr>
          <p:cNvPr id="15" name="benefits_dashboard.bridge.label"/>
          <p:cNvSpPr txBox="1"/>
          <p:nvPr/>
        </p:nvSpPr>
        <p:spPr>
          <a:xfrm>
            <a:off x="658368" y="3236976"/>
            <a:ext cx="4754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FUTURE BENEFIT BRIDGE</a:t>
            </a:r>
          </a:p>
        </p:txBody>
      </p:sp>
      <p:sp>
        <p:nvSpPr>
          <p:cNvPr id="16" name="Material: benefits_dashboard.bridge.target"/>
          <p:cNvSpPr/>
          <p:nvPr/>
        </p:nvSpPr>
        <p:spPr>
          <a:xfrm>
            <a:off x="914400" y="3840480"/>
            <a:ext cx="8910436" cy="56692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benefits_dashboard.bridge.target_marker"/>
          <p:cNvCxnSpPr/>
          <p:nvPr/>
        </p:nvCxnSpPr>
        <p:spPr>
          <a:xfrm>
            <a:off x="9824836" y="3675888"/>
            <a:ext cx="0" cy="914400"/>
          </a:xfrm>
          <a:prstGeom prst="bentConnector3">
            <a:avLst/>
          </a:prstGeom>
          <a:ln w="2286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aterial: benefits_dashboard.bridge.forecast_gap"/>
          <p:cNvSpPr/>
          <p:nvPr/>
        </p:nvSpPr>
        <p:spPr>
          <a:xfrm>
            <a:off x="9824836" y="3840480"/>
            <a:ext cx="318229" cy="566928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efits_dashboard.bridge.target.label"/>
          <p:cNvSpPr txBox="1"/>
          <p:nvPr/>
        </p:nvSpPr>
        <p:spPr>
          <a:xfrm>
            <a:off x="8581252" y="4005072"/>
            <a:ext cx="11155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80" b="1">
                <a:solidFill>
                  <a:srgbClr val="FFFFFF"/>
                </a:solidFill>
                <a:latin typeface="Aptos"/>
              </a:rPr>
              <a:t>TARGET  140</a:t>
            </a:r>
          </a:p>
        </p:txBody>
      </p:sp>
      <p:sp>
        <p:nvSpPr>
          <p:cNvPr id="20" name="benefits_dashboard.bridge.gap.label"/>
          <p:cNvSpPr txBox="1"/>
          <p:nvPr/>
        </p:nvSpPr>
        <p:spPr>
          <a:xfrm>
            <a:off x="9897988" y="3995928"/>
            <a:ext cx="6583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+5</a:t>
            </a:r>
          </a:p>
        </p:txBody>
      </p:sp>
      <p:cxnSp>
        <p:nvCxnSpPr>
          <p:cNvPr id="21" name="benefits_dashboard.bridge.forecast_marker"/>
          <p:cNvCxnSpPr/>
          <p:nvPr/>
        </p:nvCxnSpPr>
        <p:spPr>
          <a:xfrm>
            <a:off x="10143066" y="3712464"/>
            <a:ext cx="0" cy="841248"/>
          </a:xfrm>
          <a:prstGeom prst="bentConnector3">
            <a:avLst/>
          </a:prstGeom>
          <a:ln w="279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enefits_dashboard.bridge.forecast.label"/>
          <p:cNvSpPr txBox="1"/>
          <p:nvPr/>
        </p:nvSpPr>
        <p:spPr>
          <a:xfrm>
            <a:off x="9548706" y="4553712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2E7D32"/>
                </a:solidFill>
                <a:latin typeface="Aptos"/>
              </a:rPr>
              <a:t>FORECAST  145</a:t>
            </a:r>
          </a:p>
        </p:txBody>
      </p:sp>
      <p:sp>
        <p:nvSpPr>
          <p:cNvPr id="23" name="benefits_dashboard.boundary"/>
          <p:cNvSpPr txBox="1"/>
          <p:nvPr/>
        </p:nvSpPr>
        <p:spPr>
          <a:xfrm>
            <a:off x="822960" y="5559552"/>
            <a:ext cx="10241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60" b="0">
                <a:solidFill>
                  <a:srgbClr val="667085"/>
                </a:solidFill>
                <a:latin typeface="Aptos"/>
              </a:rPr>
              <a:t>Current delivery is ahead of plan; the decision still rests on future incremental economics, not sunk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usiness_case_gate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BUSINESS CASE GATE</a:t>
            </a:r>
          </a:p>
        </p:txBody>
      </p:sp>
      <p:sp>
        <p:nvSpPr>
          <p:cNvPr id="3" name="business_case_gate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Sequential gates favor the strongest future incremental option</a:t>
            </a:r>
          </a:p>
        </p:txBody>
      </p:sp>
      <p:cxnSp>
        <p:nvCxnSpPr>
          <p:cNvPr id="4" name="business_case_gate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usiness_case_gate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value-gate-pmo-steerco-gold  |  HASH f885d13be2f9  |  CUTOFF not supplied in DecisionPackage  |  MODEL value_gate / 1.0.0  |  STATUS recommend</a:t>
            </a:r>
          </a:p>
        </p:txBody>
      </p:sp>
      <p:sp>
        <p:nvSpPr>
          <p:cNvPr id="6" name="business_case_gate.gates.label"/>
          <p:cNvSpPr txBox="1"/>
          <p:nvPr/>
        </p:nvSpPr>
        <p:spPr>
          <a:xfrm>
            <a:off x="658368" y="1371600"/>
            <a:ext cx="7132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TEN ORDERED DECISION GATES</a:t>
            </a:r>
          </a:p>
        </p:txBody>
      </p:sp>
      <p:cxnSp>
        <p:nvCxnSpPr>
          <p:cNvPr id="7" name="business_case_gate.gate.connector.1"/>
          <p:cNvCxnSpPr/>
          <p:nvPr/>
        </p:nvCxnSpPr>
        <p:spPr>
          <a:xfrm>
            <a:off x="969264" y="2212848"/>
            <a:ext cx="438912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business_case_gate.gate.connector.2"/>
          <p:cNvCxnSpPr/>
          <p:nvPr/>
        </p:nvCxnSpPr>
        <p:spPr>
          <a:xfrm>
            <a:off x="1719072" y="2212848"/>
            <a:ext cx="438912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business_case_gate.gate.connector.3"/>
          <p:cNvCxnSpPr/>
          <p:nvPr/>
        </p:nvCxnSpPr>
        <p:spPr>
          <a:xfrm>
            <a:off x="2468879" y="2212848"/>
            <a:ext cx="438912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business_case_gate.gate.connector.4"/>
          <p:cNvCxnSpPr/>
          <p:nvPr/>
        </p:nvCxnSpPr>
        <p:spPr>
          <a:xfrm>
            <a:off x="3218687" y="2212848"/>
            <a:ext cx="438913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business_case_gate.gate.connector.5"/>
          <p:cNvCxnSpPr/>
          <p:nvPr/>
        </p:nvCxnSpPr>
        <p:spPr>
          <a:xfrm>
            <a:off x="3968496" y="2212848"/>
            <a:ext cx="438911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business_case_gate.gate.connector.6"/>
          <p:cNvCxnSpPr/>
          <p:nvPr/>
        </p:nvCxnSpPr>
        <p:spPr>
          <a:xfrm>
            <a:off x="4718303" y="2212848"/>
            <a:ext cx="438913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business_case_gate.gate.connector.7"/>
          <p:cNvCxnSpPr/>
          <p:nvPr/>
        </p:nvCxnSpPr>
        <p:spPr>
          <a:xfrm>
            <a:off x="5468112" y="2212848"/>
            <a:ext cx="438911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business_case_gate.gate.connector.8"/>
          <p:cNvCxnSpPr/>
          <p:nvPr/>
        </p:nvCxnSpPr>
        <p:spPr>
          <a:xfrm>
            <a:off x="6217919" y="2212848"/>
            <a:ext cx="438912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business_case_gate.gate.connector.9"/>
          <p:cNvCxnSpPr/>
          <p:nvPr/>
        </p:nvCxnSpPr>
        <p:spPr>
          <a:xfrm>
            <a:off x="6967727" y="2212848"/>
            <a:ext cx="438913" cy="0"/>
          </a:xfrm>
          <a:prstGeom prst="bentConnector3">
            <a:avLst/>
          </a:prstGeom>
          <a:ln w="266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terial: business_case_gate.gate.1"/>
          <p:cNvSpPr/>
          <p:nvPr/>
        </p:nvSpPr>
        <p:spPr>
          <a:xfrm>
            <a:off x="658368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usiness_case_gate.gate.1.index"/>
          <p:cNvSpPr txBox="1"/>
          <p:nvPr/>
        </p:nvSpPr>
        <p:spPr>
          <a:xfrm>
            <a:off x="722376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business_case_gate.gate.1.detail"/>
          <p:cNvSpPr txBox="1"/>
          <p:nvPr/>
        </p:nvSpPr>
        <p:spPr>
          <a:xfrm>
            <a:off x="374904" y="2542032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VALID
QUESTION</a:t>
            </a:r>
          </a:p>
        </p:txBody>
      </p:sp>
      <p:sp>
        <p:nvSpPr>
          <p:cNvPr id="19" name="Material: business_case_gate.gate.2"/>
          <p:cNvSpPr/>
          <p:nvPr/>
        </p:nvSpPr>
        <p:spPr>
          <a:xfrm>
            <a:off x="1408176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siness_case_gate.gate.2.index"/>
          <p:cNvSpPr txBox="1"/>
          <p:nvPr/>
        </p:nvSpPr>
        <p:spPr>
          <a:xfrm>
            <a:off x="1472184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business_case_gate.gate.2.detail"/>
          <p:cNvSpPr txBox="1"/>
          <p:nvPr/>
        </p:nvSpPr>
        <p:spPr>
          <a:xfrm>
            <a:off x="1124712" y="3017520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HARD CONSTRAINT
CONTINUE</a:t>
            </a:r>
          </a:p>
        </p:txBody>
      </p:sp>
      <p:sp>
        <p:nvSpPr>
          <p:cNvPr id="22" name="Material: business_case_gate.gate.3"/>
          <p:cNvSpPr/>
          <p:nvPr/>
        </p:nvSpPr>
        <p:spPr>
          <a:xfrm>
            <a:off x="2157984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siness_case_gate.gate.3.index"/>
          <p:cNvSpPr txBox="1"/>
          <p:nvPr/>
        </p:nvSpPr>
        <p:spPr>
          <a:xfrm>
            <a:off x="2221991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business_case_gate.gate.3.detail"/>
          <p:cNvSpPr txBox="1"/>
          <p:nvPr/>
        </p:nvSpPr>
        <p:spPr>
          <a:xfrm>
            <a:off x="1874519" y="2542032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HARD CONSTRAINT
PIVOT</a:t>
            </a:r>
          </a:p>
        </p:txBody>
      </p:sp>
      <p:sp>
        <p:nvSpPr>
          <p:cNvPr id="25" name="Material: business_case_gate.gate.4"/>
          <p:cNvSpPr/>
          <p:nvPr/>
        </p:nvSpPr>
        <p:spPr>
          <a:xfrm>
            <a:off x="2907791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siness_case_gate.gate.4.index"/>
          <p:cNvSpPr txBox="1"/>
          <p:nvPr/>
        </p:nvSpPr>
        <p:spPr>
          <a:xfrm>
            <a:off x="2971799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business_case_gate.gate.4.detail"/>
          <p:cNvSpPr txBox="1"/>
          <p:nvPr/>
        </p:nvSpPr>
        <p:spPr>
          <a:xfrm>
            <a:off x="2624327" y="3017520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HARD CONSTRAINT
STOP</a:t>
            </a:r>
          </a:p>
        </p:txBody>
      </p:sp>
      <p:sp>
        <p:nvSpPr>
          <p:cNvPr id="28" name="Material: business_case_gate.gate.5"/>
          <p:cNvSpPr/>
          <p:nvPr/>
        </p:nvSpPr>
        <p:spPr>
          <a:xfrm>
            <a:off x="3657600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siness_case_gate.gate.5.index"/>
          <p:cNvSpPr txBox="1"/>
          <p:nvPr/>
        </p:nvSpPr>
        <p:spPr>
          <a:xfrm>
            <a:off x="3721608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business_case_gate.gate.5.detail"/>
          <p:cNvSpPr txBox="1"/>
          <p:nvPr/>
        </p:nvSpPr>
        <p:spPr>
          <a:xfrm>
            <a:off x="3374136" y="2542032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SUNK COST
EXCLUDED</a:t>
            </a:r>
          </a:p>
        </p:txBody>
      </p:sp>
      <p:sp>
        <p:nvSpPr>
          <p:cNvPr id="31" name="Material: business_case_gate.gate.6"/>
          <p:cNvSpPr/>
          <p:nvPr/>
        </p:nvSpPr>
        <p:spPr>
          <a:xfrm>
            <a:off x="4407407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siness_case_gate.gate.6.index"/>
          <p:cNvSpPr txBox="1"/>
          <p:nvPr/>
        </p:nvSpPr>
        <p:spPr>
          <a:xfrm>
            <a:off x="4471416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business_case_gate.gate.6.detail"/>
          <p:cNvSpPr txBox="1"/>
          <p:nvPr/>
        </p:nvSpPr>
        <p:spPr>
          <a:xfrm>
            <a:off x="4123944" y="3017520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EVIDENCE
SUFFICIENCY</a:t>
            </a:r>
          </a:p>
        </p:txBody>
      </p:sp>
      <p:sp>
        <p:nvSpPr>
          <p:cNvPr id="34" name="Material: business_case_gate.gate.7"/>
          <p:cNvSpPr/>
          <p:nvPr/>
        </p:nvSpPr>
        <p:spPr>
          <a:xfrm>
            <a:off x="5157216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siness_case_gate.gate.7.index"/>
          <p:cNvSpPr txBox="1"/>
          <p:nvPr/>
        </p:nvSpPr>
        <p:spPr>
          <a:xfrm>
            <a:off x="5221224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6" name="business_case_gate.gate.7.detail"/>
          <p:cNvSpPr txBox="1"/>
          <p:nvPr/>
        </p:nvSpPr>
        <p:spPr>
          <a:xfrm>
            <a:off x="4873752" y="2542032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POLICY
COMPLETENESS</a:t>
            </a:r>
          </a:p>
        </p:txBody>
      </p:sp>
      <p:sp>
        <p:nvSpPr>
          <p:cNvPr id="37" name="Material: business_case_gate.gate.8"/>
          <p:cNvSpPr/>
          <p:nvPr/>
        </p:nvSpPr>
        <p:spPr>
          <a:xfrm>
            <a:off x="5907023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usiness_case_gate.gate.8.index"/>
          <p:cNvSpPr txBox="1"/>
          <p:nvPr/>
        </p:nvSpPr>
        <p:spPr>
          <a:xfrm>
            <a:off x="5971031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9" name="business_case_gate.gate.8.detail"/>
          <p:cNvSpPr txBox="1"/>
          <p:nvPr/>
        </p:nvSpPr>
        <p:spPr>
          <a:xfrm>
            <a:off x="5623559" y="3017520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POLICY
CONFIDENCE</a:t>
            </a:r>
          </a:p>
        </p:txBody>
      </p:sp>
      <p:sp>
        <p:nvSpPr>
          <p:cNvPr id="40" name="Material: business_case_gate.gate.9"/>
          <p:cNvSpPr/>
          <p:nvPr/>
        </p:nvSpPr>
        <p:spPr>
          <a:xfrm>
            <a:off x="6656831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usiness_case_gate.gate.9.index"/>
          <p:cNvSpPr txBox="1"/>
          <p:nvPr/>
        </p:nvSpPr>
        <p:spPr>
          <a:xfrm>
            <a:off x="6720840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2" name="business_case_gate.gate.9.detail"/>
          <p:cNvSpPr txBox="1"/>
          <p:nvPr/>
        </p:nvSpPr>
        <p:spPr>
          <a:xfrm>
            <a:off x="6373368" y="2542032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FUTURE
ECONOMICS</a:t>
            </a:r>
          </a:p>
        </p:txBody>
      </p:sp>
      <p:sp>
        <p:nvSpPr>
          <p:cNvPr id="43" name="Material: business_case_gate.gate.10"/>
          <p:cNvSpPr/>
          <p:nvPr/>
        </p:nvSpPr>
        <p:spPr>
          <a:xfrm>
            <a:off x="7406640" y="1993392"/>
            <a:ext cx="493776" cy="438912"/>
          </a:xfrm>
          <a:prstGeom prst="hexagon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usiness_case_gate.gate.10.index"/>
          <p:cNvSpPr txBox="1"/>
          <p:nvPr/>
        </p:nvSpPr>
        <p:spPr>
          <a:xfrm>
            <a:off x="7470648" y="21031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5" name="business_case_gate.gate.10.detail"/>
          <p:cNvSpPr txBox="1"/>
          <p:nvPr/>
        </p:nvSpPr>
        <p:spPr>
          <a:xfrm>
            <a:off x="7123176" y="3017520"/>
            <a:ext cx="10607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667085"/>
                </a:solidFill>
                <a:latin typeface="Aptos"/>
              </a:rPr>
              <a:t>SENSITIVITY</a:t>
            </a:r>
          </a:p>
        </p:txBody>
      </p:sp>
      <p:sp>
        <p:nvSpPr>
          <p:cNvPr id="46" name="business_case_gate.npv.label"/>
          <p:cNvSpPr txBox="1"/>
          <p:nvPr/>
        </p:nvSpPr>
        <p:spPr>
          <a:xfrm>
            <a:off x="8394192" y="1371600"/>
            <a:ext cx="312724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OPTION NPV · COMMON ZERO</a:t>
            </a:r>
          </a:p>
        </p:txBody>
      </p:sp>
      <p:cxnSp>
        <p:nvCxnSpPr>
          <p:cNvPr id="47" name="business_case_gate.npv.zero"/>
          <p:cNvCxnSpPr/>
          <p:nvPr/>
        </p:nvCxnSpPr>
        <p:spPr>
          <a:xfrm>
            <a:off x="9198864" y="1737360"/>
            <a:ext cx="0" cy="2084831"/>
          </a:xfrm>
          <a:prstGeom prst="bentConnector3">
            <a:avLst/>
          </a:prstGeom>
          <a:ln w="2032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Material: business_case_gate.npv.continue"/>
          <p:cNvSpPr/>
          <p:nvPr/>
        </p:nvSpPr>
        <p:spPr>
          <a:xfrm>
            <a:off x="9198864" y="1865376"/>
            <a:ext cx="1744539" cy="347472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usiness_case_gate.npv.continue.label"/>
          <p:cNvSpPr txBox="1"/>
          <p:nvPr/>
        </p:nvSpPr>
        <p:spPr>
          <a:xfrm>
            <a:off x="8119872" y="1929384"/>
            <a:ext cx="96926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30" b="1">
                <a:solidFill>
                  <a:srgbClr val="182230"/>
                </a:solidFill>
                <a:latin typeface="Aptos"/>
              </a:rPr>
              <a:t>CONTINUE</a:t>
            </a:r>
          </a:p>
        </p:txBody>
      </p:sp>
      <p:sp>
        <p:nvSpPr>
          <p:cNvPr id="50" name="business_case_gate.npv.continue.value"/>
          <p:cNvSpPr txBox="1"/>
          <p:nvPr/>
        </p:nvSpPr>
        <p:spPr>
          <a:xfrm>
            <a:off x="10998267" y="19293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ptos"/>
              </a:rPr>
              <a:t>100.41</a:t>
            </a:r>
          </a:p>
        </p:txBody>
      </p:sp>
      <p:sp>
        <p:nvSpPr>
          <p:cNvPr id="51" name="Material: business_case_gate.npv.pivot"/>
          <p:cNvSpPr/>
          <p:nvPr/>
        </p:nvSpPr>
        <p:spPr>
          <a:xfrm>
            <a:off x="9198864" y="2505456"/>
            <a:ext cx="1206101" cy="347472"/>
          </a:xfrm>
          <a:prstGeom prst="rect">
            <a:avLst/>
          </a:prstGeom>
          <a:solidFill>
            <a:srgbClr val="285489"/>
          </a:solidFill>
          <a:ln w="889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usiness_case_gate.npv.pivot.label"/>
          <p:cNvSpPr txBox="1"/>
          <p:nvPr/>
        </p:nvSpPr>
        <p:spPr>
          <a:xfrm>
            <a:off x="8119872" y="2569464"/>
            <a:ext cx="96926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30" b="1">
                <a:solidFill>
                  <a:srgbClr val="182230"/>
                </a:solidFill>
                <a:latin typeface="Aptos"/>
              </a:rPr>
              <a:t>PIVOT</a:t>
            </a:r>
          </a:p>
        </p:txBody>
      </p:sp>
      <p:sp>
        <p:nvSpPr>
          <p:cNvPr id="53" name="business_case_gate.npv.pivot.value"/>
          <p:cNvSpPr txBox="1"/>
          <p:nvPr/>
        </p:nvSpPr>
        <p:spPr>
          <a:xfrm>
            <a:off x="10459829" y="256946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85489"/>
                </a:solidFill>
                <a:latin typeface="Aptos"/>
              </a:rPr>
              <a:t>69.42</a:t>
            </a:r>
          </a:p>
        </p:txBody>
      </p:sp>
      <p:sp>
        <p:nvSpPr>
          <p:cNvPr id="54" name="Material: business_case_gate.npv.stop"/>
          <p:cNvSpPr/>
          <p:nvPr/>
        </p:nvSpPr>
        <p:spPr>
          <a:xfrm>
            <a:off x="9009333" y="3145536"/>
            <a:ext cx="189530" cy="347472"/>
          </a:xfrm>
          <a:prstGeom prst="rect">
            <a:avLst/>
          </a:prstGeom>
          <a:solidFill>
            <a:srgbClr val="D92D20"/>
          </a:solidFill>
          <a:ln w="889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usiness_case_gate.npv.stop.label"/>
          <p:cNvSpPr txBox="1"/>
          <p:nvPr/>
        </p:nvSpPr>
        <p:spPr>
          <a:xfrm>
            <a:off x="8119872" y="3209544"/>
            <a:ext cx="96926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30" b="1">
                <a:solidFill>
                  <a:srgbClr val="182230"/>
                </a:solidFill>
                <a:latin typeface="Aptos"/>
              </a:rPr>
              <a:t>STOP</a:t>
            </a:r>
          </a:p>
        </p:txBody>
      </p:sp>
      <p:sp>
        <p:nvSpPr>
          <p:cNvPr id="56" name="business_case_gate.npv.stop.value"/>
          <p:cNvSpPr txBox="1"/>
          <p:nvPr/>
        </p:nvSpPr>
        <p:spPr>
          <a:xfrm>
            <a:off x="9272016" y="320954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D92D20"/>
                </a:solidFill>
                <a:latin typeface="Aptos"/>
              </a:rPr>
              <a:t>-10.91</a:t>
            </a:r>
          </a:p>
        </p:txBody>
      </p:sp>
      <p:graphicFrame>
        <p:nvGraphicFramePr>
          <p:cNvPr id="57" name="business_case_gate.native.calculation_trace"/>
          <p:cNvGraphicFramePr>
            <a:graphicFrameLocks noGrp="1"/>
          </p:cNvGraphicFramePr>
          <p:nvPr/>
        </p:nvGraphicFramePr>
        <p:xfrm>
          <a:off x="658368" y="3977639"/>
          <a:ext cx="7516368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t"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Continue</a:t>
                      </a:r>
                    </a:p>
                  </a:txBody>
                  <a:tcPr anchor="t"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Pivot</a:t>
                      </a:r>
                    </a:p>
                  </a:txBody>
                  <a:tcPr anchor="t"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Stop</a:t>
                      </a:r>
                    </a:p>
                  </a:txBody>
                  <a:tcPr anchor="t" marL="45720" marR="45720" marT="36576" marB="36576">
                    <a:solidFill>
                      <a:srgbClr val="17365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NPV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100.41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69.42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-10.91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Incremental NPV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111.32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80.33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Incremental ROI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3.85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1.92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34405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t" marL="45720" marR="45720" marT="36576" marB="36576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8" name="business_case_gate.calculations.label"/>
          <p:cNvSpPr txBox="1"/>
          <p:nvPr/>
        </p:nvSpPr>
        <p:spPr>
          <a:xfrm>
            <a:off x="658368" y="3657600"/>
            <a:ext cx="45720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AUDITED OPTION ECONOMICS</a:t>
            </a:r>
          </a:p>
        </p:txBody>
      </p:sp>
      <p:sp>
        <p:nvSpPr>
          <p:cNvPr id="59" name="Material: business_case_gate.mode"/>
          <p:cNvSpPr/>
          <p:nvPr/>
        </p:nvSpPr>
        <p:spPr>
          <a:xfrm>
            <a:off x="8503920" y="4206240"/>
            <a:ext cx="2816352" cy="713232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usiness_case_gate.mode.value"/>
          <p:cNvSpPr txBox="1"/>
          <p:nvPr/>
        </p:nvSpPr>
        <p:spPr>
          <a:xfrm>
            <a:off x="8668512" y="4416552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19" b="1">
                <a:solidFill>
                  <a:srgbClr val="2E7D32"/>
                </a:solidFill>
                <a:latin typeface="Aptos"/>
              </a:rPr>
              <a:t>PRESCRIPTIVE · 10/10 GATES PASS</a:t>
            </a:r>
          </a:p>
        </p:txBody>
      </p:sp>
      <p:sp>
        <p:nvSpPr>
          <p:cNvPr id="61" name="business_case_gate.boundary"/>
          <p:cNvSpPr txBox="1"/>
          <p:nvPr/>
        </p:nvSpPr>
        <p:spPr>
          <a:xfrm>
            <a:off x="8485632" y="5166360"/>
            <a:ext cx="2871216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667085"/>
                </a:solidFill>
                <a:latin typeface="Aptos"/>
              </a:rPr>
              <a:t>Continue leads on both NPV and incremental ROI. Values are presentation formatting of audited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eighted_decision_matrix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WEIGHTED DECISION MATRIX</a:t>
            </a:r>
          </a:p>
        </p:txBody>
      </p:sp>
      <p:sp>
        <p:nvSpPr>
          <p:cNvPr id="3" name="weighted_decision_matrix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Fixed anchors preserve comparability across portfolio options</a:t>
            </a:r>
          </a:p>
        </p:txBody>
      </p:sp>
      <p:cxnSp>
        <p:nvCxnSpPr>
          <p:cNvPr id="4" name="weighted_decision_matrix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eighted_decision_matrix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resource-allocation:pmo-steerco-gold  |  HASH f885d13be2f9  |  CUTOFF not supplied in DecisionPackage  |  MODEL resource_allocation / 1.0.0  |  STATUS no_recommendation</a:t>
            </a:r>
          </a:p>
        </p:txBody>
      </p:sp>
      <p:sp>
        <p:nvSpPr>
          <p:cNvPr id="6" name="weighted_decision_matrix.heat.label"/>
          <p:cNvSpPr txBox="1"/>
          <p:nvPr/>
        </p:nvSpPr>
        <p:spPr>
          <a:xfrm>
            <a:off x="658368" y="1353312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FIXED-ANCHOR HEAT MATRIX</a:t>
            </a:r>
          </a:p>
        </p:txBody>
      </p:sp>
      <p:sp>
        <p:nvSpPr>
          <p:cNvPr id="7" name="weighted_decision_matrix.criterion"/>
          <p:cNvSpPr txBox="1"/>
          <p:nvPr/>
        </p:nvSpPr>
        <p:spPr>
          <a:xfrm>
            <a:off x="2267712" y="1645920"/>
            <a:ext cx="107899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VALUE</a:t>
            </a:r>
          </a:p>
        </p:txBody>
      </p:sp>
      <p:sp>
        <p:nvSpPr>
          <p:cNvPr id="8" name="weighted_decision_matrix.option.platform"/>
          <p:cNvSpPr txBox="1"/>
          <p:nvPr/>
        </p:nvSpPr>
        <p:spPr>
          <a:xfrm>
            <a:off x="749808" y="2139696"/>
            <a:ext cx="12984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40" b="1">
                <a:solidFill>
                  <a:srgbClr val="182230"/>
                </a:solidFill>
                <a:latin typeface="Aptos"/>
              </a:rPr>
              <a:t>PLATFORM</a:t>
            </a:r>
          </a:p>
        </p:txBody>
      </p:sp>
      <p:sp>
        <p:nvSpPr>
          <p:cNvPr id="9" name="Material: weighted_decision_matrix.heat.platform"/>
          <p:cNvSpPr/>
          <p:nvPr/>
        </p:nvSpPr>
        <p:spPr>
          <a:xfrm>
            <a:off x="2267712" y="1975104"/>
            <a:ext cx="1078992" cy="56692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eighted_decision_matrix.heat.platform.value"/>
          <p:cNvSpPr txBox="1"/>
          <p:nvPr/>
        </p:nvSpPr>
        <p:spPr>
          <a:xfrm>
            <a:off x="2395728" y="2130552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ptos"/>
              </a:rPr>
              <a:t>0.90</a:t>
            </a:r>
          </a:p>
        </p:txBody>
      </p:sp>
      <p:sp>
        <p:nvSpPr>
          <p:cNvPr id="11" name="Material: weighted_decision_matrix.selection.platform"/>
          <p:cNvSpPr/>
          <p:nvPr/>
        </p:nvSpPr>
        <p:spPr>
          <a:xfrm>
            <a:off x="3511296" y="2121408"/>
            <a:ext cx="256032" cy="256032"/>
          </a:xfrm>
          <a:prstGeom prst="ellipse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eighted_decision_matrix.option.growth"/>
          <p:cNvSpPr txBox="1"/>
          <p:nvPr/>
        </p:nvSpPr>
        <p:spPr>
          <a:xfrm>
            <a:off x="749808" y="2944368"/>
            <a:ext cx="12984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40" b="1">
                <a:solidFill>
                  <a:srgbClr val="182230"/>
                </a:solidFill>
                <a:latin typeface="Aptos"/>
              </a:rPr>
              <a:t>GROWTH</a:t>
            </a:r>
          </a:p>
        </p:txBody>
      </p:sp>
      <p:sp>
        <p:nvSpPr>
          <p:cNvPr id="13" name="Material: weighted_decision_matrix.heat.growth"/>
          <p:cNvSpPr/>
          <p:nvPr/>
        </p:nvSpPr>
        <p:spPr>
          <a:xfrm>
            <a:off x="2267712" y="2779776"/>
            <a:ext cx="1078992" cy="56692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eighted_decision_matrix.heat.growth.value"/>
          <p:cNvSpPr txBox="1"/>
          <p:nvPr/>
        </p:nvSpPr>
        <p:spPr>
          <a:xfrm>
            <a:off x="2395728" y="2935224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ptos"/>
              </a:rPr>
              <a:t>0.80</a:t>
            </a:r>
          </a:p>
        </p:txBody>
      </p:sp>
      <p:sp>
        <p:nvSpPr>
          <p:cNvPr id="15" name="Material: weighted_decision_matrix.selection.growth"/>
          <p:cNvSpPr/>
          <p:nvPr/>
        </p:nvSpPr>
        <p:spPr>
          <a:xfrm>
            <a:off x="3511296" y="2926080"/>
            <a:ext cx="256032" cy="256032"/>
          </a:xfrm>
          <a:prstGeom prst="ellipse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eighted_decision_matrix.option.migration"/>
          <p:cNvSpPr txBox="1"/>
          <p:nvPr/>
        </p:nvSpPr>
        <p:spPr>
          <a:xfrm>
            <a:off x="749808" y="3749039"/>
            <a:ext cx="12984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40" b="1">
                <a:solidFill>
                  <a:srgbClr val="182230"/>
                </a:solidFill>
                <a:latin typeface="Aptos"/>
              </a:rPr>
              <a:t>MIGRATION</a:t>
            </a:r>
          </a:p>
        </p:txBody>
      </p:sp>
      <p:sp>
        <p:nvSpPr>
          <p:cNvPr id="17" name="Material: weighted_decision_matrix.heat.migration"/>
          <p:cNvSpPr/>
          <p:nvPr/>
        </p:nvSpPr>
        <p:spPr>
          <a:xfrm>
            <a:off x="2267712" y="3584448"/>
            <a:ext cx="1078992" cy="56692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eighted_decision_matrix.heat.migration.value"/>
          <p:cNvSpPr txBox="1"/>
          <p:nvPr/>
        </p:nvSpPr>
        <p:spPr>
          <a:xfrm>
            <a:off x="2395728" y="3739896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Aptos"/>
              </a:rPr>
              <a:t>0.70</a:t>
            </a:r>
          </a:p>
        </p:txBody>
      </p:sp>
      <p:sp>
        <p:nvSpPr>
          <p:cNvPr id="19" name="Material: weighted_decision_matrix.selection.migration"/>
          <p:cNvSpPr/>
          <p:nvPr/>
        </p:nvSpPr>
        <p:spPr>
          <a:xfrm>
            <a:off x="3511296" y="3730752"/>
            <a:ext cx="256032" cy="256032"/>
          </a:xfrm>
          <a:prstGeom prst="ellipse">
            <a:avLst/>
          </a:prstGeom>
          <a:solidFill>
            <a:srgbClr val="F7F8FA"/>
          </a:solidFill>
          <a:ln w="1524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eighted_decision_matrix.option.security"/>
          <p:cNvSpPr txBox="1"/>
          <p:nvPr/>
        </p:nvSpPr>
        <p:spPr>
          <a:xfrm>
            <a:off x="749808" y="4553712"/>
            <a:ext cx="129844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40" b="1">
                <a:solidFill>
                  <a:srgbClr val="182230"/>
                </a:solidFill>
                <a:latin typeface="Aptos"/>
              </a:rPr>
              <a:t>SECURITY</a:t>
            </a:r>
          </a:p>
        </p:txBody>
      </p:sp>
      <p:sp>
        <p:nvSpPr>
          <p:cNvPr id="21" name="Material: weighted_decision_matrix.heat.security"/>
          <p:cNvSpPr/>
          <p:nvPr/>
        </p:nvSpPr>
        <p:spPr>
          <a:xfrm>
            <a:off x="2267712" y="4389120"/>
            <a:ext cx="1078992" cy="566928"/>
          </a:xfrm>
          <a:prstGeom prst="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eighted_decision_matrix.heat.security.value"/>
          <p:cNvSpPr txBox="1"/>
          <p:nvPr/>
        </p:nvSpPr>
        <p:spPr>
          <a:xfrm>
            <a:off x="2395728" y="4544568"/>
            <a:ext cx="822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60" b="1">
                <a:solidFill>
                  <a:srgbClr val="182230"/>
                </a:solidFill>
                <a:latin typeface="Aptos"/>
              </a:rPr>
              <a:t>0.40</a:t>
            </a:r>
          </a:p>
        </p:txBody>
      </p:sp>
      <p:sp>
        <p:nvSpPr>
          <p:cNvPr id="23" name="Material: weighted_decision_matrix.selection.security"/>
          <p:cNvSpPr/>
          <p:nvPr/>
        </p:nvSpPr>
        <p:spPr>
          <a:xfrm>
            <a:off x="3511296" y="4535424"/>
            <a:ext cx="256032" cy="256032"/>
          </a:xfrm>
          <a:prstGeom prst="ellipse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eighted_decision_matrix.rank.label"/>
          <p:cNvSpPr txBox="1"/>
          <p:nvPr/>
        </p:nvSpPr>
        <p:spPr>
          <a:xfrm>
            <a:off x="4617720" y="1353312"/>
            <a:ext cx="5760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RANKING ON THE SAME 0–1 SCALE</a:t>
            </a:r>
          </a:p>
        </p:txBody>
      </p:sp>
      <p:cxnSp>
        <p:nvCxnSpPr>
          <p:cNvPr id="25" name="weighted_decision_matrix.threshold"/>
          <p:cNvCxnSpPr/>
          <p:nvPr/>
        </p:nvCxnSpPr>
        <p:spPr>
          <a:xfrm>
            <a:off x="8938259" y="1719072"/>
            <a:ext cx="0" cy="3511296"/>
          </a:xfrm>
          <a:prstGeom prst="bentConnector3">
            <a:avLst/>
          </a:prstGeom>
          <a:ln w="2286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weighted_decision_matrix.threshold.label"/>
          <p:cNvSpPr txBox="1"/>
          <p:nvPr/>
        </p:nvSpPr>
        <p:spPr>
          <a:xfrm>
            <a:off x="8316467" y="5303520"/>
            <a:ext cx="124358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70" b="1">
                <a:solidFill>
                  <a:srgbClr val="F2C94C"/>
                </a:solidFill>
                <a:latin typeface="Aptos"/>
              </a:rPr>
              <a:t>0.75 REVIEW LINE</a:t>
            </a:r>
          </a:p>
        </p:txBody>
      </p:sp>
      <p:sp>
        <p:nvSpPr>
          <p:cNvPr id="27" name="Material: weighted_decision_matrix.rank.track.platform"/>
          <p:cNvSpPr/>
          <p:nvPr/>
        </p:nvSpPr>
        <p:spPr>
          <a:xfrm>
            <a:off x="4617720" y="2249424"/>
            <a:ext cx="5760720" cy="3657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aterial: weighted_decision_matrix.rank.platform"/>
          <p:cNvSpPr/>
          <p:nvPr/>
        </p:nvSpPr>
        <p:spPr>
          <a:xfrm>
            <a:off x="4617720" y="2103120"/>
            <a:ext cx="5184648" cy="292608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eighted_decision_matrix.rank.platform.index"/>
          <p:cNvSpPr txBox="1"/>
          <p:nvPr/>
        </p:nvSpPr>
        <p:spPr>
          <a:xfrm>
            <a:off x="10515600" y="2130552"/>
            <a:ext cx="4023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182230"/>
                </a:solidFill>
                <a:latin typeface="Aptos"/>
              </a:rPr>
              <a:t>#1</a:t>
            </a:r>
          </a:p>
        </p:txBody>
      </p:sp>
      <p:sp>
        <p:nvSpPr>
          <p:cNvPr id="30" name="weighted_decision_matrix.rank.platform.selection"/>
          <p:cNvSpPr txBox="1"/>
          <p:nvPr/>
        </p:nvSpPr>
        <p:spPr>
          <a:xfrm>
            <a:off x="10899648" y="2130552"/>
            <a:ext cx="6949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40" b="1">
                <a:solidFill>
                  <a:srgbClr val="2E7D32"/>
                </a:solidFill>
                <a:latin typeface="Aptos"/>
              </a:rPr>
              <a:t>SELECTED</a:t>
            </a:r>
          </a:p>
        </p:txBody>
      </p:sp>
      <p:sp>
        <p:nvSpPr>
          <p:cNvPr id="31" name="Material: weighted_decision_matrix.rank.track.growth"/>
          <p:cNvSpPr/>
          <p:nvPr/>
        </p:nvSpPr>
        <p:spPr>
          <a:xfrm>
            <a:off x="4617720" y="3054096"/>
            <a:ext cx="5760720" cy="3657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aterial: weighted_decision_matrix.rank.growth"/>
          <p:cNvSpPr/>
          <p:nvPr/>
        </p:nvSpPr>
        <p:spPr>
          <a:xfrm>
            <a:off x="4617720" y="2907792"/>
            <a:ext cx="4608576" cy="292608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eighted_decision_matrix.rank.growth.index"/>
          <p:cNvSpPr txBox="1"/>
          <p:nvPr/>
        </p:nvSpPr>
        <p:spPr>
          <a:xfrm>
            <a:off x="10515600" y="2935224"/>
            <a:ext cx="4023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182230"/>
                </a:solidFill>
                <a:latin typeface="Aptos"/>
              </a:rPr>
              <a:t>#2</a:t>
            </a:r>
          </a:p>
        </p:txBody>
      </p:sp>
      <p:sp>
        <p:nvSpPr>
          <p:cNvPr id="34" name="weighted_decision_matrix.rank.growth.selection"/>
          <p:cNvSpPr txBox="1"/>
          <p:nvPr/>
        </p:nvSpPr>
        <p:spPr>
          <a:xfrm>
            <a:off x="10899648" y="2935224"/>
            <a:ext cx="6949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40" b="1">
                <a:solidFill>
                  <a:srgbClr val="2E7D32"/>
                </a:solidFill>
                <a:latin typeface="Aptos"/>
              </a:rPr>
              <a:t>SELECTED</a:t>
            </a:r>
          </a:p>
        </p:txBody>
      </p:sp>
      <p:sp>
        <p:nvSpPr>
          <p:cNvPr id="35" name="Material: weighted_decision_matrix.rank.track.migration"/>
          <p:cNvSpPr/>
          <p:nvPr/>
        </p:nvSpPr>
        <p:spPr>
          <a:xfrm>
            <a:off x="4617720" y="3858768"/>
            <a:ext cx="5760720" cy="3657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aterial: weighted_decision_matrix.rank.migration"/>
          <p:cNvSpPr/>
          <p:nvPr/>
        </p:nvSpPr>
        <p:spPr>
          <a:xfrm>
            <a:off x="4617720" y="3712463"/>
            <a:ext cx="4032503" cy="292608"/>
          </a:xfrm>
          <a:prstGeom prst="rect">
            <a:avLst/>
          </a:prstGeom>
          <a:solidFill>
            <a:srgbClr val="285489"/>
          </a:solidFill>
          <a:ln w="889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weighted_decision_matrix.rank.migration.index"/>
          <p:cNvSpPr txBox="1"/>
          <p:nvPr/>
        </p:nvSpPr>
        <p:spPr>
          <a:xfrm>
            <a:off x="10515600" y="3739896"/>
            <a:ext cx="4023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182230"/>
                </a:solidFill>
                <a:latin typeface="Aptos"/>
              </a:rPr>
              <a:t>#3</a:t>
            </a:r>
          </a:p>
        </p:txBody>
      </p:sp>
      <p:sp>
        <p:nvSpPr>
          <p:cNvPr id="38" name="weighted_decision_matrix.rank.migration.selection"/>
          <p:cNvSpPr txBox="1"/>
          <p:nvPr/>
        </p:nvSpPr>
        <p:spPr>
          <a:xfrm>
            <a:off x="10899648" y="3739896"/>
            <a:ext cx="6949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40" b="1">
                <a:solidFill>
                  <a:srgbClr val="667085"/>
                </a:solidFill>
                <a:latin typeface="Aptos"/>
              </a:rPr>
              <a:t>NOT SELECTED</a:t>
            </a:r>
          </a:p>
        </p:txBody>
      </p:sp>
      <p:sp>
        <p:nvSpPr>
          <p:cNvPr id="39" name="Material: weighted_decision_matrix.rank.track.security"/>
          <p:cNvSpPr/>
          <p:nvPr/>
        </p:nvSpPr>
        <p:spPr>
          <a:xfrm>
            <a:off x="4617720" y="4663440"/>
            <a:ext cx="5760720" cy="36576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aterial: weighted_decision_matrix.rank.security"/>
          <p:cNvSpPr/>
          <p:nvPr/>
        </p:nvSpPr>
        <p:spPr>
          <a:xfrm>
            <a:off x="4617720" y="4517136"/>
            <a:ext cx="2304288" cy="292608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weighted_decision_matrix.rank.security.index"/>
          <p:cNvSpPr txBox="1"/>
          <p:nvPr/>
        </p:nvSpPr>
        <p:spPr>
          <a:xfrm>
            <a:off x="10515600" y="4544568"/>
            <a:ext cx="4023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182230"/>
                </a:solidFill>
                <a:latin typeface="Aptos"/>
              </a:rPr>
              <a:t>#4</a:t>
            </a:r>
          </a:p>
        </p:txBody>
      </p:sp>
      <p:sp>
        <p:nvSpPr>
          <p:cNvPr id="42" name="weighted_decision_matrix.rank.security.selection"/>
          <p:cNvSpPr txBox="1"/>
          <p:nvPr/>
        </p:nvSpPr>
        <p:spPr>
          <a:xfrm>
            <a:off x="10899648" y="4544568"/>
            <a:ext cx="6949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40" b="1">
                <a:solidFill>
                  <a:srgbClr val="2E7D32"/>
                </a:solidFill>
                <a:latin typeface="Aptos"/>
              </a:rPr>
              <a:t>SELECTED</a:t>
            </a:r>
          </a:p>
        </p:txBody>
      </p:sp>
      <p:sp>
        <p:nvSpPr>
          <p:cNvPr id="43" name="weighted_decision_matrix.boundary"/>
          <p:cNvSpPr txBox="1"/>
          <p:nvPr/>
        </p:nvSpPr>
        <p:spPr>
          <a:xfrm>
            <a:off x="749808" y="5833872"/>
            <a:ext cx="10744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67085"/>
                </a:solidFill>
                <a:latin typeface="Aptos"/>
              </a:rPr>
              <a:t>Method: complete enumeration. Hard constraints precede scoring; selection is not a naive top-N cutoff.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pacity_scenario_allocation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CAPACITY SCENARIO ALLOCATION</a:t>
            </a:r>
          </a:p>
        </p:txBody>
      </p:sp>
      <p:sp>
        <p:nvSpPr>
          <p:cNvPr id="3" name="capacity_scenario_allocation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Allocation changes are exposed by bounded capacity scenarios</a:t>
            </a:r>
          </a:p>
        </p:txBody>
      </p:sp>
      <p:cxnSp>
        <p:nvCxnSpPr>
          <p:cNvPr id="4" name="capacity_scenario_allocation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acity_scenario_allocation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resource-allocation:pmo-steerco-gold  |  HASH f885d13be2f9  |  CUTOFF not supplied in DecisionPackage  |  MODEL resource_allocation / 1.0.0  |  STATUS no_recommendation</a:t>
            </a:r>
          </a:p>
        </p:txBody>
      </p:sp>
      <p:sp>
        <p:nvSpPr>
          <p:cNvPr id="6" name="capacity_scenario_allocation.label"/>
          <p:cNvSpPr txBox="1"/>
          <p:nvPr/>
        </p:nvSpPr>
        <p:spPr>
          <a:xfrm>
            <a:off x="658368" y="1353312"/>
            <a:ext cx="6949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TEAM CAPACITY · NORMALIZED TO EACH SCENARIO CEILING</a:t>
            </a:r>
          </a:p>
        </p:txBody>
      </p:sp>
      <p:sp>
        <p:nvSpPr>
          <p:cNvPr id="7" name="capacity_scenario_allocation.scenario.base"/>
          <p:cNvSpPr txBox="1"/>
          <p:nvPr/>
        </p:nvSpPr>
        <p:spPr>
          <a:xfrm>
            <a:off x="658368" y="1984248"/>
            <a:ext cx="1024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2230"/>
                </a:solidFill>
                <a:latin typeface="Aptos"/>
              </a:rPr>
              <a:t>BASE</a:t>
            </a:r>
          </a:p>
        </p:txBody>
      </p:sp>
      <p:sp>
        <p:nvSpPr>
          <p:cNvPr id="8" name="Material: capacity_scenario_allocation.frame.base"/>
          <p:cNvSpPr/>
          <p:nvPr/>
        </p:nvSpPr>
        <p:spPr>
          <a:xfrm>
            <a:off x="2057400" y="1874519"/>
            <a:ext cx="7973568" cy="530352"/>
          </a:xfrm>
          <a:prstGeom prst="rect">
            <a:avLst/>
          </a:prstGeom>
          <a:solidFill>
            <a:srgbClr val="F7F8FA"/>
          </a:solidFill>
          <a:ln w="889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terial: capacity_scenario_allocation.segment.base.growth"/>
          <p:cNvSpPr/>
          <p:nvPr/>
        </p:nvSpPr>
        <p:spPr>
          <a:xfrm>
            <a:off x="2057400" y="1874519"/>
            <a:ext cx="2657856" cy="530352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pacity_scenario_allocation.segment.base.growth.label"/>
          <p:cNvSpPr txBox="1"/>
          <p:nvPr/>
        </p:nvSpPr>
        <p:spPr>
          <a:xfrm>
            <a:off x="2103120" y="2029967"/>
            <a:ext cx="256641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GROWTH  2</a:t>
            </a:r>
          </a:p>
        </p:txBody>
      </p:sp>
      <p:sp>
        <p:nvSpPr>
          <p:cNvPr id="11" name="Material: capacity_scenario_allocation.segment.base.platform"/>
          <p:cNvSpPr/>
          <p:nvPr/>
        </p:nvSpPr>
        <p:spPr>
          <a:xfrm>
            <a:off x="4715256" y="1874519"/>
            <a:ext cx="3986784" cy="530352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pacity_scenario_allocation.segment.base.platform.label"/>
          <p:cNvSpPr txBox="1"/>
          <p:nvPr/>
        </p:nvSpPr>
        <p:spPr>
          <a:xfrm>
            <a:off x="4760975" y="2029967"/>
            <a:ext cx="38953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PLATFORM  3</a:t>
            </a:r>
          </a:p>
        </p:txBody>
      </p:sp>
      <p:sp>
        <p:nvSpPr>
          <p:cNvPr id="13" name="Material: capacity_scenario_allocation.segment.base.security"/>
          <p:cNvSpPr/>
          <p:nvPr/>
        </p:nvSpPr>
        <p:spPr>
          <a:xfrm>
            <a:off x="8702040" y="1874519"/>
            <a:ext cx="1328928" cy="530352"/>
          </a:xfrm>
          <a:prstGeom prst="rect">
            <a:avLst/>
          </a:prstGeom>
          <a:solidFill>
            <a:srgbClr val="F2C94C"/>
          </a:solidFill>
          <a:ln w="889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pacity_scenario_allocation.segment.base.security.label"/>
          <p:cNvSpPr txBox="1"/>
          <p:nvPr/>
        </p:nvSpPr>
        <p:spPr>
          <a:xfrm>
            <a:off x="8747760" y="2029967"/>
            <a:ext cx="123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SECURITY  1</a:t>
            </a:r>
          </a:p>
        </p:txBody>
      </p:sp>
      <p:cxnSp>
        <p:nvCxnSpPr>
          <p:cNvPr id="15" name="capacity_scenario_allocation.ceiling.base"/>
          <p:cNvCxnSpPr/>
          <p:nvPr/>
        </p:nvCxnSpPr>
        <p:spPr>
          <a:xfrm>
            <a:off x="10030968" y="1728216"/>
            <a:ext cx="0" cy="841247"/>
          </a:xfrm>
          <a:prstGeom prst="bentConnector3">
            <a:avLst/>
          </a:prstGeom>
          <a:ln w="2540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pacity_scenario_allocation.capacity.base"/>
          <p:cNvSpPr txBox="1"/>
          <p:nvPr/>
        </p:nvSpPr>
        <p:spPr>
          <a:xfrm>
            <a:off x="10222992" y="1901951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60" b="1">
                <a:solidFill>
                  <a:srgbClr val="D92D20"/>
                </a:solidFill>
                <a:latin typeface="Aptos"/>
              </a:rPr>
              <a:t>TEAM  6/6</a:t>
            </a:r>
          </a:p>
        </p:txBody>
      </p:sp>
      <p:sp>
        <p:nvSpPr>
          <p:cNvPr id="17" name="capacity_scenario_allocation.budget.base"/>
          <p:cNvSpPr txBox="1"/>
          <p:nvPr/>
        </p:nvSpPr>
        <p:spPr>
          <a:xfrm>
            <a:off x="10222992" y="2157984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19" b="0">
                <a:solidFill>
                  <a:srgbClr val="667085"/>
                </a:solidFill>
                <a:latin typeface="Aptos"/>
              </a:rPr>
              <a:t>BUDGET  14/14</a:t>
            </a:r>
          </a:p>
        </p:txBody>
      </p:sp>
      <p:sp>
        <p:nvSpPr>
          <p:cNvPr id="18" name="capacity_scenario_allocation.scenario.downside"/>
          <p:cNvSpPr txBox="1"/>
          <p:nvPr/>
        </p:nvSpPr>
        <p:spPr>
          <a:xfrm>
            <a:off x="658368" y="3246120"/>
            <a:ext cx="1024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2230"/>
                </a:solidFill>
                <a:latin typeface="Aptos"/>
              </a:rPr>
              <a:t>DOWNSIDE</a:t>
            </a:r>
          </a:p>
        </p:txBody>
      </p:sp>
      <p:sp>
        <p:nvSpPr>
          <p:cNvPr id="19" name="Material: capacity_scenario_allocation.frame.downside"/>
          <p:cNvSpPr/>
          <p:nvPr/>
        </p:nvSpPr>
        <p:spPr>
          <a:xfrm>
            <a:off x="2057400" y="3136391"/>
            <a:ext cx="7973568" cy="530352"/>
          </a:xfrm>
          <a:prstGeom prst="rect">
            <a:avLst/>
          </a:prstGeom>
          <a:solidFill>
            <a:srgbClr val="F7F8FA"/>
          </a:solidFill>
          <a:ln w="889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terial: capacity_scenario_allocation.segment.downside.platform"/>
          <p:cNvSpPr/>
          <p:nvPr/>
        </p:nvSpPr>
        <p:spPr>
          <a:xfrm>
            <a:off x="2057400" y="3136391"/>
            <a:ext cx="3986784" cy="530352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pacity_scenario_allocation.segment.downside.platform.label"/>
          <p:cNvSpPr txBox="1"/>
          <p:nvPr/>
        </p:nvSpPr>
        <p:spPr>
          <a:xfrm>
            <a:off x="2103120" y="3291839"/>
            <a:ext cx="389534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PLATFORM  3</a:t>
            </a:r>
          </a:p>
        </p:txBody>
      </p:sp>
      <p:sp>
        <p:nvSpPr>
          <p:cNvPr id="22" name="Material: capacity_scenario_allocation.segment.downside.security"/>
          <p:cNvSpPr/>
          <p:nvPr/>
        </p:nvSpPr>
        <p:spPr>
          <a:xfrm>
            <a:off x="6044184" y="3136391"/>
            <a:ext cx="1328928" cy="530352"/>
          </a:xfrm>
          <a:prstGeom prst="rect">
            <a:avLst/>
          </a:prstGeom>
          <a:solidFill>
            <a:srgbClr val="F2C94C"/>
          </a:solidFill>
          <a:ln w="889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pacity_scenario_allocation.segment.downside.security.label"/>
          <p:cNvSpPr txBox="1"/>
          <p:nvPr/>
        </p:nvSpPr>
        <p:spPr>
          <a:xfrm>
            <a:off x="6089904" y="3291839"/>
            <a:ext cx="123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SECURITY  1</a:t>
            </a:r>
          </a:p>
        </p:txBody>
      </p:sp>
      <p:sp>
        <p:nvSpPr>
          <p:cNvPr id="24" name="Material: capacity_scenario_allocation.segment.downside.unused"/>
          <p:cNvSpPr/>
          <p:nvPr/>
        </p:nvSpPr>
        <p:spPr>
          <a:xfrm>
            <a:off x="7373112" y="3136391"/>
            <a:ext cx="2657856" cy="530352"/>
          </a:xfrm>
          <a:prstGeom prst="rect">
            <a:avLst/>
          </a:prstGeom>
          <a:solidFill>
            <a:srgbClr val="F7F8FA"/>
          </a:solidFill>
          <a:ln w="889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pacity_scenario_allocation.segment.downside.unused.label"/>
          <p:cNvSpPr txBox="1"/>
          <p:nvPr/>
        </p:nvSpPr>
        <p:spPr>
          <a:xfrm>
            <a:off x="7418832" y="3291839"/>
            <a:ext cx="256641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667085"/>
                </a:solidFill>
                <a:latin typeface="Aptos"/>
              </a:rPr>
              <a:t>HEADROOM  2</a:t>
            </a:r>
          </a:p>
        </p:txBody>
      </p:sp>
      <p:cxnSp>
        <p:nvCxnSpPr>
          <p:cNvPr id="26" name="capacity_scenario_allocation.ceiling.downside"/>
          <p:cNvCxnSpPr/>
          <p:nvPr/>
        </p:nvCxnSpPr>
        <p:spPr>
          <a:xfrm>
            <a:off x="10030968" y="2990087"/>
            <a:ext cx="0" cy="841248"/>
          </a:xfrm>
          <a:prstGeom prst="bentConnector3">
            <a:avLst/>
          </a:prstGeom>
          <a:ln w="2540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pacity_scenario_allocation.capacity.downside"/>
          <p:cNvSpPr txBox="1"/>
          <p:nvPr/>
        </p:nvSpPr>
        <p:spPr>
          <a:xfrm>
            <a:off x="10222992" y="3163823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60" b="1">
                <a:solidFill>
                  <a:srgbClr val="2E7D32"/>
                </a:solidFill>
                <a:latin typeface="Aptos"/>
              </a:rPr>
              <a:t>TEAM  4/6</a:t>
            </a:r>
          </a:p>
        </p:txBody>
      </p:sp>
      <p:sp>
        <p:nvSpPr>
          <p:cNvPr id="28" name="capacity_scenario_allocation.budget.downside"/>
          <p:cNvSpPr txBox="1"/>
          <p:nvPr/>
        </p:nvSpPr>
        <p:spPr>
          <a:xfrm>
            <a:off x="10222992" y="3419856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19" b="0">
                <a:solidFill>
                  <a:srgbClr val="667085"/>
                </a:solidFill>
                <a:latin typeface="Aptos"/>
              </a:rPr>
              <a:t>BUDGET  9/11</a:t>
            </a:r>
          </a:p>
        </p:txBody>
      </p:sp>
      <p:sp>
        <p:nvSpPr>
          <p:cNvPr id="29" name="capacity_scenario_allocation.scenario.relief"/>
          <p:cNvSpPr txBox="1"/>
          <p:nvPr/>
        </p:nvSpPr>
        <p:spPr>
          <a:xfrm>
            <a:off x="658368" y="4507992"/>
            <a:ext cx="1024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2230"/>
                </a:solidFill>
                <a:latin typeface="Aptos"/>
              </a:rPr>
              <a:t>RELIEF</a:t>
            </a:r>
          </a:p>
        </p:txBody>
      </p:sp>
      <p:sp>
        <p:nvSpPr>
          <p:cNvPr id="30" name="Material: capacity_scenario_allocation.frame.relief"/>
          <p:cNvSpPr/>
          <p:nvPr/>
        </p:nvSpPr>
        <p:spPr>
          <a:xfrm>
            <a:off x="2057400" y="4398264"/>
            <a:ext cx="7973568" cy="530352"/>
          </a:xfrm>
          <a:prstGeom prst="rect">
            <a:avLst/>
          </a:prstGeom>
          <a:solidFill>
            <a:srgbClr val="F7F8FA"/>
          </a:solidFill>
          <a:ln w="889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erial: capacity_scenario_allocation.segment.relief.growth"/>
          <p:cNvSpPr/>
          <p:nvPr/>
        </p:nvSpPr>
        <p:spPr>
          <a:xfrm>
            <a:off x="2057400" y="4398264"/>
            <a:ext cx="1993392" cy="530352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pacity_scenario_allocation.segment.relief.growth.label"/>
          <p:cNvSpPr txBox="1"/>
          <p:nvPr/>
        </p:nvSpPr>
        <p:spPr>
          <a:xfrm>
            <a:off x="2103120" y="4553712"/>
            <a:ext cx="190195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GROWTH  2</a:t>
            </a:r>
          </a:p>
        </p:txBody>
      </p:sp>
      <p:sp>
        <p:nvSpPr>
          <p:cNvPr id="33" name="Material: capacity_scenario_allocation.segment.relief.platform"/>
          <p:cNvSpPr/>
          <p:nvPr/>
        </p:nvSpPr>
        <p:spPr>
          <a:xfrm>
            <a:off x="4050791" y="4398264"/>
            <a:ext cx="2990088" cy="530352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pacity_scenario_allocation.segment.relief.platform.label"/>
          <p:cNvSpPr txBox="1"/>
          <p:nvPr/>
        </p:nvSpPr>
        <p:spPr>
          <a:xfrm>
            <a:off x="4096511" y="4553712"/>
            <a:ext cx="289864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PLATFORM  3</a:t>
            </a:r>
          </a:p>
        </p:txBody>
      </p:sp>
      <p:sp>
        <p:nvSpPr>
          <p:cNvPr id="35" name="Material: capacity_scenario_allocation.segment.relief.security"/>
          <p:cNvSpPr/>
          <p:nvPr/>
        </p:nvSpPr>
        <p:spPr>
          <a:xfrm>
            <a:off x="7040880" y="4398264"/>
            <a:ext cx="996696" cy="530352"/>
          </a:xfrm>
          <a:prstGeom prst="rect">
            <a:avLst/>
          </a:prstGeom>
          <a:solidFill>
            <a:srgbClr val="F2C94C"/>
          </a:solidFill>
          <a:ln w="889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pacity_scenario_allocation.segment.relief.security.label"/>
          <p:cNvSpPr txBox="1"/>
          <p:nvPr/>
        </p:nvSpPr>
        <p:spPr>
          <a:xfrm>
            <a:off x="7086600" y="4553712"/>
            <a:ext cx="90525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SECURITY  1</a:t>
            </a:r>
          </a:p>
        </p:txBody>
      </p:sp>
      <p:sp>
        <p:nvSpPr>
          <p:cNvPr id="37" name="Material: capacity_scenario_allocation.segment.relief.unused"/>
          <p:cNvSpPr/>
          <p:nvPr/>
        </p:nvSpPr>
        <p:spPr>
          <a:xfrm>
            <a:off x="8037576" y="4398264"/>
            <a:ext cx="1993392" cy="530352"/>
          </a:xfrm>
          <a:prstGeom prst="rect">
            <a:avLst/>
          </a:prstGeom>
          <a:solidFill>
            <a:srgbClr val="F7F8FA"/>
          </a:solidFill>
          <a:ln w="889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pacity_scenario_allocation.segment.relief.unused.label"/>
          <p:cNvSpPr txBox="1"/>
          <p:nvPr/>
        </p:nvSpPr>
        <p:spPr>
          <a:xfrm>
            <a:off x="8083296" y="4553712"/>
            <a:ext cx="190195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667085"/>
                </a:solidFill>
                <a:latin typeface="Aptos"/>
              </a:rPr>
              <a:t>HEADROOM  2</a:t>
            </a:r>
          </a:p>
        </p:txBody>
      </p:sp>
      <p:cxnSp>
        <p:nvCxnSpPr>
          <p:cNvPr id="39" name="capacity_scenario_allocation.ceiling.relief"/>
          <p:cNvCxnSpPr/>
          <p:nvPr/>
        </p:nvCxnSpPr>
        <p:spPr>
          <a:xfrm>
            <a:off x="10030968" y="4251959"/>
            <a:ext cx="0" cy="841248"/>
          </a:xfrm>
          <a:prstGeom prst="bentConnector3">
            <a:avLst/>
          </a:prstGeom>
          <a:ln w="2540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pacity_scenario_allocation.capacity.relief"/>
          <p:cNvSpPr txBox="1"/>
          <p:nvPr/>
        </p:nvSpPr>
        <p:spPr>
          <a:xfrm>
            <a:off x="10222992" y="4425696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60" b="1">
                <a:solidFill>
                  <a:srgbClr val="2E7D32"/>
                </a:solidFill>
                <a:latin typeface="Aptos"/>
              </a:rPr>
              <a:t>TEAM  6/8</a:t>
            </a:r>
          </a:p>
        </p:txBody>
      </p:sp>
      <p:sp>
        <p:nvSpPr>
          <p:cNvPr id="41" name="capacity_scenario_allocation.budget.relief"/>
          <p:cNvSpPr txBox="1"/>
          <p:nvPr/>
        </p:nvSpPr>
        <p:spPr>
          <a:xfrm>
            <a:off x="10222992" y="4681727"/>
            <a:ext cx="10972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19" b="0">
                <a:solidFill>
                  <a:srgbClr val="667085"/>
                </a:solidFill>
                <a:latin typeface="Aptos"/>
              </a:rPr>
              <a:t>BUDGET  14/18</a:t>
            </a:r>
          </a:p>
        </p:txBody>
      </p:sp>
      <p:sp>
        <p:nvSpPr>
          <p:cNvPr id="42" name="Material: capacity_scenario_allocation.legend.platform"/>
          <p:cNvSpPr/>
          <p:nvPr/>
        </p:nvSpPr>
        <p:spPr>
          <a:xfrm>
            <a:off x="2057400" y="5614416"/>
            <a:ext cx="237744" cy="164592"/>
          </a:xfrm>
          <a:prstGeom prst="rect">
            <a:avLst/>
          </a:prstGeom>
          <a:solidFill>
            <a:srgbClr val="17365D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pacity_scenario_allocation.legend.platform.label"/>
          <p:cNvSpPr txBox="1"/>
          <p:nvPr/>
        </p:nvSpPr>
        <p:spPr>
          <a:xfrm>
            <a:off x="2368296" y="5577840"/>
            <a:ext cx="102412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80" b="1">
                <a:solidFill>
                  <a:srgbClr val="667085"/>
                </a:solidFill>
                <a:latin typeface="Aptos"/>
              </a:rPr>
              <a:t>PLATFORM</a:t>
            </a:r>
          </a:p>
        </p:txBody>
      </p:sp>
      <p:sp>
        <p:nvSpPr>
          <p:cNvPr id="44" name="Material: capacity_scenario_allocation.legend.growth"/>
          <p:cNvSpPr/>
          <p:nvPr/>
        </p:nvSpPr>
        <p:spPr>
          <a:xfrm>
            <a:off x="3538728" y="5614416"/>
            <a:ext cx="237744" cy="164592"/>
          </a:xfrm>
          <a:prstGeom prst="rect">
            <a:avLst/>
          </a:prstGeom>
          <a:solidFill>
            <a:srgbClr val="2E7D32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apacity_scenario_allocation.legend.growth.label"/>
          <p:cNvSpPr txBox="1"/>
          <p:nvPr/>
        </p:nvSpPr>
        <p:spPr>
          <a:xfrm>
            <a:off x="3849624" y="5577840"/>
            <a:ext cx="102412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80" b="1">
                <a:solidFill>
                  <a:srgbClr val="667085"/>
                </a:solidFill>
                <a:latin typeface="Aptos"/>
              </a:rPr>
              <a:t>GROWTH</a:t>
            </a:r>
          </a:p>
        </p:txBody>
      </p:sp>
      <p:sp>
        <p:nvSpPr>
          <p:cNvPr id="46" name="Material: capacity_scenario_allocation.legend.security"/>
          <p:cNvSpPr/>
          <p:nvPr/>
        </p:nvSpPr>
        <p:spPr>
          <a:xfrm>
            <a:off x="5020056" y="5614416"/>
            <a:ext cx="237744" cy="164592"/>
          </a:xfrm>
          <a:prstGeom prst="rect">
            <a:avLst/>
          </a:prstGeom>
          <a:solidFill>
            <a:srgbClr val="F2C94C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apacity_scenario_allocation.legend.security.label"/>
          <p:cNvSpPr txBox="1"/>
          <p:nvPr/>
        </p:nvSpPr>
        <p:spPr>
          <a:xfrm>
            <a:off x="5330952" y="5577840"/>
            <a:ext cx="102412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80" b="1">
                <a:solidFill>
                  <a:srgbClr val="667085"/>
                </a:solidFill>
                <a:latin typeface="Aptos"/>
              </a:rPr>
              <a:t>SECURITY</a:t>
            </a:r>
          </a:p>
        </p:txBody>
      </p:sp>
      <p:sp>
        <p:nvSpPr>
          <p:cNvPr id="48" name="Material: capacity_scenario_allocation.legend.unused"/>
          <p:cNvSpPr/>
          <p:nvPr/>
        </p:nvSpPr>
        <p:spPr>
          <a:xfrm>
            <a:off x="6501384" y="5614416"/>
            <a:ext cx="237744" cy="164592"/>
          </a:xfrm>
          <a:prstGeom prst="rect">
            <a:avLst/>
          </a:prstGeom>
          <a:solidFill>
            <a:srgbClr val="F7F8FA"/>
          </a:solidFill>
          <a:ln w="889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apacity_scenario_allocation.legend.unused.label"/>
          <p:cNvSpPr txBox="1"/>
          <p:nvPr/>
        </p:nvSpPr>
        <p:spPr>
          <a:xfrm>
            <a:off x="6812280" y="5577840"/>
            <a:ext cx="102412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80" b="1">
                <a:solidFill>
                  <a:srgbClr val="667085"/>
                </a:solidFill>
                <a:latin typeface="Aptos"/>
              </a:rPr>
              <a:t>UNUSED</a:t>
            </a:r>
          </a:p>
        </p:txBody>
      </p:sp>
      <p:sp>
        <p:nvSpPr>
          <p:cNvPr id="50" name="capacity_scenario_allocation.boundary"/>
          <p:cNvSpPr txBox="1"/>
          <p:nvPr/>
        </p:nvSpPr>
        <p:spPr>
          <a:xfrm>
            <a:off x="749808" y="5998464"/>
            <a:ext cx="10744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90" b="0">
                <a:solidFill>
                  <a:srgbClr val="667085"/>
                </a:solidFill>
                <a:latin typeface="Aptos"/>
              </a:rPr>
              <a:t>Base binds both team capacity and budget; downside creates headroom; relief raises the ceiling without changing the selected mix.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ritical_path_gantt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CRITICAL PATH GANTT</a:t>
            </a:r>
          </a:p>
        </p:txBody>
      </p:sp>
      <p:sp>
        <p:nvSpPr>
          <p:cNvPr id="3" name="critical_path_gantt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Driving dependencies, not task count, determine the finish</a:t>
            </a:r>
          </a:p>
        </p:txBody>
      </p:sp>
      <p:cxnSp>
        <p:nvCxnSpPr>
          <p:cNvPr id="4" name="critical_path_gantt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ritical_path_gantt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pmo-steerco-gold-schedule  |  HASH f885d13be2f9  |  CUTOFF not supplied in DecisionPackage  |  MODEL schedule_analysis / 1.0.0  |  STATUS no_recommendation</a:t>
            </a:r>
          </a:p>
        </p:txBody>
      </p:sp>
      <p:cxnSp>
        <p:nvCxnSpPr>
          <p:cNvPr id="6" name="critical_path_gantt.grid.day.0"/>
          <p:cNvCxnSpPr/>
          <p:nvPr/>
        </p:nvCxnSpPr>
        <p:spPr>
          <a:xfrm>
            <a:off x="1993392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ritical_path_gantt.day.0"/>
          <p:cNvSpPr txBox="1"/>
          <p:nvPr/>
        </p:nvSpPr>
        <p:spPr>
          <a:xfrm>
            <a:off x="1792224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D0</a:t>
            </a:r>
          </a:p>
        </p:txBody>
      </p:sp>
      <p:cxnSp>
        <p:nvCxnSpPr>
          <p:cNvPr id="8" name="critical_path_gantt.grid.day.1"/>
          <p:cNvCxnSpPr/>
          <p:nvPr/>
        </p:nvCxnSpPr>
        <p:spPr>
          <a:xfrm>
            <a:off x="3115818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ritical_path_gantt.day.1"/>
          <p:cNvSpPr txBox="1"/>
          <p:nvPr/>
        </p:nvSpPr>
        <p:spPr>
          <a:xfrm>
            <a:off x="2914650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D1</a:t>
            </a:r>
          </a:p>
        </p:txBody>
      </p:sp>
      <p:cxnSp>
        <p:nvCxnSpPr>
          <p:cNvPr id="10" name="critical_path_gantt.grid.day.2"/>
          <p:cNvCxnSpPr/>
          <p:nvPr/>
        </p:nvCxnSpPr>
        <p:spPr>
          <a:xfrm>
            <a:off x="4238244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ritical_path_gantt.day.2"/>
          <p:cNvSpPr txBox="1"/>
          <p:nvPr/>
        </p:nvSpPr>
        <p:spPr>
          <a:xfrm>
            <a:off x="4037076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D2</a:t>
            </a:r>
          </a:p>
        </p:txBody>
      </p:sp>
      <p:cxnSp>
        <p:nvCxnSpPr>
          <p:cNvPr id="12" name="critical_path_gantt.grid.day.3"/>
          <p:cNvCxnSpPr/>
          <p:nvPr/>
        </p:nvCxnSpPr>
        <p:spPr>
          <a:xfrm>
            <a:off x="5360670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ritical_path_gantt.day.3"/>
          <p:cNvSpPr txBox="1"/>
          <p:nvPr/>
        </p:nvSpPr>
        <p:spPr>
          <a:xfrm>
            <a:off x="5159502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D3</a:t>
            </a:r>
          </a:p>
        </p:txBody>
      </p:sp>
      <p:cxnSp>
        <p:nvCxnSpPr>
          <p:cNvPr id="14" name="critical_path_gantt.grid.day.4"/>
          <p:cNvCxnSpPr/>
          <p:nvPr/>
        </p:nvCxnSpPr>
        <p:spPr>
          <a:xfrm>
            <a:off x="6483096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ritical_path_gantt.day.4"/>
          <p:cNvSpPr txBox="1"/>
          <p:nvPr/>
        </p:nvSpPr>
        <p:spPr>
          <a:xfrm>
            <a:off x="6281928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D4</a:t>
            </a:r>
          </a:p>
        </p:txBody>
      </p:sp>
      <p:cxnSp>
        <p:nvCxnSpPr>
          <p:cNvPr id="16" name="critical_path_gantt.grid.day.5"/>
          <p:cNvCxnSpPr/>
          <p:nvPr/>
        </p:nvCxnSpPr>
        <p:spPr>
          <a:xfrm>
            <a:off x="7605522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ritical_path_gantt.day.5"/>
          <p:cNvSpPr txBox="1"/>
          <p:nvPr/>
        </p:nvSpPr>
        <p:spPr>
          <a:xfrm>
            <a:off x="7404354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D5</a:t>
            </a:r>
          </a:p>
        </p:txBody>
      </p:sp>
      <p:cxnSp>
        <p:nvCxnSpPr>
          <p:cNvPr id="18" name="critical_path_gantt.grid.day.6"/>
          <p:cNvCxnSpPr/>
          <p:nvPr/>
        </p:nvCxnSpPr>
        <p:spPr>
          <a:xfrm>
            <a:off x="8727948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itical_path_gantt.day.6"/>
          <p:cNvSpPr txBox="1"/>
          <p:nvPr/>
        </p:nvSpPr>
        <p:spPr>
          <a:xfrm>
            <a:off x="8526780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667085"/>
                </a:solidFill>
                <a:latin typeface="Aptos"/>
              </a:rPr>
              <a:t>D6</a:t>
            </a:r>
          </a:p>
        </p:txBody>
      </p:sp>
      <p:cxnSp>
        <p:nvCxnSpPr>
          <p:cNvPr id="20" name="critical_path_gantt.grid.day.7"/>
          <p:cNvCxnSpPr/>
          <p:nvPr/>
        </p:nvCxnSpPr>
        <p:spPr>
          <a:xfrm>
            <a:off x="9850374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ritical_path_gantt.day.7"/>
          <p:cNvSpPr txBox="1"/>
          <p:nvPr/>
        </p:nvSpPr>
        <p:spPr>
          <a:xfrm>
            <a:off x="9649206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0">
                <a:solidFill>
                  <a:srgbClr val="667085"/>
                </a:solidFill>
                <a:latin typeface="Aptos"/>
              </a:rPr>
              <a:t>D7</a:t>
            </a:r>
          </a:p>
        </p:txBody>
      </p:sp>
      <p:cxnSp>
        <p:nvCxnSpPr>
          <p:cNvPr id="22" name="critical_path_gantt.grid.day.8"/>
          <p:cNvCxnSpPr/>
          <p:nvPr/>
        </p:nvCxnSpPr>
        <p:spPr>
          <a:xfrm>
            <a:off x="10972800" y="1709928"/>
            <a:ext cx="0" cy="406908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ritical_path_gantt.day.8"/>
          <p:cNvSpPr txBox="1"/>
          <p:nvPr/>
        </p:nvSpPr>
        <p:spPr>
          <a:xfrm>
            <a:off x="10771632" y="1408176"/>
            <a:ext cx="402336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667085"/>
                </a:solidFill>
                <a:latin typeface="Aptos"/>
              </a:rPr>
              <a:t>D8</a:t>
            </a:r>
          </a:p>
        </p:txBody>
      </p:sp>
      <p:sp>
        <p:nvSpPr>
          <p:cNvPr id="24" name="critical_path_gantt.task.A.label"/>
          <p:cNvSpPr txBox="1"/>
          <p:nvPr/>
        </p:nvSpPr>
        <p:spPr>
          <a:xfrm>
            <a:off x="621792" y="2011680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D92D20"/>
                </a:solidFill>
                <a:latin typeface="Aptos"/>
              </a:rPr>
              <a:t>A</a:t>
            </a:r>
          </a:p>
        </p:txBody>
      </p:sp>
      <p:sp>
        <p:nvSpPr>
          <p:cNvPr id="25" name="critical_path_gantt.task.A.float"/>
          <p:cNvSpPr txBox="1"/>
          <p:nvPr/>
        </p:nvSpPr>
        <p:spPr>
          <a:xfrm>
            <a:off x="1005840" y="2011680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1">
                <a:solidFill>
                  <a:srgbClr val="D92D20"/>
                </a:solidFill>
                <a:latin typeface="Aptos"/>
              </a:rPr>
              <a:t>TF -2</a:t>
            </a:r>
          </a:p>
        </p:txBody>
      </p:sp>
      <p:sp>
        <p:nvSpPr>
          <p:cNvPr id="26" name="Material: critical_path_gantt.row.A"/>
          <p:cNvSpPr/>
          <p:nvPr/>
        </p:nvSpPr>
        <p:spPr>
          <a:xfrm>
            <a:off x="1993392" y="2167128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aterial: critical_path_gantt.bar.A"/>
          <p:cNvSpPr/>
          <p:nvPr/>
        </p:nvSpPr>
        <p:spPr>
          <a:xfrm>
            <a:off x="1993392" y="1984248"/>
            <a:ext cx="2244852" cy="34747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ritical_path_gantt.bar.A.duration"/>
          <p:cNvSpPr txBox="1"/>
          <p:nvPr/>
        </p:nvSpPr>
        <p:spPr>
          <a:xfrm>
            <a:off x="2020824" y="2057400"/>
            <a:ext cx="218998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2d</a:t>
            </a:r>
          </a:p>
        </p:txBody>
      </p:sp>
      <p:sp>
        <p:nvSpPr>
          <p:cNvPr id="29" name="critical_path_gantt.task.B.label"/>
          <p:cNvSpPr txBox="1"/>
          <p:nvPr/>
        </p:nvSpPr>
        <p:spPr>
          <a:xfrm>
            <a:off x="621792" y="254203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D92D20"/>
                </a:solidFill>
                <a:latin typeface="Aptos"/>
              </a:rPr>
              <a:t>B</a:t>
            </a:r>
          </a:p>
        </p:txBody>
      </p:sp>
      <p:sp>
        <p:nvSpPr>
          <p:cNvPr id="30" name="critical_path_gantt.task.B.float"/>
          <p:cNvSpPr txBox="1"/>
          <p:nvPr/>
        </p:nvSpPr>
        <p:spPr>
          <a:xfrm>
            <a:off x="1005840" y="254203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1">
                <a:solidFill>
                  <a:srgbClr val="D92D20"/>
                </a:solidFill>
                <a:latin typeface="Aptos"/>
              </a:rPr>
              <a:t>TF -2</a:t>
            </a:r>
          </a:p>
        </p:txBody>
      </p:sp>
      <p:sp>
        <p:nvSpPr>
          <p:cNvPr id="31" name="Material: critical_path_gantt.row.B"/>
          <p:cNvSpPr/>
          <p:nvPr/>
        </p:nvSpPr>
        <p:spPr>
          <a:xfrm>
            <a:off x="1993392" y="2697480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aterial: critical_path_gantt.bar.B"/>
          <p:cNvSpPr/>
          <p:nvPr/>
        </p:nvSpPr>
        <p:spPr>
          <a:xfrm>
            <a:off x="5360670" y="2514600"/>
            <a:ext cx="3367278" cy="34747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ritical_path_gantt.bar.B.duration"/>
          <p:cNvSpPr txBox="1"/>
          <p:nvPr/>
        </p:nvSpPr>
        <p:spPr>
          <a:xfrm>
            <a:off x="5388102" y="2587752"/>
            <a:ext cx="331241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3d</a:t>
            </a:r>
          </a:p>
        </p:txBody>
      </p:sp>
      <p:sp>
        <p:nvSpPr>
          <p:cNvPr id="34" name="critical_path_gantt.task.C.label"/>
          <p:cNvSpPr txBox="1"/>
          <p:nvPr/>
        </p:nvSpPr>
        <p:spPr>
          <a:xfrm>
            <a:off x="621792" y="3072384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F2C94C"/>
                </a:solidFill>
                <a:latin typeface="Aptos"/>
              </a:rPr>
              <a:t>C</a:t>
            </a:r>
          </a:p>
        </p:txBody>
      </p:sp>
      <p:sp>
        <p:nvSpPr>
          <p:cNvPr id="35" name="critical_path_gantt.task.C.float"/>
          <p:cNvSpPr txBox="1"/>
          <p:nvPr/>
        </p:nvSpPr>
        <p:spPr>
          <a:xfrm>
            <a:off x="1005840" y="3072384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667085"/>
                </a:solidFill>
                <a:latin typeface="Aptos"/>
              </a:rPr>
              <a:t>TF +1</a:t>
            </a:r>
          </a:p>
        </p:txBody>
      </p:sp>
      <p:sp>
        <p:nvSpPr>
          <p:cNvPr id="36" name="Material: critical_path_gantt.row.C"/>
          <p:cNvSpPr/>
          <p:nvPr/>
        </p:nvSpPr>
        <p:spPr>
          <a:xfrm>
            <a:off x="1993392" y="3227832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aterial: critical_path_gantt.bar.C"/>
          <p:cNvSpPr/>
          <p:nvPr/>
        </p:nvSpPr>
        <p:spPr>
          <a:xfrm>
            <a:off x="3115818" y="3044951"/>
            <a:ext cx="2244852" cy="347472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ritical_path_gantt.bar.C.duration"/>
          <p:cNvSpPr txBox="1"/>
          <p:nvPr/>
        </p:nvSpPr>
        <p:spPr>
          <a:xfrm>
            <a:off x="3143250" y="3118103"/>
            <a:ext cx="218998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182230"/>
                </a:solidFill>
                <a:latin typeface="Aptos"/>
              </a:rPr>
              <a:t>2d</a:t>
            </a:r>
          </a:p>
        </p:txBody>
      </p:sp>
      <p:sp>
        <p:nvSpPr>
          <p:cNvPr id="39" name="critical_path_gantt.task.D.label"/>
          <p:cNvSpPr txBox="1"/>
          <p:nvPr/>
        </p:nvSpPr>
        <p:spPr>
          <a:xfrm>
            <a:off x="621792" y="3602736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D92D20"/>
                </a:solidFill>
                <a:latin typeface="Aptos"/>
              </a:rPr>
              <a:t>D</a:t>
            </a:r>
          </a:p>
        </p:txBody>
      </p:sp>
      <p:sp>
        <p:nvSpPr>
          <p:cNvPr id="40" name="critical_path_gantt.task.D.float"/>
          <p:cNvSpPr txBox="1"/>
          <p:nvPr/>
        </p:nvSpPr>
        <p:spPr>
          <a:xfrm>
            <a:off x="1005840" y="3602736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1">
                <a:solidFill>
                  <a:srgbClr val="D92D20"/>
                </a:solidFill>
                <a:latin typeface="Aptos"/>
              </a:rPr>
              <a:t>TF -2</a:t>
            </a:r>
          </a:p>
        </p:txBody>
      </p:sp>
      <p:sp>
        <p:nvSpPr>
          <p:cNvPr id="41" name="Material: critical_path_gantt.row.D"/>
          <p:cNvSpPr/>
          <p:nvPr/>
        </p:nvSpPr>
        <p:spPr>
          <a:xfrm>
            <a:off x="1993392" y="3758183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aterial: critical_path_gantt.bar.D"/>
          <p:cNvSpPr/>
          <p:nvPr/>
        </p:nvSpPr>
        <p:spPr>
          <a:xfrm>
            <a:off x="8727948" y="3575303"/>
            <a:ext cx="1122426" cy="34747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ritical_path_gantt.bar.D.duration"/>
          <p:cNvSpPr txBox="1"/>
          <p:nvPr/>
        </p:nvSpPr>
        <p:spPr>
          <a:xfrm>
            <a:off x="8755380" y="3648456"/>
            <a:ext cx="106756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1d</a:t>
            </a:r>
          </a:p>
        </p:txBody>
      </p:sp>
      <p:sp>
        <p:nvSpPr>
          <p:cNvPr id="44" name="critical_path_gantt.task.E.label"/>
          <p:cNvSpPr txBox="1"/>
          <p:nvPr/>
        </p:nvSpPr>
        <p:spPr>
          <a:xfrm>
            <a:off x="621792" y="4133087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F2C94C"/>
                </a:solidFill>
                <a:latin typeface="Aptos"/>
              </a:rPr>
              <a:t>E</a:t>
            </a:r>
          </a:p>
        </p:txBody>
      </p:sp>
      <p:sp>
        <p:nvSpPr>
          <p:cNvPr id="45" name="critical_path_gantt.task.E.float"/>
          <p:cNvSpPr txBox="1"/>
          <p:nvPr/>
        </p:nvSpPr>
        <p:spPr>
          <a:xfrm>
            <a:off x="1005840" y="4133087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667085"/>
                </a:solidFill>
                <a:latin typeface="Aptos"/>
              </a:rPr>
              <a:t>TF +1</a:t>
            </a:r>
          </a:p>
        </p:txBody>
      </p:sp>
      <p:sp>
        <p:nvSpPr>
          <p:cNvPr id="46" name="Material: critical_path_gantt.row.E"/>
          <p:cNvSpPr/>
          <p:nvPr/>
        </p:nvSpPr>
        <p:spPr>
          <a:xfrm>
            <a:off x="1993392" y="4288536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erial: critical_path_gantt.bar.E"/>
          <p:cNvSpPr/>
          <p:nvPr/>
        </p:nvSpPr>
        <p:spPr>
          <a:xfrm>
            <a:off x="4238244" y="4105656"/>
            <a:ext cx="2244852" cy="347472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ritical_path_gantt.bar.E.duration"/>
          <p:cNvSpPr txBox="1"/>
          <p:nvPr/>
        </p:nvSpPr>
        <p:spPr>
          <a:xfrm>
            <a:off x="4265676" y="4178808"/>
            <a:ext cx="218998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182230"/>
                </a:solidFill>
                <a:latin typeface="Aptos"/>
              </a:rPr>
              <a:t>2d</a:t>
            </a:r>
          </a:p>
        </p:txBody>
      </p:sp>
      <p:sp>
        <p:nvSpPr>
          <p:cNvPr id="49" name="critical_path_gantt.task.F.label"/>
          <p:cNvSpPr txBox="1"/>
          <p:nvPr/>
        </p:nvSpPr>
        <p:spPr>
          <a:xfrm>
            <a:off x="621792" y="4663440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D92D20"/>
                </a:solidFill>
                <a:latin typeface="Aptos"/>
              </a:rPr>
              <a:t>F</a:t>
            </a:r>
          </a:p>
        </p:txBody>
      </p:sp>
      <p:sp>
        <p:nvSpPr>
          <p:cNvPr id="50" name="critical_path_gantt.task.F.float"/>
          <p:cNvSpPr txBox="1"/>
          <p:nvPr/>
        </p:nvSpPr>
        <p:spPr>
          <a:xfrm>
            <a:off x="1005840" y="4663440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1">
                <a:solidFill>
                  <a:srgbClr val="D92D20"/>
                </a:solidFill>
                <a:latin typeface="Aptos"/>
              </a:rPr>
              <a:t>TF -2</a:t>
            </a:r>
          </a:p>
        </p:txBody>
      </p:sp>
      <p:sp>
        <p:nvSpPr>
          <p:cNvPr id="51" name="Material: critical_path_gantt.row.F"/>
          <p:cNvSpPr/>
          <p:nvPr/>
        </p:nvSpPr>
        <p:spPr>
          <a:xfrm>
            <a:off x="1993392" y="4818888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aterial: critical_path_gantt.bar.F"/>
          <p:cNvSpPr/>
          <p:nvPr/>
        </p:nvSpPr>
        <p:spPr>
          <a:xfrm>
            <a:off x="9850374" y="4636008"/>
            <a:ext cx="1122426" cy="347472"/>
          </a:xfrm>
          <a:prstGeom prst="round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ritical_path_gantt.bar.F.duration"/>
          <p:cNvSpPr txBox="1"/>
          <p:nvPr/>
        </p:nvSpPr>
        <p:spPr>
          <a:xfrm>
            <a:off x="9877806" y="4709160"/>
            <a:ext cx="106756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1d</a:t>
            </a:r>
          </a:p>
        </p:txBody>
      </p:sp>
      <p:sp>
        <p:nvSpPr>
          <p:cNvPr id="54" name="critical_path_gantt.task.G.label"/>
          <p:cNvSpPr txBox="1"/>
          <p:nvPr/>
        </p:nvSpPr>
        <p:spPr>
          <a:xfrm>
            <a:off x="621792" y="5193792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19" b="1">
                <a:solidFill>
                  <a:srgbClr val="F2C94C"/>
                </a:solidFill>
                <a:latin typeface="Aptos"/>
              </a:rPr>
              <a:t>G</a:t>
            </a:r>
          </a:p>
        </p:txBody>
      </p:sp>
      <p:sp>
        <p:nvSpPr>
          <p:cNvPr id="55" name="critical_path_gantt.task.G.float"/>
          <p:cNvSpPr txBox="1"/>
          <p:nvPr/>
        </p:nvSpPr>
        <p:spPr>
          <a:xfrm>
            <a:off x="1005840" y="5193792"/>
            <a:ext cx="6583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667085"/>
                </a:solidFill>
                <a:latin typeface="Aptos"/>
              </a:rPr>
              <a:t>TF +1</a:t>
            </a:r>
          </a:p>
        </p:txBody>
      </p:sp>
      <p:sp>
        <p:nvSpPr>
          <p:cNvPr id="56" name="Material: critical_path_gantt.row.G"/>
          <p:cNvSpPr/>
          <p:nvPr/>
        </p:nvSpPr>
        <p:spPr>
          <a:xfrm>
            <a:off x="1993392" y="5349240"/>
            <a:ext cx="8979408" cy="16459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terial: critical_path_gantt.bar.G"/>
          <p:cNvSpPr/>
          <p:nvPr/>
        </p:nvSpPr>
        <p:spPr>
          <a:xfrm>
            <a:off x="6483096" y="5166360"/>
            <a:ext cx="1122426" cy="347472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ritical_path_gantt.bar.G.duration"/>
          <p:cNvSpPr txBox="1"/>
          <p:nvPr/>
        </p:nvSpPr>
        <p:spPr>
          <a:xfrm>
            <a:off x="6510528" y="5239512"/>
            <a:ext cx="106756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182230"/>
                </a:solidFill>
                <a:latin typeface="Aptos"/>
              </a:rPr>
              <a:t>1d</a:t>
            </a:r>
          </a:p>
        </p:txBody>
      </p:sp>
      <p:cxnSp>
        <p:nvCxnSpPr>
          <p:cNvPr id="59" name="critical_path_gantt.dependency.ab"/>
          <p:cNvCxnSpPr/>
          <p:nvPr/>
        </p:nvCxnSpPr>
        <p:spPr>
          <a:xfrm>
            <a:off x="4238244" y="2157984"/>
            <a:ext cx="1122426" cy="530352"/>
          </a:xfrm>
          <a:prstGeom prst="bentConnector3">
            <a:avLst/>
          </a:prstGeom>
          <a:ln w="2159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Material: critical_path_gantt.dependency.ab.arrow"/>
          <p:cNvSpPr/>
          <p:nvPr/>
        </p:nvSpPr>
        <p:spPr>
          <a:xfrm>
            <a:off x="5310378" y="2638044"/>
            <a:ext cx="100584" cy="100584"/>
          </a:xfrm>
          <a:prstGeom prst="diamond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ritical_path_gantt.dependency.ac"/>
          <p:cNvCxnSpPr/>
          <p:nvPr/>
        </p:nvCxnSpPr>
        <p:spPr>
          <a:xfrm flipH="1">
            <a:off x="3115818" y="2157984"/>
            <a:ext cx="1122426" cy="1060703"/>
          </a:xfrm>
          <a:prstGeom prst="bentConnector3">
            <a:avLst/>
          </a:prstGeom>
          <a:ln w="1397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Material: critical_path_gantt.dependency.ac.arrow"/>
          <p:cNvSpPr/>
          <p:nvPr/>
        </p:nvSpPr>
        <p:spPr>
          <a:xfrm>
            <a:off x="3065526" y="3168395"/>
            <a:ext cx="100584" cy="100584"/>
          </a:xfrm>
          <a:prstGeom prst="diamond">
            <a:avLst/>
          </a:prstGeom>
          <a:solidFill>
            <a:srgbClr val="667085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ritical_path_gantt.dependency.bd"/>
          <p:cNvCxnSpPr/>
          <p:nvPr/>
        </p:nvCxnSpPr>
        <p:spPr>
          <a:xfrm>
            <a:off x="8727948" y="2688336"/>
            <a:ext cx="0" cy="1060703"/>
          </a:xfrm>
          <a:prstGeom prst="bentConnector3">
            <a:avLst/>
          </a:prstGeom>
          <a:ln w="2159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Material: critical_path_gantt.dependency.bd.arrow"/>
          <p:cNvSpPr/>
          <p:nvPr/>
        </p:nvSpPr>
        <p:spPr>
          <a:xfrm>
            <a:off x="8677656" y="3698748"/>
            <a:ext cx="100584" cy="100584"/>
          </a:xfrm>
          <a:prstGeom prst="diamond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ritical_path_gantt.dependency.ce"/>
          <p:cNvCxnSpPr/>
          <p:nvPr/>
        </p:nvCxnSpPr>
        <p:spPr>
          <a:xfrm flipH="1">
            <a:off x="4238244" y="3218687"/>
            <a:ext cx="1122426" cy="1060705"/>
          </a:xfrm>
          <a:prstGeom prst="bentConnector3">
            <a:avLst/>
          </a:prstGeom>
          <a:ln w="1397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Material: critical_path_gantt.dependency.ce.arrow"/>
          <p:cNvSpPr/>
          <p:nvPr/>
        </p:nvSpPr>
        <p:spPr>
          <a:xfrm>
            <a:off x="4187952" y="4229100"/>
            <a:ext cx="100584" cy="100584"/>
          </a:xfrm>
          <a:prstGeom prst="diamond">
            <a:avLst/>
          </a:prstGeom>
          <a:solidFill>
            <a:srgbClr val="667085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ritical_path_gantt.dependency.df"/>
          <p:cNvCxnSpPr/>
          <p:nvPr/>
        </p:nvCxnSpPr>
        <p:spPr>
          <a:xfrm>
            <a:off x="9850374" y="3749039"/>
            <a:ext cx="0" cy="1060705"/>
          </a:xfrm>
          <a:prstGeom prst="bentConnector3">
            <a:avLst/>
          </a:prstGeom>
          <a:ln w="2159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Material: critical_path_gantt.dependency.df.arrow"/>
          <p:cNvSpPr/>
          <p:nvPr/>
        </p:nvSpPr>
        <p:spPr>
          <a:xfrm>
            <a:off x="9800082" y="4759452"/>
            <a:ext cx="100584" cy="100584"/>
          </a:xfrm>
          <a:prstGeom prst="diamond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ritical_path_gantt.dependency.eg"/>
          <p:cNvCxnSpPr/>
          <p:nvPr/>
        </p:nvCxnSpPr>
        <p:spPr>
          <a:xfrm>
            <a:off x="6483096" y="4279392"/>
            <a:ext cx="0" cy="1060704"/>
          </a:xfrm>
          <a:prstGeom prst="bentConnector3">
            <a:avLst/>
          </a:prstGeom>
          <a:ln w="1397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Material: critical_path_gantt.dependency.eg.arrow"/>
          <p:cNvSpPr/>
          <p:nvPr/>
        </p:nvSpPr>
        <p:spPr>
          <a:xfrm>
            <a:off x="6432804" y="5289804"/>
            <a:ext cx="100584" cy="100584"/>
          </a:xfrm>
          <a:prstGeom prst="diamond">
            <a:avLst/>
          </a:prstGeom>
          <a:solidFill>
            <a:srgbClr val="667085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ritical_path_gantt.required_finish"/>
          <p:cNvCxnSpPr/>
          <p:nvPr/>
        </p:nvCxnSpPr>
        <p:spPr>
          <a:xfrm>
            <a:off x="8727948" y="1627632"/>
            <a:ext cx="0" cy="4206240"/>
          </a:xfrm>
          <a:prstGeom prst="bentConnector3">
            <a:avLst/>
          </a:prstGeom>
          <a:ln w="2540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ritical_path_gantt.project_finish"/>
          <p:cNvCxnSpPr/>
          <p:nvPr/>
        </p:nvCxnSpPr>
        <p:spPr>
          <a:xfrm>
            <a:off x="10972800" y="1627632"/>
            <a:ext cx="0" cy="4206240"/>
          </a:xfrm>
          <a:prstGeom prst="bentConnector3">
            <a:avLst/>
          </a:prstGeom>
          <a:ln w="3048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ritical_path_gantt.required_finish.label"/>
          <p:cNvSpPr txBox="1"/>
          <p:nvPr/>
        </p:nvSpPr>
        <p:spPr>
          <a:xfrm>
            <a:off x="8069579" y="5833872"/>
            <a:ext cx="131673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F2C94C"/>
                </a:solidFill>
                <a:latin typeface="Aptos"/>
              </a:rPr>
              <a:t>REQUIRED D6</a:t>
            </a:r>
          </a:p>
        </p:txBody>
      </p:sp>
      <p:sp>
        <p:nvSpPr>
          <p:cNvPr id="74" name="critical_path_gantt.project_finish.label"/>
          <p:cNvSpPr txBox="1"/>
          <p:nvPr/>
        </p:nvSpPr>
        <p:spPr>
          <a:xfrm>
            <a:off x="10387584" y="5833872"/>
            <a:ext cx="11704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D92D20"/>
                </a:solidFill>
                <a:latin typeface="Aptos"/>
              </a:rPr>
              <a:t>FINISH D8</a:t>
            </a:r>
          </a:p>
        </p:txBody>
      </p:sp>
      <p:cxnSp>
        <p:nvCxnSpPr>
          <p:cNvPr id="75" name="critical_path_gantt.total_duration"/>
          <p:cNvCxnSpPr/>
          <p:nvPr/>
        </p:nvCxnSpPr>
        <p:spPr>
          <a:xfrm>
            <a:off x="1993392" y="1554480"/>
            <a:ext cx="8979408" cy="0"/>
          </a:xfrm>
          <a:prstGeom prst="bentConnector3">
            <a:avLst/>
          </a:prstGeom>
          <a:ln w="1778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ritical_path_gantt.total_duration.start"/>
          <p:cNvCxnSpPr/>
          <p:nvPr/>
        </p:nvCxnSpPr>
        <p:spPr>
          <a:xfrm>
            <a:off x="1993392" y="1481328"/>
            <a:ext cx="0" cy="146304"/>
          </a:xfrm>
          <a:prstGeom prst="bentConnector3">
            <a:avLst/>
          </a:prstGeom>
          <a:ln w="1778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ritical_path_gantt.total_duration.end"/>
          <p:cNvCxnSpPr/>
          <p:nvPr/>
        </p:nvCxnSpPr>
        <p:spPr>
          <a:xfrm>
            <a:off x="10972800" y="1481328"/>
            <a:ext cx="0" cy="146304"/>
          </a:xfrm>
          <a:prstGeom prst="bentConnector3">
            <a:avLst/>
          </a:prstGeom>
          <a:ln w="1778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ritical_path_gantt.total_duration.label"/>
          <p:cNvSpPr txBox="1"/>
          <p:nvPr/>
        </p:nvSpPr>
        <p:spPr>
          <a:xfrm>
            <a:off x="4005072" y="1225296"/>
            <a:ext cx="501091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D92D20"/>
                </a:solidFill>
                <a:latin typeface="Aptos"/>
              </a:rPr>
              <a:t>TOTAL DURATION  8 WORKING DAYS · +2 VS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straint_board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CONSTRAINT BOARD</a:t>
            </a:r>
          </a:p>
        </p:txBody>
      </p:sp>
      <p:sp>
        <p:nvSpPr>
          <p:cNvPr id="3" name="constraint_board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Binding and near-critical constraints define the recovery boundary</a:t>
            </a:r>
          </a:p>
        </p:txBody>
      </p:sp>
      <p:cxnSp>
        <p:nvCxnSpPr>
          <p:cNvPr id="4" name="constraint_board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straint_board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pmo-steerco-gold-schedule  |  HASH f885d13be2f9  |  CUTOFF not supplied in DecisionPackage  |  MODEL schedule_analysis / 1.0.0  |  STATUS no_recommendation</a:t>
            </a:r>
          </a:p>
        </p:txBody>
      </p:sp>
      <p:sp>
        <p:nvSpPr>
          <p:cNvPr id="6" name="constraint_board.binding.label"/>
          <p:cNvSpPr txBox="1"/>
          <p:nvPr/>
        </p:nvSpPr>
        <p:spPr>
          <a:xfrm>
            <a:off x="658368" y="1389888"/>
            <a:ext cx="3931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92D20"/>
                </a:solidFill>
                <a:latin typeface="Aptos"/>
              </a:rPr>
              <a:t>BINDING NEGATIVE-FLOAT PATH</a:t>
            </a:r>
          </a:p>
        </p:txBody>
      </p:sp>
      <p:sp>
        <p:nvSpPr>
          <p:cNvPr id="7" name="constraint_board.near.label"/>
          <p:cNvSpPr txBox="1"/>
          <p:nvPr/>
        </p:nvSpPr>
        <p:spPr>
          <a:xfrm>
            <a:off x="658368" y="3675887"/>
            <a:ext cx="4754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C94C"/>
                </a:solidFill>
                <a:latin typeface="Aptos"/>
              </a:rPr>
              <a:t>NEAR-CRITICAL WATCHLIST · +1 DAY FLOAT</a:t>
            </a:r>
          </a:p>
        </p:txBody>
      </p:sp>
      <p:cxnSp>
        <p:nvCxnSpPr>
          <p:cNvPr id="8" name="constraint_board.required_finish"/>
          <p:cNvCxnSpPr/>
          <p:nvPr/>
        </p:nvCxnSpPr>
        <p:spPr>
          <a:xfrm>
            <a:off x="8481059" y="1737360"/>
            <a:ext cx="0" cy="3493008"/>
          </a:xfrm>
          <a:prstGeom prst="bentConnector3">
            <a:avLst/>
          </a:prstGeom>
          <a:ln w="2540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straint_board.required_finish.label"/>
          <p:cNvSpPr txBox="1"/>
          <p:nvPr/>
        </p:nvSpPr>
        <p:spPr>
          <a:xfrm>
            <a:off x="7694675" y="5285232"/>
            <a:ext cx="157276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D92D20"/>
                </a:solidFill>
                <a:latin typeface="Aptos"/>
              </a:rPr>
              <a:t>REQUIRED FINISH D6</a:t>
            </a:r>
          </a:p>
        </p:txBody>
      </p:sp>
      <p:cxnSp>
        <p:nvCxnSpPr>
          <p:cNvPr id="10" name="constraint_board.edge.ab"/>
          <p:cNvCxnSpPr/>
          <p:nvPr/>
        </p:nvCxnSpPr>
        <p:spPr>
          <a:xfrm>
            <a:off x="1353312" y="2633472"/>
            <a:ext cx="3477005" cy="0"/>
          </a:xfrm>
          <a:prstGeom prst="bentConnector3">
            <a:avLst/>
          </a:prstGeom>
          <a:ln w="2667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straint_board.edge.ac"/>
          <p:cNvCxnSpPr/>
          <p:nvPr/>
        </p:nvCxnSpPr>
        <p:spPr>
          <a:xfrm>
            <a:off x="1353312" y="2633472"/>
            <a:ext cx="1030986" cy="1920240"/>
          </a:xfrm>
          <a:prstGeom prst="bentConnector3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straint_board.edge.bd"/>
          <p:cNvCxnSpPr/>
          <p:nvPr/>
        </p:nvCxnSpPr>
        <p:spPr>
          <a:xfrm>
            <a:off x="5022342" y="2633472"/>
            <a:ext cx="3477005" cy="0"/>
          </a:xfrm>
          <a:prstGeom prst="bentConnector3">
            <a:avLst/>
          </a:prstGeom>
          <a:ln w="2667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straint_board.edge.ce"/>
          <p:cNvCxnSpPr/>
          <p:nvPr/>
        </p:nvCxnSpPr>
        <p:spPr>
          <a:xfrm>
            <a:off x="2576322" y="4553712"/>
            <a:ext cx="1030986" cy="0"/>
          </a:xfrm>
          <a:prstGeom prst="bentConnector3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straint_board.edge.df"/>
          <p:cNvCxnSpPr/>
          <p:nvPr/>
        </p:nvCxnSpPr>
        <p:spPr>
          <a:xfrm>
            <a:off x="8691372" y="2633472"/>
            <a:ext cx="1030985" cy="0"/>
          </a:xfrm>
          <a:prstGeom prst="bentConnector3">
            <a:avLst/>
          </a:prstGeom>
          <a:ln w="2667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straint_board.edge.eg"/>
          <p:cNvCxnSpPr/>
          <p:nvPr/>
        </p:nvCxnSpPr>
        <p:spPr>
          <a:xfrm>
            <a:off x="3799332" y="4553712"/>
            <a:ext cx="2253995" cy="0"/>
          </a:xfrm>
          <a:prstGeom prst="bentConnector3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terial: constraint_board.node.A"/>
          <p:cNvSpPr/>
          <p:nvPr/>
        </p:nvSpPr>
        <p:spPr>
          <a:xfrm>
            <a:off x="1143000" y="2423160"/>
            <a:ext cx="438912" cy="438912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straint_board.node.A.label"/>
          <p:cNvSpPr txBox="1"/>
          <p:nvPr/>
        </p:nvSpPr>
        <p:spPr>
          <a:xfrm>
            <a:off x="1207008" y="254203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8" name="constraint_board.node.A.trigger"/>
          <p:cNvSpPr txBox="1"/>
          <p:nvPr/>
        </p:nvSpPr>
        <p:spPr>
          <a:xfrm>
            <a:off x="832103" y="295351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667085"/>
                </a:solidFill>
                <a:latin typeface="Aptos"/>
              </a:rPr>
              <a:t>TF -2
2026-07-27</a:t>
            </a:r>
          </a:p>
        </p:txBody>
      </p:sp>
      <p:sp>
        <p:nvSpPr>
          <p:cNvPr id="19" name="Material: constraint_board.node.B"/>
          <p:cNvSpPr/>
          <p:nvPr/>
        </p:nvSpPr>
        <p:spPr>
          <a:xfrm>
            <a:off x="4812029" y="2423160"/>
            <a:ext cx="438912" cy="438912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straint_board.node.B.label"/>
          <p:cNvSpPr txBox="1"/>
          <p:nvPr/>
        </p:nvSpPr>
        <p:spPr>
          <a:xfrm>
            <a:off x="4876038" y="254203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1" name="constraint_board.node.B.trigger"/>
          <p:cNvSpPr txBox="1"/>
          <p:nvPr/>
        </p:nvSpPr>
        <p:spPr>
          <a:xfrm>
            <a:off x="4501133" y="295351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667085"/>
                </a:solidFill>
                <a:latin typeface="Aptos"/>
              </a:rPr>
              <a:t>TF -2
2026-07-30</a:t>
            </a:r>
          </a:p>
        </p:txBody>
      </p:sp>
      <p:sp>
        <p:nvSpPr>
          <p:cNvPr id="22" name="Material: constraint_board.node.C"/>
          <p:cNvSpPr/>
          <p:nvPr/>
        </p:nvSpPr>
        <p:spPr>
          <a:xfrm>
            <a:off x="2366010" y="4343400"/>
            <a:ext cx="438912" cy="43891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nstraint_board.node.C.label"/>
          <p:cNvSpPr txBox="1"/>
          <p:nvPr/>
        </p:nvSpPr>
        <p:spPr>
          <a:xfrm>
            <a:off x="2430018" y="446227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C</a:t>
            </a:r>
          </a:p>
        </p:txBody>
      </p:sp>
      <p:sp>
        <p:nvSpPr>
          <p:cNvPr id="24" name="constraint_board.node.C.trigger"/>
          <p:cNvSpPr txBox="1"/>
          <p:nvPr/>
        </p:nvSpPr>
        <p:spPr>
          <a:xfrm>
            <a:off x="2055114" y="487375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Aptos"/>
              </a:rPr>
              <a:t>TF +1
2026-07-28</a:t>
            </a:r>
          </a:p>
        </p:txBody>
      </p:sp>
      <p:sp>
        <p:nvSpPr>
          <p:cNvPr id="25" name="Material: constraint_board.node.D"/>
          <p:cNvSpPr/>
          <p:nvPr/>
        </p:nvSpPr>
        <p:spPr>
          <a:xfrm>
            <a:off x="8481059" y="2423160"/>
            <a:ext cx="438912" cy="438912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nstraint_board.node.D.label"/>
          <p:cNvSpPr txBox="1"/>
          <p:nvPr/>
        </p:nvSpPr>
        <p:spPr>
          <a:xfrm>
            <a:off x="8545067" y="254203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7" name="constraint_board.node.D.trigger"/>
          <p:cNvSpPr txBox="1"/>
          <p:nvPr/>
        </p:nvSpPr>
        <p:spPr>
          <a:xfrm>
            <a:off x="8170163" y="295351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667085"/>
                </a:solidFill>
                <a:latin typeface="Aptos"/>
              </a:rPr>
              <a:t>TF -2
2026-08-05</a:t>
            </a:r>
          </a:p>
        </p:txBody>
      </p:sp>
      <p:sp>
        <p:nvSpPr>
          <p:cNvPr id="28" name="Material: constraint_board.node.E"/>
          <p:cNvSpPr/>
          <p:nvPr/>
        </p:nvSpPr>
        <p:spPr>
          <a:xfrm>
            <a:off x="3589020" y="4343400"/>
            <a:ext cx="438912" cy="43891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nstraint_board.node.E.label"/>
          <p:cNvSpPr txBox="1"/>
          <p:nvPr/>
        </p:nvSpPr>
        <p:spPr>
          <a:xfrm>
            <a:off x="3653027" y="446227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E</a:t>
            </a:r>
          </a:p>
        </p:txBody>
      </p:sp>
      <p:sp>
        <p:nvSpPr>
          <p:cNvPr id="30" name="constraint_board.node.E.trigger"/>
          <p:cNvSpPr txBox="1"/>
          <p:nvPr/>
        </p:nvSpPr>
        <p:spPr>
          <a:xfrm>
            <a:off x="3278124" y="487375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Aptos"/>
              </a:rPr>
              <a:t>TF +1
2026-07-29</a:t>
            </a:r>
          </a:p>
        </p:txBody>
      </p:sp>
      <p:sp>
        <p:nvSpPr>
          <p:cNvPr id="31" name="Material: constraint_board.node.F"/>
          <p:cNvSpPr/>
          <p:nvPr/>
        </p:nvSpPr>
        <p:spPr>
          <a:xfrm>
            <a:off x="9704069" y="2423160"/>
            <a:ext cx="438912" cy="438912"/>
          </a:xfrm>
          <a:prstGeom prst="ellipse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nstraint_board.node.F.label"/>
          <p:cNvSpPr txBox="1"/>
          <p:nvPr/>
        </p:nvSpPr>
        <p:spPr>
          <a:xfrm>
            <a:off x="9768078" y="254203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33" name="constraint_board.node.F.trigger"/>
          <p:cNvSpPr txBox="1"/>
          <p:nvPr/>
        </p:nvSpPr>
        <p:spPr>
          <a:xfrm>
            <a:off x="9393174" y="295351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667085"/>
                </a:solidFill>
                <a:latin typeface="Aptos"/>
              </a:rPr>
              <a:t>TF -2
2026-08-06</a:t>
            </a:r>
          </a:p>
        </p:txBody>
      </p:sp>
      <p:sp>
        <p:nvSpPr>
          <p:cNvPr id="34" name="Material: constraint_board.node.G"/>
          <p:cNvSpPr/>
          <p:nvPr/>
        </p:nvSpPr>
        <p:spPr>
          <a:xfrm>
            <a:off x="6035040" y="4343400"/>
            <a:ext cx="438912" cy="438912"/>
          </a:xfrm>
          <a:prstGeom prst="ellipse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nstraint_board.node.G.label"/>
          <p:cNvSpPr txBox="1"/>
          <p:nvPr/>
        </p:nvSpPr>
        <p:spPr>
          <a:xfrm>
            <a:off x="6099048" y="4462272"/>
            <a:ext cx="3108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G</a:t>
            </a:r>
          </a:p>
        </p:txBody>
      </p:sp>
      <p:sp>
        <p:nvSpPr>
          <p:cNvPr id="36" name="constraint_board.node.G.trigger"/>
          <p:cNvSpPr txBox="1"/>
          <p:nvPr/>
        </p:nvSpPr>
        <p:spPr>
          <a:xfrm>
            <a:off x="5724144" y="4873752"/>
            <a:ext cx="106070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667085"/>
                </a:solidFill>
                <a:latin typeface="Aptos"/>
              </a:rPr>
              <a:t>TF +1
2026-08-03</a:t>
            </a:r>
          </a:p>
        </p:txBody>
      </p:sp>
      <p:sp>
        <p:nvSpPr>
          <p:cNvPr id="37" name="constraint_board.boundary"/>
          <p:cNvSpPr txBox="1"/>
          <p:nvPr/>
        </p:nvSpPr>
        <p:spPr>
          <a:xfrm>
            <a:off x="749808" y="5925312"/>
            <a:ext cx="10744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667085"/>
                </a:solidFill>
                <a:latin typeface="Aptos"/>
              </a:rPr>
              <a:t>A → B → D → F is already binding. C → E → G is the next recovery risk if one working day is lost.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sk_exposure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RISK EXPOSURE</a:t>
            </a:r>
          </a:p>
        </p:txBody>
      </p:sp>
      <p:sp>
        <p:nvSpPr>
          <p:cNvPr id="3" name="risk_exposure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Mitigation economics must be read with residual exposure and tolerance</a:t>
            </a:r>
          </a:p>
        </p:txBody>
      </p:sp>
      <p:cxnSp>
        <p:nvCxnSpPr>
          <p:cNvPr id="4" name="risk_exposure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isk_exposure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pmo-steerco-gold-risk-analysis  |  HASH f885d13be2f9  |  CUTOFF not supplied in DecisionPackage  |  MODEL risk_treatment / 1.0.0  |  STATUS no_recommendation</a:t>
            </a:r>
          </a:p>
        </p:txBody>
      </p:sp>
      <p:cxnSp>
        <p:nvCxnSpPr>
          <p:cNvPr id="6" name="risk_exposure.grid.0"/>
          <p:cNvCxnSpPr/>
          <p:nvPr/>
        </p:nvCxnSpPr>
        <p:spPr>
          <a:xfrm>
            <a:off x="1024128" y="5303520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sk_exposure.axis.0"/>
          <p:cNvSpPr txBox="1"/>
          <p:nvPr/>
        </p:nvSpPr>
        <p:spPr>
          <a:xfrm>
            <a:off x="530352" y="5212080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0k</a:t>
            </a:r>
          </a:p>
        </p:txBody>
      </p:sp>
      <p:cxnSp>
        <p:nvCxnSpPr>
          <p:cNvPr id="8" name="risk_exposure.grid.1"/>
          <p:cNvCxnSpPr/>
          <p:nvPr/>
        </p:nvCxnSpPr>
        <p:spPr>
          <a:xfrm>
            <a:off x="1024128" y="4593945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sk_exposure.axis.1"/>
          <p:cNvSpPr txBox="1"/>
          <p:nvPr/>
        </p:nvSpPr>
        <p:spPr>
          <a:xfrm>
            <a:off x="530352" y="4502505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99k</a:t>
            </a:r>
          </a:p>
        </p:txBody>
      </p:sp>
      <p:cxnSp>
        <p:nvCxnSpPr>
          <p:cNvPr id="10" name="risk_exposure.grid.2"/>
          <p:cNvCxnSpPr/>
          <p:nvPr/>
        </p:nvCxnSpPr>
        <p:spPr>
          <a:xfrm>
            <a:off x="1024128" y="3884371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sk_exposure.axis.2"/>
          <p:cNvSpPr txBox="1"/>
          <p:nvPr/>
        </p:nvSpPr>
        <p:spPr>
          <a:xfrm>
            <a:off x="530352" y="3792931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198k</a:t>
            </a:r>
          </a:p>
        </p:txBody>
      </p:sp>
      <p:cxnSp>
        <p:nvCxnSpPr>
          <p:cNvPr id="12" name="risk_exposure.grid.3"/>
          <p:cNvCxnSpPr/>
          <p:nvPr/>
        </p:nvCxnSpPr>
        <p:spPr>
          <a:xfrm>
            <a:off x="1024128" y="3174796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sk_exposure.axis.3"/>
          <p:cNvSpPr txBox="1"/>
          <p:nvPr/>
        </p:nvSpPr>
        <p:spPr>
          <a:xfrm>
            <a:off x="530352" y="3083356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297k</a:t>
            </a:r>
          </a:p>
        </p:txBody>
      </p:sp>
      <p:cxnSp>
        <p:nvCxnSpPr>
          <p:cNvPr id="14" name="risk_exposure.grid.4"/>
          <p:cNvCxnSpPr/>
          <p:nvPr/>
        </p:nvCxnSpPr>
        <p:spPr>
          <a:xfrm>
            <a:off x="1024128" y="2465222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sk_exposure.axis.4"/>
          <p:cNvSpPr txBox="1"/>
          <p:nvPr/>
        </p:nvSpPr>
        <p:spPr>
          <a:xfrm>
            <a:off x="530352" y="2373782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396k</a:t>
            </a:r>
          </a:p>
        </p:txBody>
      </p:sp>
      <p:cxnSp>
        <p:nvCxnSpPr>
          <p:cNvPr id="16" name="risk_exposure.grid.5"/>
          <p:cNvCxnSpPr/>
          <p:nvPr/>
        </p:nvCxnSpPr>
        <p:spPr>
          <a:xfrm>
            <a:off x="1024128" y="1755647"/>
            <a:ext cx="9875520" cy="0"/>
          </a:xfrm>
          <a:prstGeom prst="bentConnector3">
            <a:avLst/>
          </a:prstGeom>
          <a:ln w="6985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sk_exposure.axis.5"/>
          <p:cNvSpPr txBox="1"/>
          <p:nvPr/>
        </p:nvSpPr>
        <p:spPr>
          <a:xfrm>
            <a:off x="530352" y="1664207"/>
            <a:ext cx="43891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20" b="0">
                <a:solidFill>
                  <a:srgbClr val="667085"/>
                </a:solidFill>
                <a:latin typeface="Aptos"/>
              </a:rPr>
              <a:t>495k</a:t>
            </a:r>
          </a:p>
        </p:txBody>
      </p:sp>
      <p:sp>
        <p:nvSpPr>
          <p:cNvPr id="18" name="Material: risk_exposure.waterfall.baseline"/>
          <p:cNvSpPr/>
          <p:nvPr/>
        </p:nvSpPr>
        <p:spPr>
          <a:xfrm>
            <a:off x="1389888" y="2078181"/>
            <a:ext cx="1298448" cy="322533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aterial: risk_exposure.waterfall.reduction"/>
          <p:cNvSpPr/>
          <p:nvPr/>
        </p:nvSpPr>
        <p:spPr>
          <a:xfrm>
            <a:off x="4663440" y="2078181"/>
            <a:ext cx="1298448" cy="2257736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terial: risk_exposure.waterfall.residual"/>
          <p:cNvSpPr/>
          <p:nvPr/>
        </p:nvSpPr>
        <p:spPr>
          <a:xfrm>
            <a:off x="7936992" y="4335918"/>
            <a:ext cx="1298448" cy="967601"/>
          </a:xfrm>
          <a:prstGeom prst="rect">
            <a:avLst/>
          </a:prstGeom>
          <a:solidFill>
            <a:srgbClr val="D92D20"/>
          </a:solidFill>
          <a:ln w="889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risk_exposure.waterfall.connector.1"/>
          <p:cNvCxnSpPr/>
          <p:nvPr/>
        </p:nvCxnSpPr>
        <p:spPr>
          <a:xfrm>
            <a:off x="2688336" y="2078181"/>
            <a:ext cx="1975104" cy="0"/>
          </a:xfrm>
          <a:prstGeom prst="bentConnector3">
            <a:avLst/>
          </a:prstGeom>
          <a:ln w="1397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isk_exposure.waterfall.connector.2"/>
          <p:cNvCxnSpPr/>
          <p:nvPr/>
        </p:nvCxnSpPr>
        <p:spPr>
          <a:xfrm>
            <a:off x="5961888" y="4335918"/>
            <a:ext cx="1975104" cy="0"/>
          </a:xfrm>
          <a:prstGeom prst="bentConnector3">
            <a:avLst/>
          </a:prstGeom>
          <a:ln w="1397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isk_exposure.tolerance"/>
          <p:cNvCxnSpPr/>
          <p:nvPr/>
        </p:nvCxnSpPr>
        <p:spPr>
          <a:xfrm>
            <a:off x="1024128" y="4586778"/>
            <a:ext cx="9875520" cy="0"/>
          </a:xfrm>
          <a:prstGeom prst="bentConnector3">
            <a:avLst/>
          </a:prstGeom>
          <a:ln w="2540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sk_exposure.tolerance.label"/>
          <p:cNvSpPr txBox="1"/>
          <p:nvPr/>
        </p:nvSpPr>
        <p:spPr>
          <a:xfrm>
            <a:off x="9253728" y="4321602"/>
            <a:ext cx="1645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19" b="1">
                <a:solidFill>
                  <a:srgbClr val="F2C94C"/>
                </a:solidFill>
                <a:latin typeface="Aptos"/>
              </a:rPr>
              <a:t>TOLERANCE  100k</a:t>
            </a:r>
          </a:p>
        </p:txBody>
      </p:sp>
      <p:sp>
        <p:nvSpPr>
          <p:cNvPr id="25" name="risk_exposure.baseline.label"/>
          <p:cNvSpPr txBox="1"/>
          <p:nvPr/>
        </p:nvSpPr>
        <p:spPr>
          <a:xfrm>
            <a:off x="1225296" y="5486400"/>
            <a:ext cx="162763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667085"/>
                </a:solidFill>
                <a:latin typeface="Aptos"/>
              </a:rPr>
              <a:t>BASELINE</a:t>
            </a:r>
          </a:p>
        </p:txBody>
      </p:sp>
      <p:sp>
        <p:nvSpPr>
          <p:cNvPr id="26" name="risk_exposure.baseline.value"/>
          <p:cNvSpPr txBox="1"/>
          <p:nvPr/>
        </p:nvSpPr>
        <p:spPr>
          <a:xfrm>
            <a:off x="1225296" y="5733288"/>
            <a:ext cx="162763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17365D"/>
                </a:solidFill>
                <a:latin typeface="Aptos"/>
              </a:rPr>
              <a:t>450k</a:t>
            </a:r>
          </a:p>
        </p:txBody>
      </p:sp>
      <p:sp>
        <p:nvSpPr>
          <p:cNvPr id="27" name="risk_exposure.mitigation.label"/>
          <p:cNvSpPr txBox="1"/>
          <p:nvPr/>
        </p:nvSpPr>
        <p:spPr>
          <a:xfrm>
            <a:off x="4498848" y="5486400"/>
            <a:ext cx="162763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667085"/>
                </a:solidFill>
                <a:latin typeface="Aptos"/>
              </a:rPr>
              <a:t>MITIGATION</a:t>
            </a:r>
          </a:p>
        </p:txBody>
      </p:sp>
      <p:sp>
        <p:nvSpPr>
          <p:cNvPr id="28" name="risk_exposure.mitigation.value"/>
          <p:cNvSpPr txBox="1"/>
          <p:nvPr/>
        </p:nvSpPr>
        <p:spPr>
          <a:xfrm>
            <a:off x="4498848" y="5733288"/>
            <a:ext cx="162763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2E7D32"/>
                </a:solidFill>
                <a:latin typeface="Aptos"/>
              </a:rPr>
              <a:t>-315k</a:t>
            </a:r>
          </a:p>
        </p:txBody>
      </p:sp>
      <p:sp>
        <p:nvSpPr>
          <p:cNvPr id="29" name="risk_exposure.residual.label"/>
          <p:cNvSpPr txBox="1"/>
          <p:nvPr/>
        </p:nvSpPr>
        <p:spPr>
          <a:xfrm>
            <a:off x="7772400" y="5486400"/>
            <a:ext cx="162763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667085"/>
                </a:solidFill>
                <a:latin typeface="Aptos"/>
              </a:rPr>
              <a:t>RESIDUAL</a:t>
            </a:r>
          </a:p>
        </p:txBody>
      </p:sp>
      <p:sp>
        <p:nvSpPr>
          <p:cNvPr id="30" name="risk_exposure.residual.value"/>
          <p:cNvSpPr txBox="1"/>
          <p:nvPr/>
        </p:nvSpPr>
        <p:spPr>
          <a:xfrm>
            <a:off x="7772400" y="5733288"/>
            <a:ext cx="162763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80" b="1">
                <a:solidFill>
                  <a:srgbClr val="D92D20"/>
                </a:solidFill>
                <a:latin typeface="Aptos"/>
              </a:rPr>
              <a:t>135k</a:t>
            </a:r>
          </a:p>
        </p:txBody>
      </p:sp>
      <p:sp>
        <p:nvSpPr>
          <p:cNvPr id="31" name="Material: risk_exposure.gap"/>
          <p:cNvSpPr/>
          <p:nvPr/>
        </p:nvSpPr>
        <p:spPr>
          <a:xfrm>
            <a:off x="9528048" y="4171326"/>
            <a:ext cx="1353312" cy="475488"/>
          </a:xfrm>
          <a:prstGeom prst="roundRect">
            <a:avLst/>
          </a:prstGeom>
          <a:solidFill>
            <a:srgbClr val="F7F8FA"/>
          </a:solidFill>
          <a:ln w="1778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sk_exposure.gap.label"/>
          <p:cNvSpPr txBox="1"/>
          <p:nvPr/>
        </p:nvSpPr>
        <p:spPr>
          <a:xfrm>
            <a:off x="9619488" y="4299342"/>
            <a:ext cx="11704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D92D20"/>
                </a:solidFill>
                <a:latin typeface="Aptos"/>
              </a:rPr>
              <a:t>35k ABOVE TOLERANCE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itigation_roi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MITIGATION ROI</a:t>
            </a:r>
          </a:p>
        </p:txBody>
      </p:sp>
      <p:sp>
        <p:nvSpPr>
          <p:cNvPr id="3" name="mitigation_roi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Treatment value is conditional on calibrated probability and consequence</a:t>
            </a:r>
          </a:p>
        </p:txBody>
      </p:sp>
      <p:cxnSp>
        <p:nvCxnSpPr>
          <p:cNvPr id="4" name="mitigation_roi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itigation_roi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pmo-steerco-gold-risk-analysis  |  HASH f885d13be2f9  |  CUTOFF not supplied in DecisionPackage  |  MODEL risk_treatment / 1.0.0  |  STATUS no_recommendation</a:t>
            </a:r>
          </a:p>
        </p:txBody>
      </p:sp>
      <p:sp>
        <p:nvSpPr>
          <p:cNvPr id="6" name="mitigation_roi.scale.label"/>
          <p:cNvSpPr txBox="1"/>
          <p:nvPr/>
        </p:nvSpPr>
        <p:spPr>
          <a:xfrm>
            <a:off x="658368" y="1353312"/>
            <a:ext cx="28346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COMMON MONETARY SCALE</a:t>
            </a:r>
          </a:p>
        </p:txBody>
      </p:sp>
      <p:cxnSp>
        <p:nvCxnSpPr>
          <p:cNvPr id="7" name="mitigation_roi.zero"/>
          <p:cNvCxnSpPr/>
          <p:nvPr/>
        </p:nvCxnSpPr>
        <p:spPr>
          <a:xfrm>
            <a:off x="932688" y="5193792"/>
            <a:ext cx="8439912" cy="0"/>
          </a:xfrm>
          <a:prstGeom prst="bentConnector3">
            <a:avLst/>
          </a:prstGeom>
          <a:ln w="1651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erial: mitigation_roi.bridge.gross_benefit"/>
          <p:cNvSpPr/>
          <p:nvPr/>
        </p:nvSpPr>
        <p:spPr>
          <a:xfrm>
            <a:off x="1316736" y="2107692"/>
            <a:ext cx="1389888" cy="3086099"/>
          </a:xfrm>
          <a:prstGeom prst="rect">
            <a:avLst/>
          </a:prstGeom>
          <a:solidFill>
            <a:srgbClr val="2E7D32"/>
          </a:solidFill>
          <a:ln w="889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terial: mitigation_roi.bridge.cost"/>
          <p:cNvSpPr/>
          <p:nvPr/>
        </p:nvSpPr>
        <p:spPr>
          <a:xfrm>
            <a:off x="4315968" y="2107692"/>
            <a:ext cx="1389888" cy="1469571"/>
          </a:xfrm>
          <a:prstGeom prst="rect">
            <a:avLst/>
          </a:prstGeom>
          <a:solidFill>
            <a:srgbClr val="D92D20"/>
          </a:solidFill>
          <a:ln w="889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aterial: mitigation_roi.bridge.net_benefit"/>
          <p:cNvSpPr/>
          <p:nvPr/>
        </p:nvSpPr>
        <p:spPr>
          <a:xfrm>
            <a:off x="7315200" y="3577263"/>
            <a:ext cx="1389888" cy="1616528"/>
          </a:xfrm>
          <a:prstGeom prst="rect">
            <a:avLst/>
          </a:prstGeom>
          <a:solidFill>
            <a:srgbClr val="17365D"/>
          </a:solidFill>
          <a:ln w="889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mitigation_roi.bridge.connector.1"/>
          <p:cNvCxnSpPr/>
          <p:nvPr/>
        </p:nvCxnSpPr>
        <p:spPr>
          <a:xfrm>
            <a:off x="2706624" y="2107692"/>
            <a:ext cx="1609344" cy="0"/>
          </a:xfrm>
          <a:prstGeom prst="bentConnector3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itigation_roi.bridge.connector.2"/>
          <p:cNvCxnSpPr/>
          <p:nvPr/>
        </p:nvCxnSpPr>
        <p:spPr>
          <a:xfrm>
            <a:off x="5705856" y="3577263"/>
            <a:ext cx="1609344" cy="0"/>
          </a:xfrm>
          <a:prstGeom prst="bentConnector3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itigation_roi.gross_risk_reduction.label"/>
          <p:cNvSpPr txBox="1"/>
          <p:nvPr/>
        </p:nvSpPr>
        <p:spPr>
          <a:xfrm>
            <a:off x="969264" y="5413248"/>
            <a:ext cx="20848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GROSS RISK REDUCTION</a:t>
            </a:r>
          </a:p>
        </p:txBody>
      </p:sp>
      <p:sp>
        <p:nvSpPr>
          <p:cNvPr id="14" name="mitigation_roi.gross_risk_reduction.value"/>
          <p:cNvSpPr txBox="1"/>
          <p:nvPr/>
        </p:nvSpPr>
        <p:spPr>
          <a:xfrm>
            <a:off x="1078992" y="5687568"/>
            <a:ext cx="18653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+315k</a:t>
            </a:r>
          </a:p>
        </p:txBody>
      </p:sp>
      <p:sp>
        <p:nvSpPr>
          <p:cNvPr id="15" name="mitigation_roi.full-life_cost.label"/>
          <p:cNvSpPr txBox="1"/>
          <p:nvPr/>
        </p:nvSpPr>
        <p:spPr>
          <a:xfrm>
            <a:off x="3968496" y="5413248"/>
            <a:ext cx="20848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FULL-LIFE COST</a:t>
            </a:r>
          </a:p>
        </p:txBody>
      </p:sp>
      <p:sp>
        <p:nvSpPr>
          <p:cNvPr id="16" name="mitigation_roi.full-life_cost.value"/>
          <p:cNvSpPr txBox="1"/>
          <p:nvPr/>
        </p:nvSpPr>
        <p:spPr>
          <a:xfrm>
            <a:off x="4078224" y="5687568"/>
            <a:ext cx="18653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D92D20"/>
                </a:solidFill>
                <a:latin typeface="Aptos"/>
              </a:rPr>
              <a:t>-150k</a:t>
            </a:r>
          </a:p>
        </p:txBody>
      </p:sp>
      <p:sp>
        <p:nvSpPr>
          <p:cNvPr id="17" name="mitigation_roi.net_benefit.label"/>
          <p:cNvSpPr txBox="1"/>
          <p:nvPr/>
        </p:nvSpPr>
        <p:spPr>
          <a:xfrm>
            <a:off x="6967728" y="5413248"/>
            <a:ext cx="2084832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NET BENEFIT</a:t>
            </a:r>
          </a:p>
        </p:txBody>
      </p:sp>
      <p:sp>
        <p:nvSpPr>
          <p:cNvPr id="18" name="mitigation_roi.net_benefit.value"/>
          <p:cNvSpPr txBox="1"/>
          <p:nvPr/>
        </p:nvSpPr>
        <p:spPr>
          <a:xfrm>
            <a:off x="7077456" y="5687568"/>
            <a:ext cx="186537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+165k</a:t>
            </a:r>
          </a:p>
        </p:txBody>
      </p:sp>
      <p:sp>
        <p:nvSpPr>
          <p:cNvPr id="19" name="Material: mitigation_roi.roi"/>
          <p:cNvSpPr/>
          <p:nvPr/>
        </p:nvSpPr>
        <p:spPr>
          <a:xfrm>
            <a:off x="9802368" y="1975104"/>
            <a:ext cx="1078992" cy="1078992"/>
          </a:xfrm>
          <a:prstGeom prst="ellipse">
            <a:avLst/>
          </a:prstGeom>
          <a:solidFill>
            <a:srgbClr val="F7F8FA"/>
          </a:solidFill>
          <a:ln w="279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tigation_roi.roi.value"/>
          <p:cNvSpPr txBox="1"/>
          <p:nvPr/>
        </p:nvSpPr>
        <p:spPr>
          <a:xfrm>
            <a:off x="9902952" y="2221992"/>
            <a:ext cx="8778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E7D32"/>
                </a:solidFill>
                <a:latin typeface="Aptos"/>
              </a:rPr>
              <a:t>1.1×</a:t>
            </a:r>
          </a:p>
        </p:txBody>
      </p:sp>
      <p:sp>
        <p:nvSpPr>
          <p:cNvPr id="21" name="mitigation_roi.roi.label"/>
          <p:cNvSpPr txBox="1"/>
          <p:nvPr/>
        </p:nvSpPr>
        <p:spPr>
          <a:xfrm>
            <a:off x="9966960" y="2578608"/>
            <a:ext cx="7498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67085"/>
                </a:solidFill>
                <a:latin typeface="Aptos"/>
              </a:rPr>
              <a:t>ROI</a:t>
            </a:r>
          </a:p>
        </p:txBody>
      </p:sp>
      <p:sp>
        <p:nvSpPr>
          <p:cNvPr id="22" name="Material: mitigation_roi.bcr"/>
          <p:cNvSpPr/>
          <p:nvPr/>
        </p:nvSpPr>
        <p:spPr>
          <a:xfrm>
            <a:off x="9802368" y="3493008"/>
            <a:ext cx="1078992" cy="1078992"/>
          </a:xfrm>
          <a:prstGeom prst="ellipse">
            <a:avLst/>
          </a:prstGeom>
          <a:solidFill>
            <a:srgbClr val="F7F8FA"/>
          </a:solidFill>
          <a:ln w="27940">
            <a:solidFill>
              <a:srgbClr val="285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tigation_roi.bcr.value"/>
          <p:cNvSpPr txBox="1"/>
          <p:nvPr/>
        </p:nvSpPr>
        <p:spPr>
          <a:xfrm>
            <a:off x="9902952" y="3739896"/>
            <a:ext cx="877824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85489"/>
                </a:solidFill>
                <a:latin typeface="Aptos"/>
              </a:rPr>
              <a:t>2.1×</a:t>
            </a:r>
          </a:p>
        </p:txBody>
      </p:sp>
      <p:sp>
        <p:nvSpPr>
          <p:cNvPr id="24" name="mitigation_roi.bcr.label"/>
          <p:cNvSpPr txBox="1"/>
          <p:nvPr/>
        </p:nvSpPr>
        <p:spPr>
          <a:xfrm>
            <a:off x="9765792" y="4096512"/>
            <a:ext cx="1152144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40" b="1">
                <a:solidFill>
                  <a:srgbClr val="667085"/>
                </a:solidFill>
                <a:latin typeface="Aptos"/>
              </a:rPr>
              <a:t>BENEFIT / COST</a:t>
            </a:r>
          </a:p>
        </p:txBody>
      </p:sp>
      <p:sp>
        <p:nvSpPr>
          <p:cNvPr id="25" name="mitigation_roi.boundary"/>
          <p:cNvSpPr txBox="1"/>
          <p:nvPr/>
        </p:nvSpPr>
        <p:spPr>
          <a:xfrm>
            <a:off x="749808" y="6053328"/>
            <a:ext cx="107442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69" b="0">
                <a:solidFill>
                  <a:srgbClr val="667085"/>
                </a:solidFill>
                <a:latin typeface="Aptos"/>
              </a:rPr>
              <a:t>Economics are positive only within the calibrated probability, consequence, and treatment-cost assumptions.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ommendation_trace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RECOMMENDATION TRACE</a:t>
            </a:r>
          </a:p>
        </p:txBody>
      </p:sp>
      <p:sp>
        <p:nvSpPr>
          <p:cNvPr id="3" name="recommendation_trace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Recommendation, counterargument, sensitivity, and evidence boundary stay together</a:t>
            </a:r>
          </a:p>
        </p:txBody>
      </p:sp>
      <p:cxnSp>
        <p:nvCxnSpPr>
          <p:cNvPr id="4" name="recommendation_trace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ommendation_trace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decision-pipeline-f885d13be2f9d088  |  HASH f885d13be2f9  |  CUTOFF not supplied in DecisionPackage  |  MODEL decision_pipeline / decision-pipeline-1.0.0  |  STATUS no_recommendation</a:t>
            </a:r>
          </a:p>
        </p:txBody>
      </p:sp>
      <p:sp>
        <p:nvSpPr>
          <p:cNvPr id="6" name="recommendation_trace.header.stance"/>
          <p:cNvSpPr txBox="1"/>
          <p:nvPr/>
        </p:nvSpPr>
        <p:spPr>
          <a:xfrm>
            <a:off x="1975104" y="1371600"/>
            <a:ext cx="2157984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667085"/>
                </a:solidFill>
                <a:latin typeface="Aptos"/>
              </a:rPr>
              <a:t>STANCE</a:t>
            </a:r>
          </a:p>
        </p:txBody>
      </p:sp>
      <p:sp>
        <p:nvSpPr>
          <p:cNvPr id="7" name="recommendation_trace.header.counterargument"/>
          <p:cNvSpPr txBox="1"/>
          <p:nvPr/>
        </p:nvSpPr>
        <p:spPr>
          <a:xfrm>
            <a:off x="4608576" y="1371600"/>
            <a:ext cx="2084831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667085"/>
                </a:solidFill>
                <a:latin typeface="Aptos"/>
              </a:rPr>
              <a:t>COUNTERARGUMENT</a:t>
            </a:r>
          </a:p>
        </p:txBody>
      </p:sp>
      <p:sp>
        <p:nvSpPr>
          <p:cNvPr id="8" name="recommendation_trace.header.sensitivity_/_flip"/>
          <p:cNvSpPr txBox="1"/>
          <p:nvPr/>
        </p:nvSpPr>
        <p:spPr>
          <a:xfrm>
            <a:off x="7168896" y="1371600"/>
            <a:ext cx="175564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667085"/>
                </a:solidFill>
                <a:latin typeface="Aptos"/>
              </a:rPr>
              <a:t>SENSITIVITY / FLIP</a:t>
            </a:r>
          </a:p>
        </p:txBody>
      </p:sp>
      <p:sp>
        <p:nvSpPr>
          <p:cNvPr id="9" name="recommendation_trace.header.evidence_boundary"/>
          <p:cNvSpPr txBox="1"/>
          <p:nvPr/>
        </p:nvSpPr>
        <p:spPr>
          <a:xfrm>
            <a:off x="9381744" y="1371600"/>
            <a:ext cx="204825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667085"/>
                </a:solidFill>
                <a:latin typeface="Aptos"/>
              </a:rPr>
              <a:t>EVIDENCE BOUNDARY</a:t>
            </a:r>
          </a:p>
        </p:txBody>
      </p:sp>
      <p:sp>
        <p:nvSpPr>
          <p:cNvPr id="10" name="Material: recommendation_trace.lane.1.identity"/>
          <p:cNvSpPr/>
          <p:nvPr/>
        </p:nvSpPr>
        <p:spPr>
          <a:xfrm>
            <a:off x="585216" y="1755648"/>
            <a:ext cx="1152144" cy="6400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mmendation_trace.lane.1.framework"/>
          <p:cNvSpPr txBox="1"/>
          <p:nvPr/>
        </p:nvSpPr>
        <p:spPr>
          <a:xfrm>
            <a:off x="658368" y="1865376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FFFFFF"/>
                </a:solidFill>
                <a:latin typeface="Aptos"/>
              </a:rPr>
              <a:t>VALUE GATE</a:t>
            </a:r>
          </a:p>
        </p:txBody>
      </p:sp>
      <p:sp>
        <p:nvSpPr>
          <p:cNvPr id="12" name="recommendation_trace.lane.1.readiness"/>
          <p:cNvSpPr txBox="1"/>
          <p:nvPr/>
        </p:nvSpPr>
        <p:spPr>
          <a:xfrm>
            <a:off x="658368" y="215798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PASSED</a:t>
            </a:r>
          </a:p>
        </p:txBody>
      </p:sp>
      <p:cxnSp>
        <p:nvCxnSpPr>
          <p:cNvPr id="13" name="recommendation_trace.connector.1.1"/>
          <p:cNvCxnSpPr/>
          <p:nvPr/>
        </p:nvCxnSpPr>
        <p:spPr>
          <a:xfrm>
            <a:off x="4133087" y="2075688"/>
            <a:ext cx="402337" cy="0"/>
          </a:xfrm>
          <a:prstGeom prst="bentConnector3">
            <a:avLst/>
          </a:prstGeom>
          <a:ln w="1968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commendation_trace.connector.1.2"/>
          <p:cNvCxnSpPr/>
          <p:nvPr/>
        </p:nvCxnSpPr>
        <p:spPr>
          <a:xfrm>
            <a:off x="6693408" y="2075688"/>
            <a:ext cx="402336" cy="0"/>
          </a:xfrm>
          <a:prstGeom prst="bentConnector3">
            <a:avLst/>
          </a:prstGeom>
          <a:ln w="1968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ommendation_trace.connector.1.3"/>
          <p:cNvCxnSpPr/>
          <p:nvPr/>
        </p:nvCxnSpPr>
        <p:spPr>
          <a:xfrm>
            <a:off x="8924544" y="2075688"/>
            <a:ext cx="384048" cy="0"/>
          </a:xfrm>
          <a:prstGeom prst="bentConnector3">
            <a:avLst/>
          </a:prstGeom>
          <a:ln w="1968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terial: recommendation_trace.lane.1.stage.1"/>
          <p:cNvSpPr/>
          <p:nvPr/>
        </p:nvSpPr>
        <p:spPr>
          <a:xfrm>
            <a:off x="1975104" y="1755648"/>
            <a:ext cx="2157984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mmendation_trace.lane.1.stage.1.text"/>
          <p:cNvSpPr txBox="1"/>
          <p:nvPr/>
        </p:nvSpPr>
        <p:spPr>
          <a:xfrm>
            <a:off x="2066544" y="1837943"/>
            <a:ext cx="1975103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1">
                <a:solidFill>
                  <a:srgbClr val="182230"/>
                </a:solidFill>
                <a:latin typeface="Aptos"/>
              </a:rPr>
              <a:t>Select continue based on sequential gates and future incremental economics.</a:t>
            </a:r>
          </a:p>
        </p:txBody>
      </p:sp>
      <p:sp>
        <p:nvSpPr>
          <p:cNvPr id="18" name="Material: recommendation_trace.lane.1.stage.2"/>
          <p:cNvSpPr/>
          <p:nvPr/>
        </p:nvSpPr>
        <p:spPr>
          <a:xfrm>
            <a:off x="4608576" y="1755648"/>
            <a:ext cx="2084831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ommendation_trace.lane.1.stage.2.text"/>
          <p:cNvSpPr txBox="1"/>
          <p:nvPr/>
        </p:nvSpPr>
        <p:spPr>
          <a:xfrm>
            <a:off x="4700016" y="1837943"/>
            <a:ext cx="1901951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Forecast benefits may not materialize.</a:t>
            </a:r>
          </a:p>
        </p:txBody>
      </p:sp>
      <p:sp>
        <p:nvSpPr>
          <p:cNvPr id="20" name="Material: recommendation_trace.lane.1.stage.3"/>
          <p:cNvSpPr/>
          <p:nvPr/>
        </p:nvSpPr>
        <p:spPr>
          <a:xfrm>
            <a:off x="7168896" y="1755648"/>
            <a:ext cx="1755648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mmendation_trace.lane.1.stage.3.text"/>
          <p:cNvSpPr txBox="1"/>
          <p:nvPr/>
        </p:nvSpPr>
        <p:spPr>
          <a:xfrm>
            <a:off x="7260336" y="1837943"/>
            <a:ext cx="157276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One-way sensitivity · flip threshold 0.78</a:t>
            </a:r>
          </a:p>
        </p:txBody>
      </p:sp>
      <p:sp>
        <p:nvSpPr>
          <p:cNvPr id="22" name="Material: recommendation_trace.lane.1.stage.4"/>
          <p:cNvSpPr/>
          <p:nvPr/>
        </p:nvSpPr>
        <p:spPr>
          <a:xfrm>
            <a:off x="9381744" y="1755648"/>
            <a:ext cx="2048256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mmendation_trace.lane.1.stage.4.text"/>
          <p:cNvSpPr txBox="1"/>
          <p:nvPr/>
        </p:nvSpPr>
        <p:spPr>
          <a:xfrm>
            <a:off x="9473184" y="1837943"/>
            <a:ext cx="1865376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shared readiness passed</a:t>
            </a:r>
          </a:p>
        </p:txBody>
      </p:sp>
      <p:sp>
        <p:nvSpPr>
          <p:cNvPr id="24" name="Material: recommendation_trace.lane.2.identity"/>
          <p:cNvSpPr/>
          <p:nvPr/>
        </p:nvSpPr>
        <p:spPr>
          <a:xfrm>
            <a:off x="585216" y="2779776"/>
            <a:ext cx="1152144" cy="640080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mmendation_trace.lane.2.framework"/>
          <p:cNvSpPr txBox="1"/>
          <p:nvPr/>
        </p:nvSpPr>
        <p:spPr>
          <a:xfrm>
            <a:off x="658368" y="288950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182230"/>
                </a:solidFill>
                <a:latin typeface="Aptos"/>
              </a:rPr>
              <a:t>RESOURCE ALLOCATION</a:t>
            </a:r>
          </a:p>
        </p:txBody>
      </p:sp>
      <p:sp>
        <p:nvSpPr>
          <p:cNvPr id="26" name="recommendation_trace.lane.2.readiness"/>
          <p:cNvSpPr txBox="1"/>
          <p:nvPr/>
        </p:nvSpPr>
        <p:spPr>
          <a:xfrm>
            <a:off x="658368" y="3182112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182230"/>
                </a:solidFill>
                <a:latin typeface="Aptos"/>
              </a:rPr>
              <a:t>DIAGNOSTIC ONLY</a:t>
            </a:r>
          </a:p>
        </p:txBody>
      </p:sp>
      <p:cxnSp>
        <p:nvCxnSpPr>
          <p:cNvPr id="27" name="recommendation_trace.connector.2.1"/>
          <p:cNvCxnSpPr/>
          <p:nvPr/>
        </p:nvCxnSpPr>
        <p:spPr>
          <a:xfrm>
            <a:off x="4133087" y="3099816"/>
            <a:ext cx="402337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commendation_trace.connector.2.2"/>
          <p:cNvCxnSpPr/>
          <p:nvPr/>
        </p:nvCxnSpPr>
        <p:spPr>
          <a:xfrm>
            <a:off x="6693408" y="3099816"/>
            <a:ext cx="402336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commendation_trace.connector.2.3"/>
          <p:cNvCxnSpPr/>
          <p:nvPr/>
        </p:nvCxnSpPr>
        <p:spPr>
          <a:xfrm>
            <a:off x="8924544" y="3099816"/>
            <a:ext cx="384048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aterial: recommendation_trace.lane.2.stage.1"/>
          <p:cNvSpPr/>
          <p:nvPr/>
        </p:nvSpPr>
        <p:spPr>
          <a:xfrm>
            <a:off x="1975104" y="2779776"/>
            <a:ext cx="2157984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ommendation_trace.lane.2.stage.1.text"/>
          <p:cNvSpPr txBox="1"/>
          <p:nvPr/>
        </p:nvSpPr>
        <p:spPr>
          <a:xfrm>
            <a:off x="2066544" y="2862072"/>
            <a:ext cx="1975103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1">
                <a:solidFill>
                  <a:srgbClr val="182230"/>
                </a:solidFill>
                <a:latin typeface="Aptos"/>
              </a:rPr>
              <a:t>Prescriptive output suppressed; diagnostic result only.</a:t>
            </a:r>
          </a:p>
        </p:txBody>
      </p:sp>
      <p:sp>
        <p:nvSpPr>
          <p:cNvPr id="32" name="Material: recommendation_trace.lane.2.stage.2"/>
          <p:cNvSpPr/>
          <p:nvPr/>
        </p:nvSpPr>
        <p:spPr>
          <a:xfrm>
            <a:off x="4608576" y="2779776"/>
            <a:ext cx="2084831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ommendation_trace.lane.2.stage.2.text"/>
          <p:cNvSpPr txBox="1"/>
          <p:nvPr/>
        </p:nvSpPr>
        <p:spPr>
          <a:xfrm>
            <a:off x="4700016" y="2862072"/>
            <a:ext cx="1901951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A rejected option may outperform if approved weights, scores, or constraints…</a:t>
            </a:r>
          </a:p>
        </p:txBody>
      </p:sp>
      <p:sp>
        <p:nvSpPr>
          <p:cNvPr id="34" name="Material: recommendation_trace.lane.2.stage.3"/>
          <p:cNvSpPr/>
          <p:nvPr/>
        </p:nvSpPr>
        <p:spPr>
          <a:xfrm>
            <a:off x="7168896" y="2779776"/>
            <a:ext cx="1755648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ommendation_trace.lane.2.stage.3.text"/>
          <p:cNvSpPr txBox="1"/>
          <p:nvPr/>
        </p:nvSpPr>
        <p:spPr>
          <a:xfrm>
            <a:off x="7260336" y="2862072"/>
            <a:ext cx="157276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ranking changes within tested weight range</a:t>
            </a:r>
          </a:p>
        </p:txBody>
      </p:sp>
      <p:sp>
        <p:nvSpPr>
          <p:cNvPr id="36" name="Material: recommendation_trace.lane.2.stage.4"/>
          <p:cNvSpPr/>
          <p:nvPr/>
        </p:nvSpPr>
        <p:spPr>
          <a:xfrm>
            <a:off x="9381744" y="2779776"/>
            <a:ext cx="2048256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ommendation_trace.lane.2.stage.4.text"/>
          <p:cNvSpPr txBox="1"/>
          <p:nvPr/>
        </p:nvSpPr>
        <p:spPr>
          <a:xfrm>
            <a:off x="9473184" y="2862072"/>
            <a:ext cx="1865376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2 readiness fields missing
Evidence · Assumption</a:t>
            </a:r>
          </a:p>
        </p:txBody>
      </p:sp>
      <p:sp>
        <p:nvSpPr>
          <p:cNvPr id="38" name="Material: recommendation_trace.lane.3.identity"/>
          <p:cNvSpPr/>
          <p:nvPr/>
        </p:nvSpPr>
        <p:spPr>
          <a:xfrm>
            <a:off x="585216" y="3803904"/>
            <a:ext cx="1152144" cy="640080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ommendation_trace.lane.3.framework"/>
          <p:cNvSpPr txBox="1"/>
          <p:nvPr/>
        </p:nvSpPr>
        <p:spPr>
          <a:xfrm>
            <a:off x="658368" y="3913632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182230"/>
                </a:solidFill>
                <a:latin typeface="Aptos"/>
              </a:rPr>
              <a:t>SCHEDULE ANALYSIS</a:t>
            </a:r>
          </a:p>
        </p:txBody>
      </p:sp>
      <p:sp>
        <p:nvSpPr>
          <p:cNvPr id="40" name="recommendation_trace.lane.3.readiness"/>
          <p:cNvSpPr txBox="1"/>
          <p:nvPr/>
        </p:nvSpPr>
        <p:spPr>
          <a:xfrm>
            <a:off x="658368" y="4206240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182230"/>
                </a:solidFill>
                <a:latin typeface="Aptos"/>
              </a:rPr>
              <a:t>DIAGNOSTIC ONLY</a:t>
            </a:r>
          </a:p>
        </p:txBody>
      </p:sp>
      <p:cxnSp>
        <p:nvCxnSpPr>
          <p:cNvPr id="41" name="recommendation_trace.connector.3.1"/>
          <p:cNvCxnSpPr/>
          <p:nvPr/>
        </p:nvCxnSpPr>
        <p:spPr>
          <a:xfrm>
            <a:off x="4133087" y="4123944"/>
            <a:ext cx="402337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ommendation_trace.connector.3.2"/>
          <p:cNvCxnSpPr/>
          <p:nvPr/>
        </p:nvCxnSpPr>
        <p:spPr>
          <a:xfrm>
            <a:off x="6693408" y="4123944"/>
            <a:ext cx="402336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commendation_trace.connector.3.3"/>
          <p:cNvCxnSpPr/>
          <p:nvPr/>
        </p:nvCxnSpPr>
        <p:spPr>
          <a:xfrm>
            <a:off x="8924544" y="4123944"/>
            <a:ext cx="384048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Material: recommendation_trace.lane.3.stage.1"/>
          <p:cNvSpPr/>
          <p:nvPr/>
        </p:nvSpPr>
        <p:spPr>
          <a:xfrm>
            <a:off x="1975104" y="3803904"/>
            <a:ext cx="2157984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ommendation_trace.lane.3.stage.1.text"/>
          <p:cNvSpPr txBox="1"/>
          <p:nvPr/>
        </p:nvSpPr>
        <p:spPr>
          <a:xfrm>
            <a:off x="2066544" y="3886200"/>
            <a:ext cx="1975103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1">
                <a:solidFill>
                  <a:srgbClr val="182230"/>
                </a:solidFill>
                <a:latin typeface="Aptos"/>
              </a:rPr>
              <a:t>Prescriptive output suppressed; diagnostic result only.</a:t>
            </a:r>
          </a:p>
        </p:txBody>
      </p:sp>
      <p:sp>
        <p:nvSpPr>
          <p:cNvPr id="46" name="Material: recommendation_trace.lane.3.stage.2"/>
          <p:cNvSpPr/>
          <p:nvPr/>
        </p:nvSpPr>
        <p:spPr>
          <a:xfrm>
            <a:off x="4608576" y="3803904"/>
            <a:ext cx="2084831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ommendation_trace.lane.3.stage.2.text"/>
          <p:cNvSpPr txBox="1"/>
          <p:nvPr/>
        </p:nvSpPr>
        <p:spPr>
          <a:xfrm>
            <a:off x="4700016" y="3886200"/>
            <a:ext cx="1901951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not supplied</a:t>
            </a:r>
          </a:p>
        </p:txBody>
      </p:sp>
      <p:sp>
        <p:nvSpPr>
          <p:cNvPr id="48" name="Material: recommendation_trace.lane.3.stage.3"/>
          <p:cNvSpPr/>
          <p:nvPr/>
        </p:nvSpPr>
        <p:spPr>
          <a:xfrm>
            <a:off x="7168896" y="3803904"/>
            <a:ext cx="1755648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ommendation_trace.lane.3.stage.3.text"/>
          <p:cNvSpPr txBox="1"/>
          <p:nvPr/>
        </p:nvSpPr>
        <p:spPr>
          <a:xfrm>
            <a:off x="7260336" y="3886200"/>
            <a:ext cx="157276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not supplied</a:t>
            </a:r>
          </a:p>
        </p:txBody>
      </p:sp>
      <p:sp>
        <p:nvSpPr>
          <p:cNvPr id="50" name="Material: recommendation_trace.lane.3.stage.4"/>
          <p:cNvSpPr/>
          <p:nvPr/>
        </p:nvSpPr>
        <p:spPr>
          <a:xfrm>
            <a:off x="9381744" y="3803904"/>
            <a:ext cx="2048256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ommendation_trace.lane.3.stage.4.text"/>
          <p:cNvSpPr txBox="1"/>
          <p:nvPr/>
        </p:nvSpPr>
        <p:spPr>
          <a:xfrm>
            <a:off x="9473184" y="3886200"/>
            <a:ext cx="1865376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8 readiness fields missing
Evidence · Assumption · Calculation · +5</a:t>
            </a:r>
          </a:p>
        </p:txBody>
      </p:sp>
      <p:sp>
        <p:nvSpPr>
          <p:cNvPr id="52" name="Material: recommendation_trace.lane.4.identity"/>
          <p:cNvSpPr/>
          <p:nvPr/>
        </p:nvSpPr>
        <p:spPr>
          <a:xfrm>
            <a:off x="585216" y="4828032"/>
            <a:ext cx="1152144" cy="640080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ommendation_trace.lane.4.framework"/>
          <p:cNvSpPr txBox="1"/>
          <p:nvPr/>
        </p:nvSpPr>
        <p:spPr>
          <a:xfrm>
            <a:off x="658368" y="4937760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60" b="1">
                <a:solidFill>
                  <a:srgbClr val="182230"/>
                </a:solidFill>
                <a:latin typeface="Aptos"/>
              </a:rPr>
              <a:t>RISK TREATMENT</a:t>
            </a:r>
          </a:p>
        </p:txBody>
      </p:sp>
      <p:sp>
        <p:nvSpPr>
          <p:cNvPr id="54" name="recommendation_trace.lane.4.readiness"/>
          <p:cNvSpPr txBox="1"/>
          <p:nvPr/>
        </p:nvSpPr>
        <p:spPr>
          <a:xfrm>
            <a:off x="658368" y="5230368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182230"/>
                </a:solidFill>
                <a:latin typeface="Aptos"/>
              </a:rPr>
              <a:t>DIAGNOSTIC ONLY</a:t>
            </a:r>
          </a:p>
        </p:txBody>
      </p:sp>
      <p:cxnSp>
        <p:nvCxnSpPr>
          <p:cNvPr id="55" name="recommendation_trace.connector.4.1"/>
          <p:cNvCxnSpPr/>
          <p:nvPr/>
        </p:nvCxnSpPr>
        <p:spPr>
          <a:xfrm>
            <a:off x="4133087" y="5148072"/>
            <a:ext cx="402337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ommendation_trace.connector.4.2"/>
          <p:cNvCxnSpPr/>
          <p:nvPr/>
        </p:nvCxnSpPr>
        <p:spPr>
          <a:xfrm>
            <a:off x="6693408" y="5148072"/>
            <a:ext cx="402336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ommendation_trace.connector.4.3"/>
          <p:cNvCxnSpPr/>
          <p:nvPr/>
        </p:nvCxnSpPr>
        <p:spPr>
          <a:xfrm>
            <a:off x="8924544" y="5148072"/>
            <a:ext cx="384048" cy="0"/>
          </a:xfrm>
          <a:prstGeom prst="bentConnector3">
            <a:avLst/>
          </a:prstGeom>
          <a:ln w="19685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Material: recommendation_trace.lane.4.stage.1"/>
          <p:cNvSpPr/>
          <p:nvPr/>
        </p:nvSpPr>
        <p:spPr>
          <a:xfrm>
            <a:off x="1975104" y="4828032"/>
            <a:ext cx="2157984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ommendation_trace.lane.4.stage.1.text"/>
          <p:cNvSpPr txBox="1"/>
          <p:nvPr/>
        </p:nvSpPr>
        <p:spPr>
          <a:xfrm>
            <a:off x="2066544" y="4910328"/>
            <a:ext cx="1975103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1">
                <a:solidFill>
                  <a:srgbClr val="182230"/>
                </a:solidFill>
                <a:latin typeface="Aptos"/>
              </a:rPr>
              <a:t>Prescriptive output suppressed; diagnostic result only.</a:t>
            </a:r>
          </a:p>
        </p:txBody>
      </p:sp>
      <p:sp>
        <p:nvSpPr>
          <p:cNvPr id="60" name="Material: recommendation_trace.lane.4.stage.2"/>
          <p:cNvSpPr/>
          <p:nvPr/>
        </p:nvSpPr>
        <p:spPr>
          <a:xfrm>
            <a:off x="4608576" y="4828032"/>
            <a:ext cx="2084831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ommendation_trace.lane.4.stage.2.text"/>
          <p:cNvSpPr txBox="1"/>
          <p:nvPr/>
        </p:nvSpPr>
        <p:spPr>
          <a:xfrm>
            <a:off x="4700016" y="4910328"/>
            <a:ext cx="1901951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Expected monetary value can understate distribution shape, dependence, and…</a:t>
            </a:r>
          </a:p>
        </p:txBody>
      </p:sp>
      <p:sp>
        <p:nvSpPr>
          <p:cNvPr id="62" name="Material: recommendation_trace.lane.4.stage.3"/>
          <p:cNvSpPr/>
          <p:nvPr/>
        </p:nvSpPr>
        <p:spPr>
          <a:xfrm>
            <a:off x="7168896" y="4828032"/>
            <a:ext cx="1755648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ommendation_trace.lane.4.stage.3.text"/>
          <p:cNvSpPr txBox="1"/>
          <p:nvPr/>
        </p:nvSpPr>
        <p:spPr>
          <a:xfrm>
            <a:off x="7260336" y="4910328"/>
            <a:ext cx="157276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Net benefit flips at 17.1% event probability</a:t>
            </a:r>
          </a:p>
        </p:txBody>
      </p:sp>
      <p:sp>
        <p:nvSpPr>
          <p:cNvPr id="64" name="Material: recommendation_trace.lane.4.stage.4"/>
          <p:cNvSpPr/>
          <p:nvPr/>
        </p:nvSpPr>
        <p:spPr>
          <a:xfrm>
            <a:off x="9381744" y="4828032"/>
            <a:ext cx="2048256" cy="640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ommendation_trace.lane.4.stage.4.text"/>
          <p:cNvSpPr txBox="1"/>
          <p:nvPr/>
        </p:nvSpPr>
        <p:spPr>
          <a:xfrm>
            <a:off x="9473184" y="4910328"/>
            <a:ext cx="1865376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20" b="0">
                <a:solidFill>
                  <a:srgbClr val="344054"/>
                </a:solidFill>
                <a:latin typeface="Aptos"/>
              </a:rPr>
              <a:t>2 readiness fields missing
Evidence · Assumption</a:t>
            </a:r>
          </a:p>
        </p:txBody>
      </p:sp>
      <p:sp>
        <p:nvSpPr>
          <p:cNvPr id="66" name="Material: recommendation_trace.aggregate_state"/>
          <p:cNvSpPr/>
          <p:nvPr/>
        </p:nvSpPr>
        <p:spPr>
          <a:xfrm>
            <a:off x="1975104" y="5888736"/>
            <a:ext cx="9454896" cy="347472"/>
          </a:xfrm>
          <a:prstGeom prst="roundRect">
            <a:avLst/>
          </a:prstGeom>
          <a:solidFill>
            <a:srgbClr val="F7F8FA"/>
          </a:solidFill>
          <a:ln w="1778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ommendation_trace.aggregate_state.label"/>
          <p:cNvSpPr txBox="1"/>
          <p:nvPr/>
        </p:nvSpPr>
        <p:spPr>
          <a:xfrm>
            <a:off x="2121408" y="5971032"/>
            <a:ext cx="916228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40" b="1">
                <a:solidFill>
                  <a:srgbClr val="F2C94C"/>
                </a:solidFill>
                <a:latin typeface="Aptos"/>
              </a:rPr>
              <a:t>AGGREGATE STATE  ·  NO RECOMMENDATION — FRAMEWORK OUTPUTS REMAIN SEPARATE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ision_record.kicker"/>
          <p:cNvSpPr txBox="1"/>
          <p:nvPr/>
        </p:nvSpPr>
        <p:spPr>
          <a:xfrm>
            <a:off x="512064" y="210312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F6BFF"/>
                </a:solidFill>
                <a:latin typeface="Aptos"/>
              </a:rPr>
              <a:t>DECISION RECORD</a:t>
            </a:r>
          </a:p>
        </p:txBody>
      </p:sp>
      <p:sp>
        <p:nvSpPr>
          <p:cNvPr id="3" name="decision_record.title"/>
          <p:cNvSpPr txBox="1"/>
          <p:nvPr/>
        </p:nvSpPr>
        <p:spPr>
          <a:xfrm>
            <a:off x="512064" y="457200"/>
            <a:ext cx="11109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82230"/>
                </a:solidFill>
                <a:latin typeface="Aptos"/>
              </a:rPr>
              <a:t>Approval must preserve conditions, triggers, owner, and review date</a:t>
            </a:r>
          </a:p>
        </p:txBody>
      </p:sp>
      <p:cxnSp>
        <p:nvCxnSpPr>
          <p:cNvPr id="4" name="decision_record.title_rule"/>
          <p:cNvCxnSpPr/>
          <p:nvPr/>
        </p:nvCxnSpPr>
        <p:spPr>
          <a:xfrm>
            <a:off x="512064" y="1143000"/>
            <a:ext cx="11164824" cy="0"/>
          </a:xfrm>
          <a:prstGeom prst="bentConnector3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_record.metadata"/>
          <p:cNvSpPr txBox="1"/>
          <p:nvPr/>
        </p:nvSpPr>
        <p:spPr>
          <a:xfrm>
            <a:off x="512064" y="6483096"/>
            <a:ext cx="111556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20" b="0">
                <a:solidFill>
                  <a:srgbClr val="667085"/>
                </a:solidFill>
                <a:latin typeface="Aptos"/>
              </a:rPr>
              <a:t>RUN decision-pipeline-f885d13be2f9d088  |  HASH f885d13be2f9  |  CUTOFF not supplied in DecisionPackage  |  MODEL decision_pipeline / decision-pipeline-1.0.0  |  STATUS no_recommendation</a:t>
            </a:r>
          </a:p>
        </p:txBody>
      </p:sp>
      <p:sp>
        <p:nvSpPr>
          <p:cNvPr id="6" name="decision_record.timeline.label"/>
          <p:cNvSpPr txBox="1"/>
          <p:nvPr/>
        </p:nvSpPr>
        <p:spPr>
          <a:xfrm>
            <a:off x="3063240" y="1261872"/>
            <a:ext cx="36576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REVIEW CALENDAR</a:t>
            </a:r>
          </a:p>
        </p:txBody>
      </p:sp>
      <p:cxnSp>
        <p:nvCxnSpPr>
          <p:cNvPr id="7" name="decision_record.timeline.axis"/>
          <p:cNvCxnSpPr/>
          <p:nvPr/>
        </p:nvCxnSpPr>
        <p:spPr>
          <a:xfrm>
            <a:off x="3063240" y="1901952"/>
            <a:ext cx="8119872" cy="0"/>
          </a:xfrm>
          <a:prstGeom prst="bentConnector3">
            <a:avLst/>
          </a:prstGeom>
          <a:ln w="19050">
            <a:solidFill>
              <a:srgbClr val="18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ecision_record.timeline.2026-08-01"/>
          <p:cNvCxnSpPr/>
          <p:nvPr/>
        </p:nvCxnSpPr>
        <p:spPr>
          <a:xfrm>
            <a:off x="3063240" y="1737360"/>
            <a:ext cx="0" cy="3840480"/>
          </a:xfrm>
          <a:prstGeom prst="bentConnector3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cision_record.timeline.2026-08-01.label"/>
          <p:cNvSpPr txBox="1"/>
          <p:nvPr/>
        </p:nvSpPr>
        <p:spPr>
          <a:xfrm>
            <a:off x="2660904" y="1517904"/>
            <a:ext cx="80467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667085"/>
                </a:solidFill>
                <a:latin typeface="Aptos"/>
              </a:rPr>
              <a:t>01 AUG</a:t>
            </a:r>
          </a:p>
        </p:txBody>
      </p:sp>
      <p:cxnSp>
        <p:nvCxnSpPr>
          <p:cNvPr id="10" name="decision_record.timeline.2026-08-31"/>
          <p:cNvCxnSpPr/>
          <p:nvPr/>
        </p:nvCxnSpPr>
        <p:spPr>
          <a:xfrm>
            <a:off x="5769864" y="1737360"/>
            <a:ext cx="0" cy="3840480"/>
          </a:xfrm>
          <a:prstGeom prst="bentConnector3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ecision_record.timeline.2026-08-31.label"/>
          <p:cNvSpPr txBox="1"/>
          <p:nvPr/>
        </p:nvSpPr>
        <p:spPr>
          <a:xfrm>
            <a:off x="5367528" y="1517904"/>
            <a:ext cx="80467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667085"/>
                </a:solidFill>
                <a:latin typeface="Aptos"/>
              </a:rPr>
              <a:t>31 AUG</a:t>
            </a:r>
          </a:p>
        </p:txBody>
      </p:sp>
      <p:cxnSp>
        <p:nvCxnSpPr>
          <p:cNvPr id="12" name="decision_record.timeline.2026-10-30"/>
          <p:cNvCxnSpPr/>
          <p:nvPr/>
        </p:nvCxnSpPr>
        <p:spPr>
          <a:xfrm>
            <a:off x="11183112" y="1737360"/>
            <a:ext cx="0" cy="3840480"/>
          </a:xfrm>
          <a:prstGeom prst="bentConnector3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_record.timeline.2026-10-30.label"/>
          <p:cNvSpPr txBox="1"/>
          <p:nvPr/>
        </p:nvSpPr>
        <p:spPr>
          <a:xfrm>
            <a:off x="10780776" y="1517904"/>
            <a:ext cx="80467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80" b="1">
                <a:solidFill>
                  <a:srgbClr val="667085"/>
                </a:solidFill>
                <a:latin typeface="Aptos"/>
              </a:rPr>
              <a:t>30 OCT</a:t>
            </a:r>
          </a:p>
        </p:txBody>
      </p:sp>
      <p:sp>
        <p:nvSpPr>
          <p:cNvPr id="14" name="Material: decision_record.status"/>
          <p:cNvSpPr/>
          <p:nvPr/>
        </p:nvSpPr>
        <p:spPr>
          <a:xfrm>
            <a:off x="585216" y="1591056"/>
            <a:ext cx="1993392" cy="658368"/>
          </a:xfrm>
          <a:prstGeom prst="round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ision_record.status.value"/>
          <p:cNvSpPr txBox="1"/>
          <p:nvPr/>
        </p:nvSpPr>
        <p:spPr>
          <a:xfrm>
            <a:off x="731520" y="1773936"/>
            <a:ext cx="170078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82230"/>
                </a:solidFill>
                <a:latin typeface="Aptos"/>
              </a:rPr>
              <a:t>REVIEW READY</a:t>
            </a:r>
          </a:p>
        </p:txBody>
      </p:sp>
      <p:sp>
        <p:nvSpPr>
          <p:cNvPr id="16" name="decision_record.lane.value_gate.framework"/>
          <p:cNvSpPr txBox="1"/>
          <p:nvPr/>
        </p:nvSpPr>
        <p:spPr>
          <a:xfrm>
            <a:off x="621792" y="2560320"/>
            <a:ext cx="11521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2230"/>
                </a:solidFill>
                <a:latin typeface="Aptos"/>
              </a:rPr>
              <a:t>VALUE GATE</a:t>
            </a:r>
          </a:p>
        </p:txBody>
      </p:sp>
      <p:sp>
        <p:nvSpPr>
          <p:cNvPr id="17" name="decision_record.lane.value_gate.owner"/>
          <p:cNvSpPr txBox="1"/>
          <p:nvPr/>
        </p:nvSpPr>
        <p:spPr>
          <a:xfrm>
            <a:off x="621792" y="2798064"/>
            <a:ext cx="16642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40" b="0">
                <a:solidFill>
                  <a:srgbClr val="667085"/>
                </a:solidFill>
                <a:latin typeface="Aptos"/>
              </a:rPr>
              <a:t>Programme Sponsor</a:t>
            </a:r>
          </a:p>
        </p:txBody>
      </p:sp>
      <p:cxnSp>
        <p:nvCxnSpPr>
          <p:cNvPr id="18" name="decision_record.lane.value_gate.track"/>
          <p:cNvCxnSpPr/>
          <p:nvPr/>
        </p:nvCxnSpPr>
        <p:spPr>
          <a:xfrm>
            <a:off x="3063240" y="2761488"/>
            <a:ext cx="8119872" cy="0"/>
          </a:xfrm>
          <a:prstGeom prst="bentConnector3">
            <a:avLst/>
          </a:prstGeom>
          <a:ln w="889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terial: decision_record.timeline_node.value_gate"/>
          <p:cNvSpPr/>
          <p:nvPr/>
        </p:nvSpPr>
        <p:spPr>
          <a:xfrm>
            <a:off x="5550408" y="2542032"/>
            <a:ext cx="438912" cy="438912"/>
          </a:xfrm>
          <a:prstGeom prst="diamond">
            <a:avLst/>
          </a:prstGeom>
          <a:solidFill>
            <a:srgbClr val="2E7D32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terial: decision_record.detail.value_gate"/>
          <p:cNvSpPr/>
          <p:nvPr/>
        </p:nvSpPr>
        <p:spPr>
          <a:xfrm>
            <a:off x="4672584" y="3035808"/>
            <a:ext cx="2194560" cy="530352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ision_record.detail.value_gate.text"/>
          <p:cNvSpPr txBox="1"/>
          <p:nvPr/>
        </p:nvSpPr>
        <p:spPr>
          <a:xfrm>
            <a:off x="4745736" y="3108960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344054"/>
                </a:solidFill>
                <a:latin typeface="Aptos"/>
              </a:rPr>
              <a:t>PPTSmith policy thresholds remain satisfied.
Trigger: Re-run sequential gates</a:t>
            </a:r>
          </a:p>
        </p:txBody>
      </p:sp>
      <p:sp>
        <p:nvSpPr>
          <p:cNvPr id="22" name="decision_record.lane.resource_allocation.framework"/>
          <p:cNvSpPr txBox="1"/>
          <p:nvPr/>
        </p:nvSpPr>
        <p:spPr>
          <a:xfrm>
            <a:off x="621792" y="3364992"/>
            <a:ext cx="11521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2230"/>
                </a:solidFill>
                <a:latin typeface="Aptos"/>
              </a:rPr>
              <a:t>RESOURCE ALLOCATION</a:t>
            </a:r>
          </a:p>
        </p:txBody>
      </p:sp>
      <p:sp>
        <p:nvSpPr>
          <p:cNvPr id="23" name="decision_record.lane.resource_allocation.owner"/>
          <p:cNvSpPr txBox="1"/>
          <p:nvPr/>
        </p:nvSpPr>
        <p:spPr>
          <a:xfrm>
            <a:off x="621792" y="3602736"/>
            <a:ext cx="16642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40" b="0">
                <a:solidFill>
                  <a:srgbClr val="667085"/>
                </a:solidFill>
                <a:latin typeface="Aptos"/>
              </a:rPr>
              <a:t>Programme Sponsor</a:t>
            </a:r>
          </a:p>
        </p:txBody>
      </p:sp>
      <p:cxnSp>
        <p:nvCxnSpPr>
          <p:cNvPr id="24" name="decision_record.lane.resource_allocation.track"/>
          <p:cNvCxnSpPr/>
          <p:nvPr/>
        </p:nvCxnSpPr>
        <p:spPr>
          <a:xfrm>
            <a:off x="3063240" y="3566160"/>
            <a:ext cx="8119872" cy="0"/>
          </a:xfrm>
          <a:prstGeom prst="bentConnector3">
            <a:avLst/>
          </a:prstGeom>
          <a:ln w="889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Material: decision_record.timeline_node.resource_allocation"/>
          <p:cNvSpPr/>
          <p:nvPr/>
        </p:nvSpPr>
        <p:spPr>
          <a:xfrm>
            <a:off x="2843784" y="3346704"/>
            <a:ext cx="438912" cy="438912"/>
          </a:xfrm>
          <a:prstGeom prst="diamond">
            <a:avLst/>
          </a:prstGeom>
          <a:solidFill>
            <a:srgbClr val="28548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aterial: decision_record.detail.resource_allocation"/>
          <p:cNvSpPr/>
          <p:nvPr/>
        </p:nvSpPr>
        <p:spPr>
          <a:xfrm>
            <a:off x="3063240" y="3840480"/>
            <a:ext cx="2194560" cy="530352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ision_record.detail.resource_allocation.text"/>
          <p:cNvSpPr txBox="1"/>
          <p:nvPr/>
        </p:nvSpPr>
        <p:spPr>
          <a:xfrm>
            <a:off x="3136392" y="3913632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344054"/>
                </a:solidFill>
                <a:latin typeface="Aptos"/>
              </a:rPr>
              <a:t>Weights retain their named approval source.
Trigger: Rerun feasibility, portfolio selection, sc…</a:t>
            </a:r>
          </a:p>
        </p:txBody>
      </p:sp>
      <p:sp>
        <p:nvSpPr>
          <p:cNvPr id="28" name="decision_record.lane.schedule_analysis.framework"/>
          <p:cNvSpPr txBox="1"/>
          <p:nvPr/>
        </p:nvSpPr>
        <p:spPr>
          <a:xfrm>
            <a:off x="621792" y="4169664"/>
            <a:ext cx="11521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2230"/>
                </a:solidFill>
                <a:latin typeface="Aptos"/>
              </a:rPr>
              <a:t>SCHEDULE ANALYSIS</a:t>
            </a:r>
          </a:p>
        </p:txBody>
      </p:sp>
      <p:sp>
        <p:nvSpPr>
          <p:cNvPr id="29" name="decision_record.lane.schedule_analysis.owner"/>
          <p:cNvSpPr txBox="1"/>
          <p:nvPr/>
        </p:nvSpPr>
        <p:spPr>
          <a:xfrm>
            <a:off x="621792" y="4407408"/>
            <a:ext cx="16642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40" b="0">
                <a:solidFill>
                  <a:srgbClr val="667085"/>
                </a:solidFill>
                <a:latin typeface="Aptos"/>
              </a:rPr>
              <a:t>Programme Sponsor</a:t>
            </a:r>
          </a:p>
        </p:txBody>
      </p:sp>
      <p:cxnSp>
        <p:nvCxnSpPr>
          <p:cNvPr id="30" name="decision_record.lane.schedule_analysis.track"/>
          <p:cNvCxnSpPr/>
          <p:nvPr/>
        </p:nvCxnSpPr>
        <p:spPr>
          <a:xfrm>
            <a:off x="3063240" y="4370832"/>
            <a:ext cx="8119872" cy="0"/>
          </a:xfrm>
          <a:prstGeom prst="bentConnector3">
            <a:avLst/>
          </a:prstGeom>
          <a:ln w="889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Material: decision_record.undated.schedule_analysis"/>
          <p:cNvSpPr/>
          <p:nvPr/>
        </p:nvSpPr>
        <p:spPr>
          <a:xfrm>
            <a:off x="1993392" y="4123944"/>
            <a:ext cx="932688" cy="493776"/>
          </a:xfrm>
          <a:prstGeom prst="roundRect">
            <a:avLst/>
          </a:prstGeom>
          <a:solidFill>
            <a:srgbClr val="F7F8FA"/>
          </a:solidFill>
          <a:ln w="17780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ecision_record.undated.schedule_analysis.label"/>
          <p:cNvSpPr txBox="1"/>
          <p:nvPr/>
        </p:nvSpPr>
        <p:spPr>
          <a:xfrm>
            <a:off x="2084831" y="4187952"/>
            <a:ext cx="74980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30" b="1">
                <a:solidFill>
                  <a:srgbClr val="D92D20"/>
                </a:solidFill>
                <a:latin typeface="Aptos"/>
              </a:rPr>
              <a:t>DATE
MISSING</a:t>
            </a:r>
          </a:p>
        </p:txBody>
      </p:sp>
      <p:sp>
        <p:nvSpPr>
          <p:cNvPr id="33" name="decision_record.lane.risk_treatment.framework"/>
          <p:cNvSpPr txBox="1"/>
          <p:nvPr/>
        </p:nvSpPr>
        <p:spPr>
          <a:xfrm>
            <a:off x="621792" y="4974336"/>
            <a:ext cx="115214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2230"/>
                </a:solidFill>
                <a:latin typeface="Aptos"/>
              </a:rPr>
              <a:t>RISK TREATMENT</a:t>
            </a:r>
          </a:p>
        </p:txBody>
      </p:sp>
      <p:sp>
        <p:nvSpPr>
          <p:cNvPr id="34" name="decision_record.lane.risk_treatment.owner"/>
          <p:cNvSpPr txBox="1"/>
          <p:nvPr/>
        </p:nvSpPr>
        <p:spPr>
          <a:xfrm>
            <a:off x="621792" y="5212080"/>
            <a:ext cx="16642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40" b="0">
                <a:solidFill>
                  <a:srgbClr val="667085"/>
                </a:solidFill>
                <a:latin typeface="Aptos"/>
              </a:rPr>
              <a:t>Programme Sponsor</a:t>
            </a:r>
          </a:p>
        </p:txBody>
      </p:sp>
      <p:cxnSp>
        <p:nvCxnSpPr>
          <p:cNvPr id="35" name="decision_record.lane.risk_treatment.track"/>
          <p:cNvCxnSpPr/>
          <p:nvPr/>
        </p:nvCxnSpPr>
        <p:spPr>
          <a:xfrm>
            <a:off x="3063240" y="5175504"/>
            <a:ext cx="8119872" cy="0"/>
          </a:xfrm>
          <a:prstGeom prst="bentConnector3">
            <a:avLst/>
          </a:prstGeom>
          <a:ln w="889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Material: decision_record.timeline_node.risk_treatment"/>
          <p:cNvSpPr/>
          <p:nvPr/>
        </p:nvSpPr>
        <p:spPr>
          <a:xfrm>
            <a:off x="10963656" y="4956048"/>
            <a:ext cx="438912" cy="438912"/>
          </a:xfrm>
          <a:prstGeom prst="diamond">
            <a:avLst/>
          </a:prstGeom>
          <a:solidFill>
            <a:srgbClr val="28548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aterial: decision_record.detail.risk_treatment"/>
          <p:cNvSpPr/>
          <p:nvPr/>
        </p:nvSpPr>
        <p:spPr>
          <a:xfrm>
            <a:off x="8988552" y="5449824"/>
            <a:ext cx="2194560" cy="530352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ecision_record.detail.risk_treatment.text"/>
          <p:cNvSpPr txBox="1"/>
          <p:nvPr/>
        </p:nvSpPr>
        <p:spPr>
          <a:xfrm>
            <a:off x="9061704" y="5522976"/>
            <a:ext cx="204825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20" b="0">
                <a:solidFill>
                  <a:srgbClr val="344054"/>
                </a:solidFill>
                <a:latin typeface="Aptos"/>
              </a:rPr>
              <a:t>Residual exposure must be accepted or reduced to the dec…
Trigger: Re-run treatment decision</a:t>
            </a:r>
          </a:p>
        </p:txBody>
      </p:sp>
      <p:sp>
        <p:nvSpPr>
          <p:cNvPr id="39" name="decision_record.boundary"/>
          <p:cNvSpPr txBox="1"/>
          <p:nvPr/>
        </p:nvSpPr>
        <p:spPr>
          <a:xfrm>
            <a:off x="749808" y="6053328"/>
            <a:ext cx="107442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667085"/>
                </a:solidFill>
                <a:latin typeface="Aptos"/>
              </a:rPr>
              <a:t>Review-ready is a governance state, not unconditional approval. Missing schedule review data remains visibly unresolved.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