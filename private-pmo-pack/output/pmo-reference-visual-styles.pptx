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F6BFF"/>
              </a:solidFill>
              <a:ln w="1016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E7D32"/>
              </a:solidFill>
              <a:ln w="1016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2C94C"/>
              </a:solidFill>
              <a:ln w="1016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2994A"/>
              </a:solidFill>
              <a:ln w="1016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Build</c:v>
                </c:pt>
                <c:pt idx="1">
                  <c:v>Data</c:v>
                </c:pt>
                <c:pt idx="2">
                  <c:v>Change</c:v>
                </c:pt>
                <c:pt idx="3">
                  <c:v>Reserve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0.38</c:v>
                </c:pt>
                <c:pt idx="1">
                  <c:v>0.24</c:v>
                </c:pt>
                <c:pt idx="2">
                  <c:v>0.21</c:v>
                </c:pt>
                <c:pt idx="3">
                  <c:v>0.17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>
                  <a:solidFill>
                    <a:srgbClr val="1F293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7365D"/>
              </a:solidFill>
              <a:ln w="1016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 w="1016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D32"/>
              </a:solidFill>
              <a:ln w="1016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2C94C"/>
              </a:solidFill>
              <a:ln w="1016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F2994A"/>
              </a:solidFill>
              <a:ln w="1016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Core platform</c:v>
                </c:pt>
                <c:pt idx="1">
                  <c:v>AI workflow</c:v>
                </c:pt>
                <c:pt idx="2">
                  <c:v>Data migration</c:v>
                </c:pt>
                <c:pt idx="3">
                  <c:v>Enablement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23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F6BFF"/>
              </a:solidFill>
              <a:ln w="1016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2F6"/>
              </a:solidFill>
              <a:ln w="1016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Run-rate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  <a:ln w="1016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2F6"/>
              </a:solidFill>
              <a:ln w="1016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Committed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D92D20"/>
              </a:solidFill>
              <a:ln w="1016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2F6"/>
              </a:solidFill>
              <a:ln w="1016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At risk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86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spPr>
            <a:ln w="25400">
              <a:solidFill>
                <a:srgbClr val="2F6BFF"/>
              </a:solidFill>
            </a:ln>
          </c:spP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28</c:v>
                </c:pt>
                <c:pt idx="2">
                  <c:v>43</c:v>
                </c:pt>
                <c:pt idx="3">
                  <c:v>54</c:v>
                </c:pt>
                <c:pt idx="4">
                  <c:v>69</c:v>
                </c:pt>
                <c:pt idx="5">
                  <c:v>78</c:v>
                </c:pt>
                <c:pt idx="6">
                  <c:v>88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2118791784"/>
        <c:crosses val="autoZero"/>
        <c:majorUnit val="2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DASHBOARD GAUGE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DASHBOARD GAUGE</a:t>
            </a:r>
          </a:p>
        </p:txBody>
      </p:sp>
      <p:sp>
        <p:nvSpPr>
          <p:cNvPr id="3" name="Text: 半圆仪表盘把状态、缺口和行动优先级压在同一视线内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半圆仪表盘把状态、缺口和行动优先级压在同一视线内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1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01</a:t>
            </a:r>
          </a:p>
        </p:txBody>
      </p:sp>
      <p:sp>
        <p:nvSpPr>
          <p:cNvPr id="6" name="Material: gauge base arc"/>
          <p:cNvSpPr/>
          <p:nvPr/>
        </p:nvSpPr>
        <p:spPr>
          <a:xfrm>
            <a:off x="1005840" y="1783080"/>
            <a:ext cx="3611880" cy="2926080"/>
          </a:xfrm>
          <a:prstGeom prst="arc">
            <a:avLst>
              <a:gd name="adj1" fmla="val 9000000"/>
              <a:gd name="adj2" fmla="val 27000000"/>
            </a:avLst>
          </a:prstGeom>
          <a:noFill/>
          <a:ln w="419100">
            <a:solidFill>
              <a:srgbClr val="EE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terial: gauge status arc"/>
          <p:cNvSpPr/>
          <p:nvPr/>
        </p:nvSpPr>
        <p:spPr>
          <a:xfrm>
            <a:off x="1005840" y="1783080"/>
            <a:ext cx="3611880" cy="2926080"/>
          </a:xfrm>
          <a:prstGeom prst="arc">
            <a:avLst>
              <a:gd name="adj1" fmla="val 9000000"/>
              <a:gd name="adj2" fmla="val 27000000"/>
            </a:avLst>
          </a:prstGeom>
          <a:noFill/>
          <a:ln w="3175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74"/>
          <p:cNvSpPr txBox="1"/>
          <p:nvPr/>
        </p:nvSpPr>
        <p:spPr>
          <a:xfrm>
            <a:off x="2286000" y="2944368"/>
            <a:ext cx="9601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100" b="1">
                <a:solidFill>
                  <a:srgbClr val="1F2937"/>
                </a:solidFill>
                <a:latin typeface="Microsoft YaHei"/>
              </a:rPr>
              <a:t>74</a:t>
            </a:r>
          </a:p>
        </p:txBody>
      </p:sp>
      <p:sp>
        <p:nvSpPr>
          <p:cNvPr id="9" name="Text: Readiness index"/>
          <p:cNvSpPr txBox="1"/>
          <p:nvPr/>
        </p:nvSpPr>
        <p:spPr>
          <a:xfrm>
            <a:off x="2011680" y="3401568"/>
            <a:ext cx="1517904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80" b="1">
                <a:solidFill>
                  <a:srgbClr val="667085"/>
                </a:solidFill>
                <a:latin typeface="Microsoft YaHei"/>
              </a:rPr>
              <a:t>Readiness index</a:t>
            </a:r>
          </a:p>
        </p:txBody>
      </p:sp>
      <p:sp>
        <p:nvSpPr>
          <p:cNvPr id="10" name="Material: legend dot"/>
          <p:cNvSpPr/>
          <p:nvPr/>
        </p:nvSpPr>
        <p:spPr>
          <a:xfrm>
            <a:off x="1143000" y="4434840"/>
            <a:ext cx="109728" cy="109728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Risk zone"/>
          <p:cNvSpPr txBox="1"/>
          <p:nvPr/>
        </p:nvSpPr>
        <p:spPr>
          <a:xfrm>
            <a:off x="1307592" y="438912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Risk zone</a:t>
            </a:r>
          </a:p>
        </p:txBody>
      </p:sp>
      <p:sp>
        <p:nvSpPr>
          <p:cNvPr id="12" name="Text: 0-55"/>
          <p:cNvSpPr txBox="1"/>
          <p:nvPr/>
        </p:nvSpPr>
        <p:spPr>
          <a:xfrm>
            <a:off x="2057400" y="4389120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0-55</a:t>
            </a:r>
          </a:p>
        </p:txBody>
      </p:sp>
      <p:sp>
        <p:nvSpPr>
          <p:cNvPr id="13" name="Material: legend dot"/>
          <p:cNvSpPr/>
          <p:nvPr/>
        </p:nvSpPr>
        <p:spPr>
          <a:xfrm>
            <a:off x="2852928" y="4434840"/>
            <a:ext cx="109728" cy="109728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Watch"/>
          <p:cNvSpPr txBox="1"/>
          <p:nvPr/>
        </p:nvSpPr>
        <p:spPr>
          <a:xfrm>
            <a:off x="3017520" y="438912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Watch</a:t>
            </a:r>
          </a:p>
        </p:txBody>
      </p:sp>
      <p:sp>
        <p:nvSpPr>
          <p:cNvPr id="15" name="Text: 56-70"/>
          <p:cNvSpPr txBox="1"/>
          <p:nvPr/>
        </p:nvSpPr>
        <p:spPr>
          <a:xfrm>
            <a:off x="3767328" y="4389120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56-70</a:t>
            </a:r>
          </a:p>
        </p:txBody>
      </p:sp>
      <p:sp>
        <p:nvSpPr>
          <p:cNvPr id="16" name="Material: legend dot"/>
          <p:cNvSpPr/>
          <p:nvPr/>
        </p:nvSpPr>
        <p:spPr>
          <a:xfrm>
            <a:off x="4370832" y="4434840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Healthy"/>
          <p:cNvSpPr txBox="1"/>
          <p:nvPr/>
        </p:nvSpPr>
        <p:spPr>
          <a:xfrm>
            <a:off x="4535424" y="438912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Healthy</a:t>
            </a:r>
          </a:p>
        </p:txBody>
      </p:sp>
      <p:sp>
        <p:nvSpPr>
          <p:cNvPr id="18" name="Text: 71-100"/>
          <p:cNvSpPr txBox="1"/>
          <p:nvPr/>
        </p:nvSpPr>
        <p:spPr>
          <a:xfrm>
            <a:off x="5285232" y="4389120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71-100</a:t>
            </a:r>
          </a:p>
        </p:txBody>
      </p:sp>
      <p:sp>
        <p:nvSpPr>
          <p:cNvPr id="19" name="Material: native block"/>
          <p:cNvSpPr/>
          <p:nvPr/>
        </p:nvSpPr>
        <p:spPr>
          <a:xfrm>
            <a:off x="5989320" y="1591056"/>
            <a:ext cx="1325880" cy="233172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terial: gauge mini bar"/>
          <p:cNvSpPr/>
          <p:nvPr/>
        </p:nvSpPr>
        <p:spPr>
          <a:xfrm>
            <a:off x="6309359" y="1743760"/>
            <a:ext cx="685800" cy="11823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82"/>
          <p:cNvSpPr txBox="1"/>
          <p:nvPr/>
        </p:nvSpPr>
        <p:spPr>
          <a:xfrm>
            <a:off x="6217920" y="1810512"/>
            <a:ext cx="868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Microsoft YaHei"/>
              </a:rPr>
              <a:t>82</a:t>
            </a:r>
          </a:p>
        </p:txBody>
      </p:sp>
      <p:sp>
        <p:nvSpPr>
          <p:cNvPr id="22" name="Text: Governance"/>
          <p:cNvSpPr txBox="1"/>
          <p:nvPr/>
        </p:nvSpPr>
        <p:spPr>
          <a:xfrm>
            <a:off x="6117336" y="3310128"/>
            <a:ext cx="10698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Governance</a:t>
            </a:r>
          </a:p>
        </p:txBody>
      </p:sp>
      <p:sp>
        <p:nvSpPr>
          <p:cNvPr id="23" name="Material: native block"/>
          <p:cNvSpPr/>
          <p:nvPr/>
        </p:nvSpPr>
        <p:spPr>
          <a:xfrm>
            <a:off x="7726679" y="1591056"/>
            <a:ext cx="1325880" cy="233172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aterial: gauge mini bar"/>
          <p:cNvSpPr/>
          <p:nvPr/>
        </p:nvSpPr>
        <p:spPr>
          <a:xfrm>
            <a:off x="8046719" y="1901494"/>
            <a:ext cx="685800" cy="1024585"/>
          </a:xfrm>
          <a:prstGeom prst="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67"/>
          <p:cNvSpPr txBox="1"/>
          <p:nvPr/>
        </p:nvSpPr>
        <p:spPr>
          <a:xfrm>
            <a:off x="7955279" y="1810512"/>
            <a:ext cx="868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Microsoft YaHei"/>
              </a:rPr>
              <a:t>67</a:t>
            </a:r>
          </a:p>
        </p:txBody>
      </p:sp>
      <p:sp>
        <p:nvSpPr>
          <p:cNvPr id="26" name="Text: Evidence"/>
          <p:cNvSpPr txBox="1"/>
          <p:nvPr/>
        </p:nvSpPr>
        <p:spPr>
          <a:xfrm>
            <a:off x="7854696" y="3310128"/>
            <a:ext cx="10698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Evidence</a:t>
            </a:r>
          </a:p>
        </p:txBody>
      </p:sp>
      <p:sp>
        <p:nvSpPr>
          <p:cNvPr id="27" name="Material: native block"/>
          <p:cNvSpPr/>
          <p:nvPr/>
        </p:nvSpPr>
        <p:spPr>
          <a:xfrm>
            <a:off x="9464040" y="1591056"/>
            <a:ext cx="1325880" cy="2331720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aterial: gauge mini bar"/>
          <p:cNvSpPr/>
          <p:nvPr/>
        </p:nvSpPr>
        <p:spPr>
          <a:xfrm>
            <a:off x="9784080" y="1996135"/>
            <a:ext cx="685800" cy="92994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58"/>
          <p:cNvSpPr txBox="1"/>
          <p:nvPr/>
        </p:nvSpPr>
        <p:spPr>
          <a:xfrm>
            <a:off x="9692640" y="1810512"/>
            <a:ext cx="868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Microsoft YaHei"/>
              </a:rPr>
              <a:t>58</a:t>
            </a:r>
          </a:p>
        </p:txBody>
      </p:sp>
      <p:sp>
        <p:nvSpPr>
          <p:cNvPr id="30" name="Text: Adoption"/>
          <p:cNvSpPr txBox="1"/>
          <p:nvPr/>
        </p:nvSpPr>
        <p:spPr>
          <a:xfrm>
            <a:off x="9592056" y="3310128"/>
            <a:ext cx="10698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50" b="1">
                <a:solidFill>
                  <a:srgbClr val="667085"/>
                </a:solidFill>
                <a:latin typeface="Microsoft YaHei"/>
              </a:rPr>
              <a:t>Adoption</a:t>
            </a:r>
          </a:p>
        </p:txBody>
      </p:sp>
      <p:sp>
        <p:nvSpPr>
          <p:cNvPr id="31" name="Material: native block"/>
          <p:cNvSpPr/>
          <p:nvPr/>
        </p:nvSpPr>
        <p:spPr>
          <a:xfrm>
            <a:off x="749808" y="5138928"/>
            <a:ext cx="10424160" cy="512064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Design rule: half ring for executive status; evi"/>
          <p:cNvSpPr txBox="1"/>
          <p:nvPr/>
        </p:nvSpPr>
        <p:spPr>
          <a:xfrm>
            <a:off x="987552" y="5303520"/>
            <a:ext cx="994867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Microsoft YaHei"/>
              </a:rPr>
              <a:t>Design rule: half ring for executive status; evidence stays in editable labels and micro-bars.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COMPOSITION CHART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COMPOSITION CHART</a:t>
            </a:r>
          </a:p>
        </p:txBody>
      </p:sp>
      <p:sp>
        <p:nvSpPr>
          <p:cNvPr id="3" name="Text: 基础甜甜圈图适合表达预算或资源构成，中心只保留一个结论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基础甜甜圈图适合表达预算或资源构成，中心只保留一个结论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2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02</a:t>
            </a:r>
          </a:p>
        </p:txBody>
      </p:sp>
      <p:graphicFrame>
        <p:nvGraphicFramePr>
          <p:cNvPr id="6" name="Native chart: editable budget doughnut"/>
          <p:cNvGraphicFramePr>
            <a:graphicFrameLocks noGrp="1"/>
          </p:cNvGraphicFramePr>
          <p:nvPr/>
        </p:nvGraphicFramePr>
        <p:xfrm>
          <a:off x="914400" y="1444752"/>
          <a:ext cx="42976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: $4.8M"/>
          <p:cNvSpPr txBox="1"/>
          <p:nvPr/>
        </p:nvSpPr>
        <p:spPr>
          <a:xfrm>
            <a:off x="2542032" y="2852928"/>
            <a:ext cx="1051560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Microsoft YaHei"/>
              </a:rPr>
              <a:t>$4.8M</a:t>
            </a:r>
          </a:p>
        </p:txBody>
      </p:sp>
      <p:sp>
        <p:nvSpPr>
          <p:cNvPr id="8" name="Text: FY budget"/>
          <p:cNvSpPr txBox="1"/>
          <p:nvPr/>
        </p:nvSpPr>
        <p:spPr>
          <a:xfrm>
            <a:off x="2542032" y="3200400"/>
            <a:ext cx="105156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80" b="1">
                <a:solidFill>
                  <a:srgbClr val="667085"/>
                </a:solidFill>
                <a:latin typeface="Microsoft YaHei"/>
              </a:rPr>
              <a:t>FY budget</a:t>
            </a:r>
          </a:p>
        </p:txBody>
      </p:sp>
      <p:sp>
        <p:nvSpPr>
          <p:cNvPr id="9" name="Material: legend dot"/>
          <p:cNvSpPr/>
          <p:nvPr/>
        </p:nvSpPr>
        <p:spPr>
          <a:xfrm>
            <a:off x="6126480" y="1618488"/>
            <a:ext cx="109728" cy="109728"/>
          </a:xfrm>
          <a:prstGeom prst="ellipse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Build"/>
          <p:cNvSpPr txBox="1"/>
          <p:nvPr/>
        </p:nvSpPr>
        <p:spPr>
          <a:xfrm>
            <a:off x="6291072" y="1572768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Build</a:t>
            </a:r>
          </a:p>
        </p:txBody>
      </p:sp>
      <p:sp>
        <p:nvSpPr>
          <p:cNvPr id="11" name="Text: 38%"/>
          <p:cNvSpPr txBox="1"/>
          <p:nvPr/>
        </p:nvSpPr>
        <p:spPr>
          <a:xfrm>
            <a:off x="7040880" y="1572768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38%</a:t>
            </a:r>
          </a:p>
        </p:txBody>
      </p:sp>
      <p:sp>
        <p:nvSpPr>
          <p:cNvPr id="12" name="Material: legend dot"/>
          <p:cNvSpPr/>
          <p:nvPr/>
        </p:nvSpPr>
        <p:spPr>
          <a:xfrm>
            <a:off x="6126480" y="2185415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ata"/>
          <p:cNvSpPr txBox="1"/>
          <p:nvPr/>
        </p:nvSpPr>
        <p:spPr>
          <a:xfrm>
            <a:off x="6291072" y="2139696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Data</a:t>
            </a:r>
          </a:p>
        </p:txBody>
      </p:sp>
      <p:sp>
        <p:nvSpPr>
          <p:cNvPr id="14" name="Text: 24%"/>
          <p:cNvSpPr txBox="1"/>
          <p:nvPr/>
        </p:nvSpPr>
        <p:spPr>
          <a:xfrm>
            <a:off x="7040880" y="2139696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24%</a:t>
            </a:r>
          </a:p>
        </p:txBody>
      </p:sp>
      <p:sp>
        <p:nvSpPr>
          <p:cNvPr id="15" name="Material: legend dot"/>
          <p:cNvSpPr/>
          <p:nvPr/>
        </p:nvSpPr>
        <p:spPr>
          <a:xfrm>
            <a:off x="6126480" y="2752344"/>
            <a:ext cx="109728" cy="109728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Change"/>
          <p:cNvSpPr txBox="1"/>
          <p:nvPr/>
        </p:nvSpPr>
        <p:spPr>
          <a:xfrm>
            <a:off x="6291072" y="2706624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Change</a:t>
            </a:r>
          </a:p>
        </p:txBody>
      </p:sp>
      <p:sp>
        <p:nvSpPr>
          <p:cNvPr id="17" name="Text: 21%"/>
          <p:cNvSpPr txBox="1"/>
          <p:nvPr/>
        </p:nvSpPr>
        <p:spPr>
          <a:xfrm>
            <a:off x="7040880" y="2706624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21%</a:t>
            </a:r>
          </a:p>
        </p:txBody>
      </p:sp>
      <p:sp>
        <p:nvSpPr>
          <p:cNvPr id="18" name="Material: legend dot"/>
          <p:cNvSpPr/>
          <p:nvPr/>
        </p:nvSpPr>
        <p:spPr>
          <a:xfrm>
            <a:off x="6126480" y="3319272"/>
            <a:ext cx="109728" cy="109728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Reserve"/>
          <p:cNvSpPr txBox="1"/>
          <p:nvPr/>
        </p:nvSpPr>
        <p:spPr>
          <a:xfrm>
            <a:off x="6291072" y="3273552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Reserve</a:t>
            </a:r>
          </a:p>
        </p:txBody>
      </p:sp>
      <p:sp>
        <p:nvSpPr>
          <p:cNvPr id="20" name="Text: 17%"/>
          <p:cNvSpPr txBox="1"/>
          <p:nvPr/>
        </p:nvSpPr>
        <p:spPr>
          <a:xfrm>
            <a:off x="7040880" y="3273552"/>
            <a:ext cx="5486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19" b="1">
                <a:solidFill>
                  <a:srgbClr val="1F2937"/>
                </a:solidFill>
                <a:latin typeface="Microsoft YaHei"/>
              </a:rPr>
              <a:t>17%</a:t>
            </a:r>
          </a:p>
        </p:txBody>
      </p:sp>
      <p:sp>
        <p:nvSpPr>
          <p:cNvPr id="21" name="Material: native block"/>
          <p:cNvSpPr/>
          <p:nvPr/>
        </p:nvSpPr>
        <p:spPr>
          <a:xfrm>
            <a:off x="5989320" y="4407408"/>
            <a:ext cx="4526280" cy="676656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Editable-core: native chart data, center value, "/>
          <p:cNvSpPr txBox="1"/>
          <p:nvPr/>
        </p:nvSpPr>
        <p:spPr>
          <a:xfrm>
            <a:off x="6199632" y="4626864"/>
            <a:ext cx="4114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667085"/>
                </a:solidFill>
                <a:latin typeface="Microsoft YaHei"/>
              </a:rPr>
              <a:t>Editable-core: native chart data, center value, legend, and interpretation remain separate.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NNOTATED COMPOSITION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ANNOTATED COMPOSITION</a:t>
            </a:r>
          </a:p>
        </p:txBody>
      </p:sp>
      <p:sp>
        <p:nvSpPr>
          <p:cNvPr id="3" name="Text: 带外部标注的环形图适合让高管先看类别，再看原因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带外部标注的环形图适合让高管先看类别，再看原因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3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03</a:t>
            </a:r>
          </a:p>
        </p:txBody>
      </p:sp>
      <p:graphicFrame>
        <p:nvGraphicFramePr>
          <p:cNvPr id="6" name="Native chart: annotated ring"/>
          <p:cNvGraphicFramePr>
            <a:graphicFrameLocks noGrp="1"/>
          </p:cNvGraphicFramePr>
          <p:nvPr/>
        </p:nvGraphicFramePr>
        <p:xfrm>
          <a:off x="3474720" y="1298448"/>
          <a:ext cx="38862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: 100%"/>
          <p:cNvSpPr txBox="1"/>
          <p:nvPr/>
        </p:nvSpPr>
        <p:spPr>
          <a:xfrm>
            <a:off x="4773168" y="2816352"/>
            <a:ext cx="1234440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Microsoft YaHei"/>
              </a:rPr>
              <a:t>100%</a:t>
            </a:r>
          </a:p>
        </p:txBody>
      </p:sp>
      <p:sp>
        <p:nvSpPr>
          <p:cNvPr id="8" name="Text: scope split"/>
          <p:cNvSpPr txBox="1"/>
          <p:nvPr/>
        </p:nvSpPr>
        <p:spPr>
          <a:xfrm>
            <a:off x="4736592" y="3154680"/>
            <a:ext cx="1325880" cy="1371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1">
                <a:solidFill>
                  <a:srgbClr val="667085"/>
                </a:solidFill>
                <a:latin typeface="Microsoft YaHei"/>
              </a:rPr>
              <a:t>scope split</a:t>
            </a:r>
          </a:p>
        </p:txBody>
      </p:sp>
      <p:sp>
        <p:nvSpPr>
          <p:cNvPr id="9" name="Material: callout marker"/>
          <p:cNvSpPr/>
          <p:nvPr/>
        </p:nvSpPr>
        <p:spPr>
          <a:xfrm>
            <a:off x="1170432" y="1655064"/>
            <a:ext cx="118872" cy="118872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Core platform"/>
          <p:cNvSpPr txBox="1"/>
          <p:nvPr/>
        </p:nvSpPr>
        <p:spPr>
          <a:xfrm>
            <a:off x="1371600" y="1591056"/>
            <a:ext cx="14813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Microsoft YaHei"/>
              </a:rPr>
              <a:t>Core platform</a:t>
            </a:r>
          </a:p>
        </p:txBody>
      </p:sp>
      <p:sp>
        <p:nvSpPr>
          <p:cNvPr id="11" name="Text: 35%"/>
          <p:cNvSpPr txBox="1"/>
          <p:nvPr/>
        </p:nvSpPr>
        <p:spPr>
          <a:xfrm>
            <a:off x="2468880" y="1591056"/>
            <a:ext cx="47548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80" b="1">
                <a:solidFill>
                  <a:srgbClr val="667085"/>
                </a:solidFill>
                <a:latin typeface="Microsoft YaHei"/>
              </a:rPr>
              <a:t>35%</a:t>
            </a:r>
          </a:p>
        </p:txBody>
      </p:sp>
      <p:cxnSp>
        <p:nvCxnSpPr>
          <p:cNvPr id="12" name="Connector: callout leader"/>
          <p:cNvCxnSpPr/>
          <p:nvPr/>
        </p:nvCxnSpPr>
        <p:spPr>
          <a:xfrm>
            <a:off x="1243584" y="1719072"/>
            <a:ext cx="2734055" cy="429768"/>
          </a:xfrm>
          <a:prstGeom prst="line">
            <a:avLst/>
          </a:prstGeom>
          <a:ln w="1079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terial: callout marker"/>
          <p:cNvSpPr/>
          <p:nvPr/>
        </p:nvSpPr>
        <p:spPr>
          <a:xfrm>
            <a:off x="7479792" y="1655064"/>
            <a:ext cx="118872" cy="118872"/>
          </a:xfrm>
          <a:prstGeom prst="ellipse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AI workflow"/>
          <p:cNvSpPr txBox="1"/>
          <p:nvPr/>
        </p:nvSpPr>
        <p:spPr>
          <a:xfrm>
            <a:off x="7680960" y="1591056"/>
            <a:ext cx="14813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Microsoft YaHei"/>
              </a:rPr>
              <a:t>AI workflow</a:t>
            </a:r>
          </a:p>
        </p:txBody>
      </p:sp>
      <p:sp>
        <p:nvSpPr>
          <p:cNvPr id="15" name="Text: 23%"/>
          <p:cNvSpPr txBox="1"/>
          <p:nvPr/>
        </p:nvSpPr>
        <p:spPr>
          <a:xfrm>
            <a:off x="8778240" y="1591056"/>
            <a:ext cx="47548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80" b="1">
                <a:solidFill>
                  <a:srgbClr val="667085"/>
                </a:solidFill>
                <a:latin typeface="Microsoft YaHei"/>
              </a:rPr>
              <a:t>23%</a:t>
            </a:r>
          </a:p>
        </p:txBody>
      </p:sp>
      <p:cxnSp>
        <p:nvCxnSpPr>
          <p:cNvPr id="16" name="Connector: callout leader"/>
          <p:cNvCxnSpPr/>
          <p:nvPr/>
        </p:nvCxnSpPr>
        <p:spPr>
          <a:xfrm flipH="1">
            <a:off x="6510528" y="1719072"/>
            <a:ext cx="1042416" cy="402336"/>
          </a:xfrm>
          <a:prstGeom prst="line">
            <a:avLst/>
          </a:prstGeom>
          <a:ln w="1079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Material: callout marker"/>
          <p:cNvSpPr/>
          <p:nvPr/>
        </p:nvSpPr>
        <p:spPr>
          <a:xfrm>
            <a:off x="7845552" y="4471416"/>
            <a:ext cx="118872" cy="11887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Data migration"/>
          <p:cNvSpPr txBox="1"/>
          <p:nvPr/>
        </p:nvSpPr>
        <p:spPr>
          <a:xfrm>
            <a:off x="8046720" y="4407408"/>
            <a:ext cx="14813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Microsoft YaHei"/>
              </a:rPr>
              <a:t>Data migration</a:t>
            </a:r>
          </a:p>
        </p:txBody>
      </p:sp>
      <p:sp>
        <p:nvSpPr>
          <p:cNvPr id="19" name="Text: 18%"/>
          <p:cNvSpPr txBox="1"/>
          <p:nvPr/>
        </p:nvSpPr>
        <p:spPr>
          <a:xfrm>
            <a:off x="9144000" y="4407408"/>
            <a:ext cx="47548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80" b="1">
                <a:solidFill>
                  <a:srgbClr val="667085"/>
                </a:solidFill>
                <a:latin typeface="Microsoft YaHei"/>
              </a:rPr>
              <a:t>18%</a:t>
            </a:r>
          </a:p>
        </p:txBody>
      </p:sp>
      <p:cxnSp>
        <p:nvCxnSpPr>
          <p:cNvPr id="20" name="Connector: callout leader"/>
          <p:cNvCxnSpPr/>
          <p:nvPr/>
        </p:nvCxnSpPr>
        <p:spPr>
          <a:xfrm flipH="1" flipV="1">
            <a:off x="6510528" y="4133087"/>
            <a:ext cx="1408176" cy="402337"/>
          </a:xfrm>
          <a:prstGeom prst="line">
            <a:avLst/>
          </a:prstGeom>
          <a:ln w="1079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aterial: callout marker"/>
          <p:cNvSpPr/>
          <p:nvPr/>
        </p:nvSpPr>
        <p:spPr>
          <a:xfrm>
            <a:off x="1115568" y="4379976"/>
            <a:ext cx="118872" cy="11887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Enablement"/>
          <p:cNvSpPr txBox="1"/>
          <p:nvPr/>
        </p:nvSpPr>
        <p:spPr>
          <a:xfrm>
            <a:off x="1316736" y="4315968"/>
            <a:ext cx="14813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Microsoft YaHei"/>
              </a:rPr>
              <a:t>Enablement</a:t>
            </a:r>
          </a:p>
        </p:txBody>
      </p:sp>
      <p:sp>
        <p:nvSpPr>
          <p:cNvPr id="23" name="Text: 14%"/>
          <p:cNvSpPr txBox="1"/>
          <p:nvPr/>
        </p:nvSpPr>
        <p:spPr>
          <a:xfrm>
            <a:off x="2414015" y="4315968"/>
            <a:ext cx="47548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80" b="1">
                <a:solidFill>
                  <a:srgbClr val="667085"/>
                </a:solidFill>
                <a:latin typeface="Microsoft YaHei"/>
              </a:rPr>
              <a:t>14%</a:t>
            </a:r>
          </a:p>
        </p:txBody>
      </p:sp>
      <p:cxnSp>
        <p:nvCxnSpPr>
          <p:cNvPr id="24" name="Connector: callout leader"/>
          <p:cNvCxnSpPr/>
          <p:nvPr/>
        </p:nvCxnSpPr>
        <p:spPr>
          <a:xfrm flipV="1">
            <a:off x="1188720" y="3977639"/>
            <a:ext cx="2971800" cy="466344"/>
          </a:xfrm>
          <a:prstGeom prst="line">
            <a:avLst/>
          </a:prstGeom>
          <a:ln w="1079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aterial: callout marker"/>
          <p:cNvSpPr/>
          <p:nvPr/>
        </p:nvSpPr>
        <p:spPr>
          <a:xfrm>
            <a:off x="1508760" y="2953512"/>
            <a:ext cx="118872" cy="118872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Contingency"/>
          <p:cNvSpPr txBox="1"/>
          <p:nvPr/>
        </p:nvSpPr>
        <p:spPr>
          <a:xfrm>
            <a:off x="1709928" y="2889504"/>
            <a:ext cx="14813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80" b="1">
                <a:solidFill>
                  <a:srgbClr val="1F2937"/>
                </a:solidFill>
                <a:latin typeface="Microsoft YaHei"/>
              </a:rPr>
              <a:t>Contingency</a:t>
            </a:r>
          </a:p>
        </p:txBody>
      </p:sp>
      <p:sp>
        <p:nvSpPr>
          <p:cNvPr id="27" name="Text: 10%"/>
          <p:cNvSpPr txBox="1"/>
          <p:nvPr/>
        </p:nvSpPr>
        <p:spPr>
          <a:xfrm>
            <a:off x="2807208" y="2889504"/>
            <a:ext cx="47548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80" b="1">
                <a:solidFill>
                  <a:srgbClr val="667085"/>
                </a:solidFill>
                <a:latin typeface="Microsoft YaHei"/>
              </a:rPr>
              <a:t>10%</a:t>
            </a:r>
          </a:p>
        </p:txBody>
      </p:sp>
      <p:cxnSp>
        <p:nvCxnSpPr>
          <p:cNvPr id="28" name="Connector: callout leader"/>
          <p:cNvCxnSpPr/>
          <p:nvPr/>
        </p:nvCxnSpPr>
        <p:spPr>
          <a:xfrm>
            <a:off x="1581912" y="3017520"/>
            <a:ext cx="2304288" cy="45720"/>
          </a:xfrm>
          <a:prstGeom prst="line">
            <a:avLst/>
          </a:prstGeom>
          <a:ln w="1079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KPI RING GROUP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KPI RING GROUP</a:t>
            </a:r>
          </a:p>
        </p:txBody>
      </p:sp>
      <p:sp>
        <p:nvSpPr>
          <p:cNvPr id="3" name="Text: 预算 KPI 圆环组把金额、消耗率和风险灯号分开展示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预算 KPI 圆环组把金额、消耗率和风险灯号分开展示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4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04</a:t>
            </a:r>
          </a:p>
        </p:txBody>
      </p:sp>
      <p:sp>
        <p:nvSpPr>
          <p:cNvPr id="6" name="Material: native block"/>
          <p:cNvSpPr/>
          <p:nvPr/>
        </p:nvSpPr>
        <p:spPr>
          <a:xfrm>
            <a:off x="914400" y="1426464"/>
            <a:ext cx="2971800" cy="40050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Native chart: Run-rate KPI ring"/>
          <p:cNvGraphicFramePr>
            <a:graphicFrameLocks noGrp="1"/>
          </p:cNvGraphicFramePr>
          <p:nvPr/>
        </p:nvGraphicFramePr>
        <p:xfrm>
          <a:off x="1408176" y="1874519"/>
          <a:ext cx="1938528" cy="1938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: 42%"/>
          <p:cNvSpPr txBox="1"/>
          <p:nvPr/>
        </p:nvSpPr>
        <p:spPr>
          <a:xfrm>
            <a:off x="1938528" y="2615184"/>
            <a:ext cx="8778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Microsoft YaHei"/>
              </a:rPr>
              <a:t>42%</a:t>
            </a:r>
          </a:p>
        </p:txBody>
      </p:sp>
      <p:sp>
        <p:nvSpPr>
          <p:cNvPr id="9" name="Material: KPI status dot"/>
          <p:cNvSpPr/>
          <p:nvPr/>
        </p:nvSpPr>
        <p:spPr>
          <a:xfrm>
            <a:off x="1115568" y="1682496"/>
            <a:ext cx="128016" cy="128016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Run-rate"/>
          <p:cNvSpPr txBox="1"/>
          <p:nvPr/>
        </p:nvSpPr>
        <p:spPr>
          <a:xfrm>
            <a:off x="1325880" y="1645920"/>
            <a:ext cx="14630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40" b="1">
                <a:solidFill>
                  <a:srgbClr val="667085"/>
                </a:solidFill>
                <a:latin typeface="Microsoft YaHei"/>
              </a:rPr>
              <a:t>Run-rate</a:t>
            </a:r>
          </a:p>
        </p:txBody>
      </p:sp>
      <p:sp>
        <p:nvSpPr>
          <p:cNvPr id="11" name="Text: $1.8M"/>
          <p:cNvSpPr txBox="1"/>
          <p:nvPr/>
        </p:nvSpPr>
        <p:spPr>
          <a:xfrm>
            <a:off x="1261872" y="4041648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Microsoft YaHei"/>
              </a:rPr>
              <a:t>$1.8M</a:t>
            </a:r>
          </a:p>
        </p:txBody>
      </p:sp>
      <p:sp>
        <p:nvSpPr>
          <p:cNvPr id="12" name="Text: native chart + center labels"/>
          <p:cNvSpPr txBox="1"/>
          <p:nvPr/>
        </p:nvSpPr>
        <p:spPr>
          <a:xfrm>
            <a:off x="1225296" y="4462272"/>
            <a:ext cx="232257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Microsoft YaHei"/>
              </a:rPr>
              <a:t>native chart + center labels</a:t>
            </a:r>
          </a:p>
        </p:txBody>
      </p:sp>
      <p:sp>
        <p:nvSpPr>
          <p:cNvPr id="13" name="Material: native block"/>
          <p:cNvSpPr/>
          <p:nvPr/>
        </p:nvSpPr>
        <p:spPr>
          <a:xfrm>
            <a:off x="4572000" y="1426464"/>
            <a:ext cx="2971800" cy="40050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Native chart: Committed KPI ring"/>
          <p:cNvGraphicFramePr>
            <a:graphicFrameLocks noGrp="1"/>
          </p:cNvGraphicFramePr>
          <p:nvPr/>
        </p:nvGraphicFramePr>
        <p:xfrm>
          <a:off x="5065776" y="1874519"/>
          <a:ext cx="1938528" cy="19385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: 63%"/>
          <p:cNvSpPr txBox="1"/>
          <p:nvPr/>
        </p:nvSpPr>
        <p:spPr>
          <a:xfrm>
            <a:off x="5596128" y="2615184"/>
            <a:ext cx="8778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Microsoft YaHei"/>
              </a:rPr>
              <a:t>63%</a:t>
            </a:r>
          </a:p>
        </p:txBody>
      </p:sp>
      <p:sp>
        <p:nvSpPr>
          <p:cNvPr id="16" name="Material: KPI status dot"/>
          <p:cNvSpPr/>
          <p:nvPr/>
        </p:nvSpPr>
        <p:spPr>
          <a:xfrm>
            <a:off x="4773168" y="1682496"/>
            <a:ext cx="128016" cy="128016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Committed"/>
          <p:cNvSpPr txBox="1"/>
          <p:nvPr/>
        </p:nvSpPr>
        <p:spPr>
          <a:xfrm>
            <a:off x="4983480" y="1645920"/>
            <a:ext cx="14630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40" b="1">
                <a:solidFill>
                  <a:srgbClr val="667085"/>
                </a:solidFill>
                <a:latin typeface="Microsoft YaHei"/>
              </a:rPr>
              <a:t>Committed</a:t>
            </a:r>
          </a:p>
        </p:txBody>
      </p:sp>
      <p:sp>
        <p:nvSpPr>
          <p:cNvPr id="18" name="Text: $2.7M"/>
          <p:cNvSpPr txBox="1"/>
          <p:nvPr/>
        </p:nvSpPr>
        <p:spPr>
          <a:xfrm>
            <a:off x="4919472" y="4041648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Microsoft YaHei"/>
              </a:rPr>
              <a:t>$2.7M</a:t>
            </a:r>
          </a:p>
        </p:txBody>
      </p:sp>
      <p:sp>
        <p:nvSpPr>
          <p:cNvPr id="19" name="Text: native chart + center labels"/>
          <p:cNvSpPr txBox="1"/>
          <p:nvPr/>
        </p:nvSpPr>
        <p:spPr>
          <a:xfrm>
            <a:off x="4882896" y="4462272"/>
            <a:ext cx="232257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Microsoft YaHei"/>
              </a:rPr>
              <a:t>native chart + center labels</a:t>
            </a:r>
          </a:p>
        </p:txBody>
      </p:sp>
      <p:sp>
        <p:nvSpPr>
          <p:cNvPr id="20" name="Material: native block"/>
          <p:cNvSpPr/>
          <p:nvPr/>
        </p:nvSpPr>
        <p:spPr>
          <a:xfrm>
            <a:off x="8229600" y="1426464"/>
            <a:ext cx="2971800" cy="40050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Native chart: At risk KPI ring"/>
          <p:cNvGraphicFramePr>
            <a:graphicFrameLocks noGrp="1"/>
          </p:cNvGraphicFramePr>
          <p:nvPr/>
        </p:nvGraphicFramePr>
        <p:xfrm>
          <a:off x="8723376" y="1874519"/>
          <a:ext cx="1938528" cy="193852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: 14%"/>
          <p:cNvSpPr txBox="1"/>
          <p:nvPr/>
        </p:nvSpPr>
        <p:spPr>
          <a:xfrm>
            <a:off x="9253728" y="2615184"/>
            <a:ext cx="8778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Microsoft YaHei"/>
              </a:rPr>
              <a:t>14%</a:t>
            </a:r>
          </a:p>
        </p:txBody>
      </p:sp>
      <p:sp>
        <p:nvSpPr>
          <p:cNvPr id="23" name="Material: KPI status dot"/>
          <p:cNvSpPr/>
          <p:nvPr/>
        </p:nvSpPr>
        <p:spPr>
          <a:xfrm>
            <a:off x="8430768" y="1682496"/>
            <a:ext cx="128016" cy="128016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At risk"/>
          <p:cNvSpPr txBox="1"/>
          <p:nvPr/>
        </p:nvSpPr>
        <p:spPr>
          <a:xfrm>
            <a:off x="8641080" y="1645920"/>
            <a:ext cx="146304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40" b="1">
                <a:solidFill>
                  <a:srgbClr val="667085"/>
                </a:solidFill>
                <a:latin typeface="Microsoft YaHei"/>
              </a:rPr>
              <a:t>At risk</a:t>
            </a:r>
          </a:p>
        </p:txBody>
      </p:sp>
      <p:sp>
        <p:nvSpPr>
          <p:cNvPr id="25" name="Text: $0.6M"/>
          <p:cNvSpPr txBox="1"/>
          <p:nvPr/>
        </p:nvSpPr>
        <p:spPr>
          <a:xfrm>
            <a:off x="8577072" y="4041648"/>
            <a:ext cx="224028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100" b="1">
                <a:solidFill>
                  <a:srgbClr val="1F2937"/>
                </a:solidFill>
                <a:latin typeface="Microsoft YaHei"/>
              </a:rPr>
              <a:t>$0.6M</a:t>
            </a:r>
          </a:p>
        </p:txBody>
      </p:sp>
      <p:sp>
        <p:nvSpPr>
          <p:cNvPr id="26" name="Text: native chart + center labels"/>
          <p:cNvSpPr txBox="1"/>
          <p:nvPr/>
        </p:nvSpPr>
        <p:spPr>
          <a:xfrm>
            <a:off x="8540496" y="4462272"/>
            <a:ext cx="232257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Microsoft YaHei"/>
              </a:rPr>
              <a:t>native chart + center labels</a:t>
            </a:r>
          </a:p>
        </p:txBody>
      </p:sp>
      <p:sp>
        <p:nvSpPr>
          <p:cNvPr id="27" name="Text: Use three rings only when the measures are peers"/>
          <p:cNvSpPr txBox="1"/>
          <p:nvPr/>
        </p:nvSpPr>
        <p:spPr>
          <a:xfrm>
            <a:off x="1188720" y="5742432"/>
            <a:ext cx="97840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Use three rings only when the measures are peers; otherwise promote the most decision-critical KPI.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ROADMAP GANTT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ROADMAP GANTT</a:t>
            </a:r>
          </a:p>
        </p:txBody>
      </p:sp>
      <p:sp>
        <p:nvSpPr>
          <p:cNvPr id="3" name="Text: 项目时间轴甘特图用月份网格、阶段条和门禁线控制复杂度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项目时间轴甘特图用月份网格、阶段条和门禁线控制复杂度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5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05</a:t>
            </a:r>
          </a:p>
        </p:txBody>
      </p:sp>
      <p:sp>
        <p:nvSpPr>
          <p:cNvPr id="6" name="Material: native block"/>
          <p:cNvSpPr/>
          <p:nvPr/>
        </p:nvSpPr>
        <p:spPr>
          <a:xfrm>
            <a:off x="685800" y="1481328"/>
            <a:ext cx="10040112" cy="38404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Workstream"/>
          <p:cNvSpPr txBox="1"/>
          <p:nvPr/>
        </p:nvSpPr>
        <p:spPr>
          <a:xfrm>
            <a:off x="868680" y="1600200"/>
            <a:ext cx="822960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Workstream</a:t>
            </a:r>
          </a:p>
        </p:txBody>
      </p:sp>
      <p:sp>
        <p:nvSpPr>
          <p:cNvPr id="8" name="Text: Jan"/>
          <p:cNvSpPr txBox="1"/>
          <p:nvPr/>
        </p:nvSpPr>
        <p:spPr>
          <a:xfrm>
            <a:off x="2221991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Jan</a:t>
            </a:r>
          </a:p>
        </p:txBody>
      </p:sp>
      <p:sp>
        <p:nvSpPr>
          <p:cNvPr id="9" name="Material: month grid"/>
          <p:cNvSpPr/>
          <p:nvPr/>
        </p:nvSpPr>
        <p:spPr>
          <a:xfrm>
            <a:off x="1965960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Feb"/>
          <p:cNvSpPr txBox="1"/>
          <p:nvPr/>
        </p:nvSpPr>
        <p:spPr>
          <a:xfrm>
            <a:off x="3300984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Feb</a:t>
            </a:r>
          </a:p>
        </p:txBody>
      </p:sp>
      <p:sp>
        <p:nvSpPr>
          <p:cNvPr id="11" name="Material: month grid"/>
          <p:cNvSpPr/>
          <p:nvPr/>
        </p:nvSpPr>
        <p:spPr>
          <a:xfrm>
            <a:off x="3044952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Mar"/>
          <p:cNvSpPr txBox="1"/>
          <p:nvPr/>
        </p:nvSpPr>
        <p:spPr>
          <a:xfrm>
            <a:off x="4379976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Mar</a:t>
            </a:r>
          </a:p>
        </p:txBody>
      </p:sp>
      <p:sp>
        <p:nvSpPr>
          <p:cNvPr id="13" name="Material: month grid"/>
          <p:cNvSpPr/>
          <p:nvPr/>
        </p:nvSpPr>
        <p:spPr>
          <a:xfrm>
            <a:off x="4123944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Apr"/>
          <p:cNvSpPr txBox="1"/>
          <p:nvPr/>
        </p:nvSpPr>
        <p:spPr>
          <a:xfrm>
            <a:off x="5458968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Apr</a:t>
            </a:r>
          </a:p>
        </p:txBody>
      </p:sp>
      <p:sp>
        <p:nvSpPr>
          <p:cNvPr id="15" name="Material: month grid"/>
          <p:cNvSpPr/>
          <p:nvPr/>
        </p:nvSpPr>
        <p:spPr>
          <a:xfrm>
            <a:off x="5202936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May"/>
          <p:cNvSpPr txBox="1"/>
          <p:nvPr/>
        </p:nvSpPr>
        <p:spPr>
          <a:xfrm>
            <a:off x="6537959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May</a:t>
            </a:r>
          </a:p>
        </p:txBody>
      </p:sp>
      <p:sp>
        <p:nvSpPr>
          <p:cNvPr id="17" name="Material: month grid"/>
          <p:cNvSpPr/>
          <p:nvPr/>
        </p:nvSpPr>
        <p:spPr>
          <a:xfrm>
            <a:off x="6281927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Jun"/>
          <p:cNvSpPr txBox="1"/>
          <p:nvPr/>
        </p:nvSpPr>
        <p:spPr>
          <a:xfrm>
            <a:off x="7616951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Jun</a:t>
            </a:r>
          </a:p>
        </p:txBody>
      </p:sp>
      <p:sp>
        <p:nvSpPr>
          <p:cNvPr id="19" name="Material: month grid"/>
          <p:cNvSpPr/>
          <p:nvPr/>
        </p:nvSpPr>
        <p:spPr>
          <a:xfrm>
            <a:off x="7360919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Jul"/>
          <p:cNvSpPr txBox="1"/>
          <p:nvPr/>
        </p:nvSpPr>
        <p:spPr>
          <a:xfrm>
            <a:off x="8695944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Jul</a:t>
            </a:r>
          </a:p>
        </p:txBody>
      </p:sp>
      <p:sp>
        <p:nvSpPr>
          <p:cNvPr id="21" name="Material: month grid"/>
          <p:cNvSpPr/>
          <p:nvPr/>
        </p:nvSpPr>
        <p:spPr>
          <a:xfrm>
            <a:off x="8439912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Aug"/>
          <p:cNvSpPr txBox="1"/>
          <p:nvPr/>
        </p:nvSpPr>
        <p:spPr>
          <a:xfrm>
            <a:off x="9774936" y="1572768"/>
            <a:ext cx="530352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Microsoft YaHei"/>
              </a:rPr>
              <a:t>Aug</a:t>
            </a:r>
          </a:p>
        </p:txBody>
      </p:sp>
      <p:sp>
        <p:nvSpPr>
          <p:cNvPr id="23" name="Material: month grid"/>
          <p:cNvSpPr/>
          <p:nvPr/>
        </p:nvSpPr>
        <p:spPr>
          <a:xfrm>
            <a:off x="9518904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aterial: month grid"/>
          <p:cNvSpPr/>
          <p:nvPr/>
        </p:nvSpPr>
        <p:spPr>
          <a:xfrm>
            <a:off x="10597896" y="1865376"/>
            <a:ext cx="5486" cy="3867912"/>
          </a:xfrm>
          <a:prstGeom prst="rect">
            <a:avLst/>
          </a:prstGeom>
          <a:solidFill>
            <a:srgbClr val="D0D5DD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Discovery"/>
          <p:cNvSpPr txBox="1"/>
          <p:nvPr/>
        </p:nvSpPr>
        <p:spPr>
          <a:xfrm>
            <a:off x="841248" y="2231136"/>
            <a:ext cx="95097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40" b="1">
                <a:solidFill>
                  <a:srgbClr val="1F2937"/>
                </a:solidFill>
                <a:latin typeface="Microsoft YaHei"/>
              </a:rPr>
              <a:t>Discovery</a:t>
            </a:r>
          </a:p>
        </p:txBody>
      </p:sp>
      <p:sp>
        <p:nvSpPr>
          <p:cNvPr id="26" name="Material: gantt row"/>
          <p:cNvSpPr/>
          <p:nvPr/>
        </p:nvSpPr>
        <p:spPr>
          <a:xfrm>
            <a:off x="685800" y="2139696"/>
            <a:ext cx="10040112" cy="493776"/>
          </a:xfrm>
          <a:prstGeom prst="rect">
            <a:avLst/>
          </a:prstGeom>
          <a:solidFill>
            <a:srgbClr val="FFFFFF"/>
          </a:solidFill>
          <a:ln w="444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aterial: gantt phase bar"/>
          <p:cNvSpPr/>
          <p:nvPr/>
        </p:nvSpPr>
        <p:spPr>
          <a:xfrm>
            <a:off x="1965960" y="2249424"/>
            <a:ext cx="2373782" cy="228600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Platform build"/>
          <p:cNvSpPr txBox="1"/>
          <p:nvPr/>
        </p:nvSpPr>
        <p:spPr>
          <a:xfrm>
            <a:off x="841248" y="2724912"/>
            <a:ext cx="95097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40" b="1">
                <a:solidFill>
                  <a:srgbClr val="1F2937"/>
                </a:solidFill>
                <a:latin typeface="Microsoft YaHei"/>
              </a:rPr>
              <a:t>Platform build</a:t>
            </a:r>
          </a:p>
        </p:txBody>
      </p:sp>
      <p:sp>
        <p:nvSpPr>
          <p:cNvPr id="29" name="Material: gantt row"/>
          <p:cNvSpPr/>
          <p:nvPr/>
        </p:nvSpPr>
        <p:spPr>
          <a:xfrm>
            <a:off x="685800" y="2633472"/>
            <a:ext cx="10040112" cy="493776"/>
          </a:xfrm>
          <a:prstGeom prst="rect">
            <a:avLst/>
          </a:prstGeom>
          <a:solidFill>
            <a:srgbClr val="F7F8FA"/>
          </a:solidFill>
          <a:ln w="444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terial: gantt phase bar"/>
          <p:cNvSpPr/>
          <p:nvPr/>
        </p:nvSpPr>
        <p:spPr>
          <a:xfrm>
            <a:off x="3152851" y="2743200"/>
            <a:ext cx="4963363" cy="2286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Data migration"/>
          <p:cNvSpPr txBox="1"/>
          <p:nvPr/>
        </p:nvSpPr>
        <p:spPr>
          <a:xfrm>
            <a:off x="841248" y="3218688"/>
            <a:ext cx="95097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40" b="1">
                <a:solidFill>
                  <a:srgbClr val="1F2937"/>
                </a:solidFill>
                <a:latin typeface="Microsoft YaHei"/>
              </a:rPr>
              <a:t>Data migration</a:t>
            </a:r>
          </a:p>
        </p:txBody>
      </p:sp>
      <p:sp>
        <p:nvSpPr>
          <p:cNvPr id="32" name="Material: gantt row"/>
          <p:cNvSpPr/>
          <p:nvPr/>
        </p:nvSpPr>
        <p:spPr>
          <a:xfrm>
            <a:off x="685800" y="3127248"/>
            <a:ext cx="10040112" cy="493776"/>
          </a:xfrm>
          <a:prstGeom prst="rect">
            <a:avLst/>
          </a:prstGeom>
          <a:solidFill>
            <a:srgbClr val="FFFFFF"/>
          </a:solidFill>
          <a:ln w="444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aterial: gantt phase bar"/>
          <p:cNvSpPr/>
          <p:nvPr/>
        </p:nvSpPr>
        <p:spPr>
          <a:xfrm>
            <a:off x="4555540" y="3236976"/>
            <a:ext cx="4208068" cy="228600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Pilot"/>
          <p:cNvSpPr txBox="1"/>
          <p:nvPr/>
        </p:nvSpPr>
        <p:spPr>
          <a:xfrm>
            <a:off x="841248" y="3712463"/>
            <a:ext cx="95097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40" b="1">
                <a:solidFill>
                  <a:srgbClr val="1F2937"/>
                </a:solidFill>
                <a:latin typeface="Microsoft YaHei"/>
              </a:rPr>
              <a:t>Pilot</a:t>
            </a:r>
          </a:p>
        </p:txBody>
      </p:sp>
      <p:sp>
        <p:nvSpPr>
          <p:cNvPr id="35" name="Material: gantt row"/>
          <p:cNvSpPr/>
          <p:nvPr/>
        </p:nvSpPr>
        <p:spPr>
          <a:xfrm>
            <a:off x="685800" y="3621024"/>
            <a:ext cx="10040112" cy="493776"/>
          </a:xfrm>
          <a:prstGeom prst="rect">
            <a:avLst/>
          </a:prstGeom>
          <a:solidFill>
            <a:srgbClr val="F7F8FA"/>
          </a:solidFill>
          <a:ln w="444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aterial: gantt phase bar"/>
          <p:cNvSpPr/>
          <p:nvPr/>
        </p:nvSpPr>
        <p:spPr>
          <a:xfrm>
            <a:off x="6713524" y="3730752"/>
            <a:ext cx="2373782" cy="228600"/>
          </a:xfrm>
          <a:prstGeom prst="round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Scale-up"/>
          <p:cNvSpPr txBox="1"/>
          <p:nvPr/>
        </p:nvSpPr>
        <p:spPr>
          <a:xfrm>
            <a:off x="841248" y="4206240"/>
            <a:ext cx="95097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40" b="1">
                <a:solidFill>
                  <a:srgbClr val="1F2937"/>
                </a:solidFill>
                <a:latin typeface="Microsoft YaHei"/>
              </a:rPr>
              <a:t>Scale-up</a:t>
            </a:r>
          </a:p>
        </p:txBody>
      </p:sp>
      <p:sp>
        <p:nvSpPr>
          <p:cNvPr id="38" name="Material: gantt row"/>
          <p:cNvSpPr/>
          <p:nvPr/>
        </p:nvSpPr>
        <p:spPr>
          <a:xfrm>
            <a:off x="685800" y="4114800"/>
            <a:ext cx="10040112" cy="493776"/>
          </a:xfrm>
          <a:prstGeom prst="rect">
            <a:avLst/>
          </a:prstGeom>
          <a:solidFill>
            <a:srgbClr val="FFFFFF"/>
          </a:solidFill>
          <a:ln w="444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aterial: gantt phase bar"/>
          <p:cNvSpPr/>
          <p:nvPr/>
        </p:nvSpPr>
        <p:spPr>
          <a:xfrm>
            <a:off x="8224113" y="4224528"/>
            <a:ext cx="2157984" cy="22860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aterial: decision gate"/>
          <p:cNvSpPr/>
          <p:nvPr/>
        </p:nvSpPr>
        <p:spPr>
          <a:xfrm>
            <a:off x="4987137" y="1920240"/>
            <a:ext cx="12801" cy="48463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ate 1"/>
          <p:cNvSpPr txBox="1"/>
          <p:nvPr/>
        </p:nvSpPr>
        <p:spPr>
          <a:xfrm>
            <a:off x="4639665" y="5413248"/>
            <a:ext cx="694944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D92D20"/>
                </a:solidFill>
                <a:latin typeface="Microsoft YaHei"/>
              </a:rPr>
              <a:t>Gate 1</a:t>
            </a:r>
          </a:p>
        </p:txBody>
      </p:sp>
      <p:sp>
        <p:nvSpPr>
          <p:cNvPr id="42" name="Material: decision gate"/>
          <p:cNvSpPr/>
          <p:nvPr/>
        </p:nvSpPr>
        <p:spPr>
          <a:xfrm>
            <a:off x="8008315" y="1920240"/>
            <a:ext cx="12801" cy="48463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Gate 2"/>
          <p:cNvSpPr txBox="1"/>
          <p:nvPr/>
        </p:nvSpPr>
        <p:spPr>
          <a:xfrm>
            <a:off x="7660843" y="5413248"/>
            <a:ext cx="694944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D92D20"/>
                </a:solidFill>
                <a:latin typeface="Microsoft YaHei"/>
              </a:rPr>
              <a:t>Gate 2</a:t>
            </a:r>
          </a:p>
        </p:txBody>
      </p:sp>
      <p:sp>
        <p:nvSpPr>
          <p:cNvPr id="44" name="Material: legend dot"/>
          <p:cNvSpPr/>
          <p:nvPr/>
        </p:nvSpPr>
        <p:spPr>
          <a:xfrm>
            <a:off x="2194560" y="5852159"/>
            <a:ext cx="109728" cy="109728"/>
          </a:xfrm>
          <a:prstGeom prst="ellipse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Discovery"/>
          <p:cNvSpPr txBox="1"/>
          <p:nvPr/>
        </p:nvSpPr>
        <p:spPr>
          <a:xfrm>
            <a:off x="2359152" y="580644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Discovery</a:t>
            </a:r>
          </a:p>
        </p:txBody>
      </p:sp>
      <p:sp>
        <p:nvSpPr>
          <p:cNvPr id="46" name="Material: legend dot"/>
          <p:cNvSpPr/>
          <p:nvPr/>
        </p:nvSpPr>
        <p:spPr>
          <a:xfrm>
            <a:off x="4069079" y="5852159"/>
            <a:ext cx="109728" cy="10972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Platform build"/>
          <p:cNvSpPr txBox="1"/>
          <p:nvPr/>
        </p:nvSpPr>
        <p:spPr>
          <a:xfrm>
            <a:off x="4233671" y="580644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Platform build</a:t>
            </a:r>
          </a:p>
        </p:txBody>
      </p:sp>
      <p:sp>
        <p:nvSpPr>
          <p:cNvPr id="48" name="Material: legend dot"/>
          <p:cNvSpPr/>
          <p:nvPr/>
        </p:nvSpPr>
        <p:spPr>
          <a:xfrm>
            <a:off x="5943600" y="5852159"/>
            <a:ext cx="109728" cy="109728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Data migration"/>
          <p:cNvSpPr txBox="1"/>
          <p:nvPr/>
        </p:nvSpPr>
        <p:spPr>
          <a:xfrm>
            <a:off x="6108192" y="580644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Data migration</a:t>
            </a:r>
          </a:p>
        </p:txBody>
      </p:sp>
      <p:sp>
        <p:nvSpPr>
          <p:cNvPr id="50" name="Material: legend dot"/>
          <p:cNvSpPr/>
          <p:nvPr/>
        </p:nvSpPr>
        <p:spPr>
          <a:xfrm>
            <a:off x="7818119" y="5852159"/>
            <a:ext cx="109728" cy="109728"/>
          </a:xfrm>
          <a:prstGeom prst="ellipse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Pilot"/>
          <p:cNvSpPr txBox="1"/>
          <p:nvPr/>
        </p:nvSpPr>
        <p:spPr>
          <a:xfrm>
            <a:off x="7982711" y="5806440"/>
            <a:ext cx="109728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19" b="1">
                <a:solidFill>
                  <a:srgbClr val="667085"/>
                </a:solidFill>
                <a:latin typeface="Microsoft YaHei"/>
              </a:rPr>
              <a:t>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MILESTONE TREND"/>
          <p:cNvSpPr txBox="1"/>
          <p:nvPr/>
        </p:nvSpPr>
        <p:spPr>
          <a:xfrm>
            <a:off x="512064" y="228600"/>
            <a:ext cx="41148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Microsoft YaHei"/>
              </a:rPr>
              <a:t>MILESTONE TREND</a:t>
            </a:r>
          </a:p>
        </p:txBody>
      </p:sp>
      <p:sp>
        <p:nvSpPr>
          <p:cNvPr id="3" name="Text: 项目里程碑折线图把进度曲线和阶段标签分层表达"/>
          <p:cNvSpPr txBox="1"/>
          <p:nvPr/>
        </p:nvSpPr>
        <p:spPr>
          <a:xfrm>
            <a:off x="512064" y="457200"/>
            <a:ext cx="109728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Microsoft YaHei"/>
              </a:rPr>
              <a:t>项目里程碑折线图把进度曲线和阶段标签分层表达</a:t>
            </a:r>
          </a:p>
        </p:txBody>
      </p:sp>
      <p:cxnSp>
        <p:nvCxnSpPr>
          <p:cNvPr id="4" name="Connector: native line"/>
          <p:cNvCxnSpPr/>
          <p:nvPr/>
        </p:nvCxnSpPr>
        <p:spPr>
          <a:xfrm>
            <a:off x="512064" y="1024128"/>
            <a:ext cx="11173968" cy="0"/>
          </a:xfrm>
          <a:prstGeom prst="line">
            <a:avLst/>
          </a:prstGeom>
          <a:ln w="889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: VISUAL STYLE PROTOTYPE / 06"/>
          <p:cNvSpPr txBox="1"/>
          <p:nvPr/>
        </p:nvSpPr>
        <p:spPr>
          <a:xfrm>
            <a:off x="8613648" y="6510528"/>
            <a:ext cx="30175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80" b="1">
                <a:solidFill>
                  <a:srgbClr val="667085"/>
                </a:solidFill>
                <a:latin typeface="Microsoft YaHei"/>
              </a:rPr>
              <a:t>VISUAL STYLE PROTOTYPE / 06</a:t>
            </a:r>
          </a:p>
        </p:txBody>
      </p:sp>
      <p:graphicFrame>
        <p:nvGraphicFramePr>
          <p:cNvPr id="6" name="Native chart: milestone readiness line"/>
          <p:cNvGraphicFramePr>
            <a:graphicFrameLocks noGrp="1"/>
          </p:cNvGraphicFramePr>
          <p:nvPr/>
        </p:nvGraphicFramePr>
        <p:xfrm>
          <a:off x="1024128" y="1481328"/>
          <a:ext cx="900684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: M1"/>
          <p:cNvSpPr txBox="1"/>
          <p:nvPr/>
        </p:nvSpPr>
        <p:spPr>
          <a:xfrm>
            <a:off x="2360676" y="3441801"/>
            <a:ext cx="3840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M1</a:t>
            </a:r>
          </a:p>
        </p:txBody>
      </p:sp>
      <p:sp>
        <p:nvSpPr>
          <p:cNvPr id="8" name="Text: M3"/>
          <p:cNvSpPr txBox="1"/>
          <p:nvPr/>
        </p:nvSpPr>
        <p:spPr>
          <a:xfrm>
            <a:off x="5362956" y="2621584"/>
            <a:ext cx="3840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M3</a:t>
            </a:r>
          </a:p>
        </p:txBody>
      </p:sp>
      <p:sp>
        <p:nvSpPr>
          <p:cNvPr id="9" name="Text: M5"/>
          <p:cNvSpPr txBox="1"/>
          <p:nvPr/>
        </p:nvSpPr>
        <p:spPr>
          <a:xfrm>
            <a:off x="8365236" y="1864461"/>
            <a:ext cx="3840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M5</a:t>
            </a:r>
          </a:p>
        </p:txBody>
      </p:sp>
      <p:sp>
        <p:nvSpPr>
          <p:cNvPr id="10" name="Text: M6"/>
          <p:cNvSpPr txBox="1"/>
          <p:nvPr/>
        </p:nvSpPr>
        <p:spPr>
          <a:xfrm>
            <a:off x="9866376" y="1548993"/>
            <a:ext cx="38404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1F2937"/>
                </a:solidFill>
                <a:latin typeface="Microsoft YaHei"/>
              </a:rPr>
              <a:t>M6</a:t>
            </a:r>
          </a:p>
        </p:txBody>
      </p:sp>
      <p:sp>
        <p:nvSpPr>
          <p:cNvPr id="11" name="Material: phase label band"/>
          <p:cNvSpPr/>
          <p:nvPr/>
        </p:nvSpPr>
        <p:spPr>
          <a:xfrm>
            <a:off x="1024128" y="5468112"/>
            <a:ext cx="3002280" cy="27432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Design"/>
          <p:cNvSpPr txBox="1"/>
          <p:nvPr/>
        </p:nvSpPr>
        <p:spPr>
          <a:xfrm>
            <a:off x="1051560" y="5541264"/>
            <a:ext cx="294741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13" name="Material: phase label band"/>
          <p:cNvSpPr/>
          <p:nvPr/>
        </p:nvSpPr>
        <p:spPr>
          <a:xfrm>
            <a:off x="4026408" y="5468112"/>
            <a:ext cx="3002280" cy="274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Build"/>
          <p:cNvSpPr txBox="1"/>
          <p:nvPr/>
        </p:nvSpPr>
        <p:spPr>
          <a:xfrm>
            <a:off x="4053840" y="5541264"/>
            <a:ext cx="2947416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Build</a:t>
            </a:r>
          </a:p>
        </p:txBody>
      </p:sp>
      <p:sp>
        <p:nvSpPr>
          <p:cNvPr id="15" name="Material: phase label band"/>
          <p:cNvSpPr/>
          <p:nvPr/>
        </p:nvSpPr>
        <p:spPr>
          <a:xfrm>
            <a:off x="7028688" y="5468112"/>
            <a:ext cx="2401823" cy="274320"/>
          </a:xfrm>
          <a:prstGeom prst="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ilot"/>
          <p:cNvSpPr txBox="1"/>
          <p:nvPr/>
        </p:nvSpPr>
        <p:spPr>
          <a:xfrm>
            <a:off x="7056120" y="5541264"/>
            <a:ext cx="2346959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Pilot</a:t>
            </a:r>
          </a:p>
        </p:txBody>
      </p:sp>
      <p:sp>
        <p:nvSpPr>
          <p:cNvPr id="17" name="Material: phase label band"/>
          <p:cNvSpPr/>
          <p:nvPr/>
        </p:nvSpPr>
        <p:spPr>
          <a:xfrm>
            <a:off x="9430512" y="5468112"/>
            <a:ext cx="600456" cy="27432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Scale"/>
          <p:cNvSpPr txBox="1"/>
          <p:nvPr/>
        </p:nvSpPr>
        <p:spPr>
          <a:xfrm>
            <a:off x="9457943" y="5541264"/>
            <a:ext cx="545592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Scale</a:t>
            </a:r>
          </a:p>
        </p:txBody>
      </p:sp>
      <p:sp>
        <p:nvSpPr>
          <p:cNvPr id="19" name="Material: native block"/>
          <p:cNvSpPr/>
          <p:nvPr/>
        </p:nvSpPr>
        <p:spPr>
          <a:xfrm>
            <a:off x="10104120" y="1691640"/>
            <a:ext cx="1234440" cy="896112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88%"/>
          <p:cNvSpPr txBox="1"/>
          <p:nvPr/>
        </p:nvSpPr>
        <p:spPr>
          <a:xfrm>
            <a:off x="10287000" y="1938528"/>
            <a:ext cx="841248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88%</a:t>
            </a:r>
          </a:p>
        </p:txBody>
      </p:sp>
      <p:sp>
        <p:nvSpPr>
          <p:cNvPr id="21" name="Text: target readiness"/>
          <p:cNvSpPr txBox="1"/>
          <p:nvPr/>
        </p:nvSpPr>
        <p:spPr>
          <a:xfrm>
            <a:off x="10222992" y="2267712"/>
            <a:ext cx="96012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50" b="0">
                <a:solidFill>
                  <a:srgbClr val="667085"/>
                </a:solidFill>
                <a:latin typeface="Microsoft YaHei"/>
              </a:rPr>
              <a:t>target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